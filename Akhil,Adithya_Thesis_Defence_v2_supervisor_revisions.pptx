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
  </p:notesMasterIdLst>
  <p:sldIdLst>
    <p:sldId id="256" r:id="rId9"/>
    <p:sldId id="257" r:id="rId8"/>
    <p:sldId id="258" r:id="rId7"/>
    <p:sldId id="259" r:id="rId6"/>
    <p:sldId id="260" r:id="rId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Lst>
  <p:sldSz cx="12192000" cy="6858000"/>
  <p:notesSz cx="6797675" cy="9926638"/>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9" userDrawn="1">
          <p15:clr>
            <a:srgbClr val="A4A3A4"/>
          </p15:clr>
        </p15:guide>
        <p15:guide id="2" pos="5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4151"/>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CF89B-295C-421C-A168-C571A49A9E5B}" v="12" dt="2021-04-19T09:15:12.2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77"/>
    <p:restoredTop sz="96327"/>
  </p:normalViewPr>
  <p:slideViewPr>
    <p:cSldViewPr snapToGrid="0" snapToObjects="1">
      <p:cViewPr varScale="1">
        <p:scale>
          <a:sx n="124" d="100"/>
          <a:sy n="124" d="100"/>
        </p:scale>
        <p:origin x="472" y="168"/>
      </p:cViewPr>
      <p:guideLst>
        <p:guide orient="horz" pos="799"/>
        <p:guide pos="551"/>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Random Forest</c:v>
                </c:pt>
              </c:strCache>
            </c:strRef>
          </c:tx>
          <c:spPr>
            <a:solidFill>
              <a:srgbClr val="0C4E64"/>
            </a:solidFill>
          </c:spPr>
          <c:cat>
            <c:strRef>
              <c:f>Sheet1!$A$2:$A$6</c:f>
              <c:strCache>
                <c:ptCount val="5"/>
                <c:pt idx="0">
                  <c:v>Accuracy</c:v>
                </c:pt>
                <c:pt idx="1">
                  <c:v>Precision</c:v>
                </c:pt>
                <c:pt idx="2">
                  <c:v>Recall</c:v>
                </c:pt>
                <c:pt idx="3">
                  <c:v>F1-score</c:v>
                </c:pt>
                <c:pt idx="4">
                  <c:v>False positive
rate</c:v>
                </c:pt>
              </c:strCache>
            </c:strRef>
          </c:cat>
          <c:val>
            <c:numRef>
              <c:f>Sheet1!$B$2:$B$6</c:f>
              <c:numCache>
                <c:formatCode>General</c:formatCode>
                <c:ptCount val="5"/>
                <c:pt idx="0">
                  <c:v>87.05</c:v>
                </c:pt>
                <c:pt idx="1">
                  <c:v>81.66</c:v>
                </c:pt>
                <c:pt idx="2">
                  <c:v>98.62</c:v>
                </c:pt>
                <c:pt idx="3">
                  <c:v>89.34</c:v>
                </c:pt>
                <c:pt idx="4">
                  <c:v>27.14</c:v>
                </c:pt>
              </c:numCache>
            </c:numRef>
          </c:val>
        </c:ser>
        <c:ser>
          <c:idx val="1"/>
          <c:order val="1"/>
          <c:tx>
            <c:strRef>
              <c:f>Sheet1!$C$1</c:f>
              <c:strCache>
                <c:ptCount val="1"/>
                <c:pt idx="0">
                  <c:v>Logistic Regression</c:v>
                </c:pt>
              </c:strCache>
            </c:strRef>
          </c:tx>
          <c:spPr>
            <a:solidFill>
              <a:srgbClr val="94B0C9"/>
            </a:solidFill>
          </c:spPr>
          <c:cat>
            <c:strRef>
              <c:f>Sheet1!$A$2:$A$6</c:f>
              <c:strCache>
                <c:ptCount val="5"/>
                <c:pt idx="0">
                  <c:v>Accuracy</c:v>
                </c:pt>
                <c:pt idx="1">
                  <c:v>Precision</c:v>
                </c:pt>
                <c:pt idx="2">
                  <c:v>Recall</c:v>
                </c:pt>
                <c:pt idx="3">
                  <c:v>F1-score</c:v>
                </c:pt>
                <c:pt idx="4">
                  <c:v>False positive
rate</c:v>
                </c:pt>
              </c:strCache>
            </c:strRef>
          </c:cat>
          <c:val>
            <c:numRef>
              <c:f>Sheet1!$C$2:$C$6</c:f>
              <c:numCache>
                <c:formatCode>General</c:formatCode>
                <c:ptCount val="5"/>
                <c:pt idx="0">
                  <c:v>83.55</c:v>
                </c:pt>
                <c:pt idx="1">
                  <c:v>80.19</c:v>
                </c:pt>
                <c:pt idx="2">
                  <c:v>93.13</c:v>
                </c:pt>
                <c:pt idx="3">
                  <c:v>86.18</c:v>
                </c:pt>
                <c:pt idx="4">
                  <c:v>28.19</c:v>
                </c:pt>
              </c:numCache>
            </c:numRef>
          </c:val>
        </c:ser>
        <c:dLbls>
          <c:numFmt formatCode="0.00&quot;%&quot;" sourceLinked="0"/>
          <c:txPr>
            <a:bodyPr/>
            <a:lstStyle/>
            <a:p>
              <a:pPr>
                <a:defRPr sz="950" b="1">
                  <a:solidFill>
                    <a:srgbClr val="333433"/>
                  </a:solidFill>
                </a:defRPr>
              </a:pPr>
            </a:p>
          </c:txPr>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9D2CE"/>
            </a:solidFill>
          </a:ln>
        </c:spPr>
        <c:txPr>
          <a:bodyPr/>
          <a:lstStyle/>
          <a:p>
            <a:pPr>
              <a:defRPr sz="1000">
                <a:solidFill>
                  <a:srgbClr val="333433"/>
                </a:solidFill>
              </a:defRPr>
            </a:pPr>
          </a:p>
        </c:txPr>
        <c:crossAx val="-2113994440"/>
        <c:crosses val="autoZero"/>
        <c:auto val="1"/>
        <c:lblAlgn val="ctr"/>
        <c:lblOffset val="100"/>
        <c:noMultiLvlLbl val="0"/>
      </c:catAx>
      <c:valAx>
        <c:axId val="-2113994440"/>
        <c:scaling>
          <c:max val="100.0"/>
          <c:min val="0.0"/>
        </c:scaling>
        <c:delete val="0"/>
        <c:axPos val="l"/>
        <c:majorGridlines>
          <c:spPr>
            <a:ln w="9525">
              <a:solidFill>
                <a:srgbClr val="D9D2CE"/>
              </a:solidFill>
            </a:ln>
          </c:spPr>
        </c:majorGridlines>
        <c:majorTickMark val="out"/>
        <c:minorTickMark val="none"/>
        <c:tickLblPos val="nextTo"/>
        <c:spPr>
          <a:ln>
            <a:solidFill>
              <a:srgbClr val="D9D2CE"/>
            </a:solidFill>
          </a:ln>
        </c:spPr>
        <c:txPr>
          <a:bodyPr/>
          <a:lstStyle/>
          <a:p>
            <a:pPr>
              <a:defRPr sz="1000">
                <a:solidFill>
                  <a:srgbClr val="6E767B"/>
                </a:solidFill>
              </a:defRPr>
            </a:pPr>
          </a:p>
        </c:txPr>
        <c:crossAx val="-2068027336"/>
        <c:crosses val="autoZero"/>
      </c:valAx>
    </c:plotArea>
    <c:legend>
      <c:legendPos val="t"/>
      <c:overlay val="0"/>
      <c:txPr>
        <a:bodyPr/>
        <a:lstStyle/>
        <a:p>
          <a:pPr>
            <a:defRPr sz="1100">
              <a:solidFill>
                <a:srgbClr val="333433"/>
              </a:solidFill>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Mean score</c:v>
                </c:pt>
              </c:strCache>
            </c:strRef>
          </c:tx>
          <c:spPr>
            <a:solidFill>
              <a:srgbClr val="0C4E64"/>
            </a:solidFill>
          </c:spPr>
          <c:cat>
            <c:strRef>
              <c:f>Sheet1!$A$2:$A$5</c:f>
              <c:strCache>
                <c:ptCount val="4"/>
                <c:pt idx="0">
                  <c:v>Trust in
IDS alerts</c:v>
                </c:pt>
                <c:pt idx="1">
                  <c:v>Impact of
false positives</c:v>
                </c:pt>
                <c:pt idx="2">
                  <c:v>Alert usefulness
and clarity</c:v>
                </c:pt>
                <c:pt idx="3">
                  <c:v>Adoption and
acceptance</c:v>
                </c:pt>
              </c:strCache>
            </c:strRef>
          </c:cat>
          <c:val>
            <c:numRef>
              <c:f>Sheet1!$B$2:$B$5</c:f>
              <c:numCache>
                <c:formatCode>General</c:formatCode>
                <c:ptCount val="4"/>
                <c:pt idx="0">
                  <c:v>4.07</c:v>
                </c:pt>
                <c:pt idx="1">
                  <c:v>4.17</c:v>
                </c:pt>
                <c:pt idx="2">
                  <c:v>3.85</c:v>
                </c:pt>
                <c:pt idx="3">
                  <c:v>3.82</c:v>
                </c:pt>
              </c:numCache>
            </c:numRef>
          </c:val>
        </c:ser>
        <c:dLbls>
          <c:numFmt formatCode="0.00" sourceLinked="0"/>
          <c:txPr>
            <a:bodyPr/>
            <a:lstStyle/>
            <a:p>
              <a:pPr>
                <a:defRPr sz="1100" b="1">
                  <a:solidFill>
                    <a:srgbClr val="333433"/>
                  </a:solidFill>
                </a:defRPr>
              </a:pPr>
            </a:p>
          </c:txPr>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D9D2CE"/>
            </a:solidFill>
          </a:ln>
        </c:spPr>
        <c:txPr>
          <a:bodyPr/>
          <a:lstStyle/>
          <a:p>
            <a:pPr>
              <a:defRPr sz="1000">
                <a:solidFill>
                  <a:srgbClr val="333433"/>
                </a:solidFill>
              </a:defRPr>
            </a:pPr>
          </a:p>
        </c:txPr>
        <c:crossAx val="-2113994440"/>
        <c:crosses val="autoZero"/>
        <c:auto val="1"/>
        <c:lblAlgn val="ctr"/>
        <c:lblOffset val="100"/>
        <c:noMultiLvlLbl val="0"/>
      </c:catAx>
      <c:valAx>
        <c:axId val="-2113994440"/>
        <c:scaling>
          <c:max val="5.0"/>
          <c:min val="0.0"/>
        </c:scaling>
        <c:delete val="0"/>
        <c:axPos val="l"/>
        <c:majorGridlines>
          <c:spPr>
            <a:ln w="9525">
              <a:solidFill>
                <a:srgbClr val="D9D2CE"/>
              </a:solidFill>
            </a:ln>
          </c:spPr>
        </c:majorGridlines>
        <c:majorTickMark val="out"/>
        <c:minorTickMark val="none"/>
        <c:tickLblPos val="nextTo"/>
        <c:spPr>
          <a:ln>
            <a:solidFill>
              <a:srgbClr val="D9D2CE"/>
            </a:solidFill>
          </a:ln>
        </c:spPr>
        <c:txPr>
          <a:bodyPr/>
          <a:lstStyle/>
          <a:p>
            <a:pPr>
              <a:defRPr sz="1000">
                <a:solidFill>
                  <a:srgbClr val="6E767B"/>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336E1794-CEB5-CF46-A2EB-139DCCF7D8DD}" type="datetimeFigureOut">
              <a:rPr lang="sv-SE" smtClean="0"/>
              <a:t>2026-09-21</a:t>
            </a:fld>
            <a:endParaRPr lang="sv-SE"/>
          </a:p>
        </p:txBody>
      </p:sp>
      <p:sp>
        <p:nvSpPr>
          <p:cNvPr id="4" name="Platshållare för bildobjekt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r>
              <a:rPr lang="sv-SE"/>
              <a:t>Redigera format för bakgrundstext
Nivå två
Nivå tre
Nivå fyra
Nivå fem</a:t>
            </a:r>
          </a:p>
        </p:txBody>
      </p:sp>
      <p:sp>
        <p:nvSpPr>
          <p:cNvPr id="6" name="Platshållare för sidfot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9A2B6684-26E0-AB47-AC60-7089FA743B64}" type="slidenum">
              <a:rPr lang="sv-SE" smtClean="0"/>
              <a:t>‹#›</a:t>
            </a:fld>
            <a:endParaRPr lang="sv-SE"/>
          </a:p>
        </p:txBody>
      </p:sp>
    </p:spTree>
    <p:extLst>
      <p:ext uri="{BB962C8B-B14F-4D97-AF65-F5344CB8AC3E}">
        <p14:creationId xmlns:p14="http://schemas.microsoft.com/office/powerpoint/2010/main" val="1800188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slide 1">
    <p:spTree>
      <p:nvGrpSpPr>
        <p:cNvPr id="1" name=""/>
        <p:cNvGrpSpPr/>
        <p:nvPr/>
      </p:nvGrpSpPr>
      <p:grpSpPr>
        <a:xfrm>
          <a:off x="0" y="0"/>
          <a:ext cx="0" cy="0"/>
          <a:chOff x="0" y="0"/>
          <a:chExt cx="0" cy="0"/>
        </a:xfrm>
      </p:grpSpPr>
      <p:pic>
        <p:nvPicPr>
          <p:cNvPr id="7" name="Bildobjekt 6">
            <a:extLst>
              <a:ext uri="{FF2B5EF4-FFF2-40B4-BE49-F238E27FC236}">
                <a16:creationId xmlns:a16="http://schemas.microsoft.com/office/drawing/2014/main" id="{F5CCB5B7-93B7-3A62-7B1C-25FB24FFAF34}"/>
              </a:ext>
            </a:extLst>
          </p:cNvPr>
          <p:cNvPicPr>
            <a:picLocks noChangeAspect="1"/>
          </p:cNvPicPr>
          <p:nvPr userDrawn="1"/>
        </p:nvPicPr>
        <p:blipFill>
          <a:blip r:embed="rId2"/>
          <a:srcRect t="8792" b="16208"/>
          <a:stretch/>
        </p:blipFill>
        <p:spPr>
          <a:xfrm>
            <a:off x="0" y="1"/>
            <a:ext cx="12192000" cy="6858000"/>
          </a:xfrm>
          <a:prstGeom prst="rect">
            <a:avLst/>
          </a:prstGeom>
        </p:spPr>
      </p:pic>
      <p:sp>
        <p:nvSpPr>
          <p:cNvPr id="5" name="Rubrik 1">
            <a:extLst>
              <a:ext uri="{FF2B5EF4-FFF2-40B4-BE49-F238E27FC236}">
                <a16:creationId xmlns:a16="http://schemas.microsoft.com/office/drawing/2014/main" id="{6DABD6B2-5E80-234A-B9B1-91D01476EC65}"/>
              </a:ext>
            </a:extLst>
          </p:cNvPr>
          <p:cNvSpPr txBox="1">
            <a:spLocks/>
          </p:cNvSpPr>
          <p:nvPr userDrawn="1"/>
        </p:nvSpPr>
        <p:spPr>
          <a:xfrm>
            <a:off x="769357" y="754960"/>
            <a:ext cx="10515600" cy="1325563"/>
          </a:xfrm>
          <a:prstGeom prst="rect">
            <a:avLst/>
          </a:prstGeom>
        </p:spPr>
        <p:txBody>
          <a:bodyPr vert="horz" wrap="square" lIns="91440" tIns="45720" rIns="91440" bIns="4572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sv-SE" sz="4400" dirty="0">
              <a:latin typeface="Oswald Light" panose="02000303000000000000" pitchFamily="2" charset="0"/>
              <a:cs typeface="Gill Sans Light" panose="020B0302020104020203" pitchFamily="34" charset="-79"/>
            </a:endParaRPr>
          </a:p>
        </p:txBody>
      </p:sp>
      <p:sp>
        <p:nvSpPr>
          <p:cNvPr id="6" name="Rubrik 5">
            <a:extLst>
              <a:ext uri="{FF2B5EF4-FFF2-40B4-BE49-F238E27FC236}">
                <a16:creationId xmlns:a16="http://schemas.microsoft.com/office/drawing/2014/main" id="{3E83079D-9190-9A4B-9D3D-47750F1DD497}"/>
              </a:ext>
            </a:extLst>
          </p:cNvPr>
          <p:cNvSpPr>
            <a:spLocks noGrp="1"/>
          </p:cNvSpPr>
          <p:nvPr>
            <p:ph type="title" hasCustomPrompt="1"/>
          </p:nvPr>
        </p:nvSpPr>
        <p:spPr>
          <a:xfrm>
            <a:off x="839788" y="1284467"/>
            <a:ext cx="8865199" cy="1325563"/>
          </a:xfrm>
        </p:spPr>
        <p:txBody>
          <a:bodyPr/>
          <a:lstStyle/>
          <a:p>
            <a:r>
              <a:rPr lang="sv-SE" dirty="0" err="1"/>
              <a:t>Click</a:t>
            </a:r>
            <a:r>
              <a:rPr lang="sv-SE" dirty="0"/>
              <a:t> </a:t>
            </a:r>
            <a:r>
              <a:rPr lang="sv-SE" dirty="0" err="1"/>
              <a:t>here</a:t>
            </a:r>
            <a:r>
              <a:rPr lang="sv-SE" dirty="0"/>
              <a:t> to </a:t>
            </a:r>
            <a:r>
              <a:rPr lang="sv-SE" dirty="0" err="1"/>
              <a:t>add</a:t>
            </a:r>
            <a:r>
              <a:rPr lang="sv-SE" dirty="0"/>
              <a:t> </a:t>
            </a:r>
            <a:r>
              <a:rPr lang="sv-SE" dirty="0" err="1"/>
              <a:t>title</a:t>
            </a:r>
            <a:endParaRPr lang="sv-SE" dirty="0"/>
          </a:p>
        </p:txBody>
      </p:sp>
      <p:sp>
        <p:nvSpPr>
          <p:cNvPr id="8" name="Rektangel 7">
            <a:extLst>
              <a:ext uri="{FF2B5EF4-FFF2-40B4-BE49-F238E27FC236}">
                <a16:creationId xmlns:a16="http://schemas.microsoft.com/office/drawing/2014/main" id="{0D5670E7-B0B4-924E-B18B-D1973675DFF7}"/>
              </a:ext>
            </a:extLst>
          </p:cNvPr>
          <p:cNvSpPr/>
          <p:nvPr userDrawn="1"/>
        </p:nvSpPr>
        <p:spPr>
          <a:xfrm>
            <a:off x="0" y="0"/>
            <a:ext cx="12192000" cy="316523"/>
          </a:xfrm>
          <a:prstGeom prst="rect">
            <a:avLst/>
          </a:prstGeom>
          <a:solidFill>
            <a:schemeClr val="accent1"/>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sv-SE" sz="1800"/>
          </a:p>
        </p:txBody>
      </p:sp>
      <p:pic>
        <p:nvPicPr>
          <p:cNvPr id="3" name="Bild 2">
            <a:extLst>
              <a:ext uri="{FF2B5EF4-FFF2-40B4-BE49-F238E27FC236}">
                <a16:creationId xmlns:a16="http://schemas.microsoft.com/office/drawing/2014/main" id="{164C76B7-FFCE-C881-0B5D-609ED46500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122103" y="383561"/>
            <a:ext cx="3002642" cy="1272306"/>
          </a:xfrm>
          <a:prstGeom prst="rect">
            <a:avLst/>
          </a:prstGeom>
        </p:spPr>
      </p:pic>
    </p:spTree>
    <p:extLst>
      <p:ext uri="{BB962C8B-B14F-4D97-AF65-F5344CB8AC3E}">
        <p14:creationId xmlns:p14="http://schemas.microsoft.com/office/powerpoint/2010/main" val="1926236074"/>
      </p:ext>
    </p:extLst>
  </p:cSld>
  <p:clrMapOvr>
    <a:masterClrMapping/>
  </p:clrMapOvr>
  <p:extLst>
    <p:ext uri="{DCECCB84-F9BA-43D5-87BE-67443E8EF086}">
      <p15:sldGuideLst xmlns:p15="http://schemas.microsoft.com/office/powerpoint/2012/main">
        <p15:guide id="1" orient="horz" pos="595" userDrawn="1">
          <p15:clr>
            <a:srgbClr val="FBAE40"/>
          </p15:clr>
        </p15:guide>
        <p15:guide id="2" pos="52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Intro slide 1">
    <p:spTree>
      <p:nvGrpSpPr>
        <p:cNvPr id="1" name=""/>
        <p:cNvGrpSpPr/>
        <p:nvPr/>
      </p:nvGrpSpPr>
      <p:grpSpPr>
        <a:xfrm>
          <a:off x="0" y="0"/>
          <a:ext cx="0" cy="0"/>
          <a:chOff x="0" y="0"/>
          <a:chExt cx="0" cy="0"/>
        </a:xfrm>
      </p:grpSpPr>
      <p:pic>
        <p:nvPicPr>
          <p:cNvPr id="7" name="Bildobjekt 6">
            <a:extLst>
              <a:ext uri="{FF2B5EF4-FFF2-40B4-BE49-F238E27FC236}">
                <a16:creationId xmlns:a16="http://schemas.microsoft.com/office/drawing/2014/main" id="{B04D25C6-B473-66AC-94AF-477B3A95D354}"/>
              </a:ext>
            </a:extLst>
          </p:cNvPr>
          <p:cNvPicPr>
            <a:picLocks noChangeAspect="1"/>
          </p:cNvPicPr>
          <p:nvPr userDrawn="1"/>
        </p:nvPicPr>
        <p:blipFill>
          <a:blip r:embed="rId2"/>
          <a:srcRect t="9354" b="15646"/>
          <a:stretch/>
        </p:blipFill>
        <p:spPr>
          <a:xfrm>
            <a:off x="0" y="0"/>
            <a:ext cx="12192000" cy="6858000"/>
          </a:xfrm>
          <a:prstGeom prst="rect">
            <a:avLst/>
          </a:prstGeom>
        </p:spPr>
      </p:pic>
      <p:sp>
        <p:nvSpPr>
          <p:cNvPr id="5" name="Rubrik 1">
            <a:extLst>
              <a:ext uri="{FF2B5EF4-FFF2-40B4-BE49-F238E27FC236}">
                <a16:creationId xmlns:a16="http://schemas.microsoft.com/office/drawing/2014/main" id="{6DABD6B2-5E80-234A-B9B1-91D01476EC65}"/>
              </a:ext>
            </a:extLst>
          </p:cNvPr>
          <p:cNvSpPr txBox="1">
            <a:spLocks/>
          </p:cNvSpPr>
          <p:nvPr userDrawn="1"/>
        </p:nvSpPr>
        <p:spPr>
          <a:xfrm>
            <a:off x="769357" y="754960"/>
            <a:ext cx="10515600" cy="1325563"/>
          </a:xfrm>
          <a:prstGeom prst="rect">
            <a:avLst/>
          </a:prstGeom>
        </p:spPr>
        <p:txBody>
          <a:bodyPr vert="horz" wrap="square" lIns="91440" tIns="45720" rIns="91440" bIns="4572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sv-SE" sz="4400" dirty="0">
              <a:latin typeface="Oswald Light" panose="02000303000000000000" pitchFamily="2" charset="0"/>
              <a:cs typeface="Gill Sans Light" panose="020B0302020104020203" pitchFamily="34" charset="-79"/>
            </a:endParaRPr>
          </a:p>
        </p:txBody>
      </p:sp>
      <p:sp>
        <p:nvSpPr>
          <p:cNvPr id="6" name="Rubrik 5">
            <a:extLst>
              <a:ext uri="{FF2B5EF4-FFF2-40B4-BE49-F238E27FC236}">
                <a16:creationId xmlns:a16="http://schemas.microsoft.com/office/drawing/2014/main" id="{3E83079D-9190-9A4B-9D3D-47750F1DD497}"/>
              </a:ext>
            </a:extLst>
          </p:cNvPr>
          <p:cNvSpPr>
            <a:spLocks noGrp="1"/>
          </p:cNvSpPr>
          <p:nvPr>
            <p:ph type="title" hasCustomPrompt="1"/>
          </p:nvPr>
        </p:nvSpPr>
        <p:spPr>
          <a:xfrm>
            <a:off x="839788" y="1274193"/>
            <a:ext cx="8865199" cy="1325563"/>
          </a:xfrm>
        </p:spPr>
        <p:txBody>
          <a:bodyPr/>
          <a:lstStyle/>
          <a:p>
            <a:r>
              <a:rPr lang="sv-SE" dirty="0" err="1"/>
              <a:t>Click</a:t>
            </a:r>
            <a:r>
              <a:rPr lang="sv-SE" dirty="0"/>
              <a:t> </a:t>
            </a:r>
            <a:r>
              <a:rPr lang="sv-SE" dirty="0" err="1"/>
              <a:t>here</a:t>
            </a:r>
            <a:r>
              <a:rPr lang="sv-SE" dirty="0"/>
              <a:t> to </a:t>
            </a:r>
            <a:r>
              <a:rPr lang="sv-SE" dirty="0" err="1"/>
              <a:t>add</a:t>
            </a:r>
            <a:r>
              <a:rPr lang="sv-SE" dirty="0"/>
              <a:t> </a:t>
            </a:r>
            <a:r>
              <a:rPr lang="sv-SE" dirty="0" err="1"/>
              <a:t>title</a:t>
            </a:r>
            <a:endParaRPr lang="sv-SE" dirty="0"/>
          </a:p>
        </p:txBody>
      </p:sp>
      <p:sp>
        <p:nvSpPr>
          <p:cNvPr id="8" name="Rektangel 7">
            <a:extLst>
              <a:ext uri="{FF2B5EF4-FFF2-40B4-BE49-F238E27FC236}">
                <a16:creationId xmlns:a16="http://schemas.microsoft.com/office/drawing/2014/main" id="{0D5670E7-B0B4-924E-B18B-D1973675DFF7}"/>
              </a:ext>
            </a:extLst>
          </p:cNvPr>
          <p:cNvSpPr/>
          <p:nvPr userDrawn="1"/>
        </p:nvSpPr>
        <p:spPr>
          <a:xfrm>
            <a:off x="0" y="0"/>
            <a:ext cx="12192000" cy="316523"/>
          </a:xfrm>
          <a:prstGeom prst="rect">
            <a:avLst/>
          </a:prstGeom>
          <a:solidFill>
            <a:schemeClr val="accent1"/>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sv-SE" sz="1800"/>
          </a:p>
        </p:txBody>
      </p:sp>
      <p:pic>
        <p:nvPicPr>
          <p:cNvPr id="2" name="Bild 1">
            <a:extLst>
              <a:ext uri="{FF2B5EF4-FFF2-40B4-BE49-F238E27FC236}">
                <a16:creationId xmlns:a16="http://schemas.microsoft.com/office/drawing/2014/main" id="{90248F3D-2A55-D937-331D-E313D20664C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122103" y="383561"/>
            <a:ext cx="3002642" cy="1272306"/>
          </a:xfrm>
          <a:prstGeom prst="rect">
            <a:avLst/>
          </a:prstGeom>
        </p:spPr>
      </p:pic>
    </p:spTree>
    <p:extLst>
      <p:ext uri="{BB962C8B-B14F-4D97-AF65-F5344CB8AC3E}">
        <p14:creationId xmlns:p14="http://schemas.microsoft.com/office/powerpoint/2010/main" val="2955381812"/>
      </p:ext>
    </p:extLst>
  </p:cSld>
  <p:clrMapOvr>
    <a:masterClrMapping/>
  </p:clrMapOvr>
  <p:extLst>
    <p:ext uri="{DCECCB84-F9BA-43D5-87BE-67443E8EF086}">
      <p15:sldGuideLst xmlns:p15="http://schemas.microsoft.com/office/powerpoint/2012/main">
        <p15:guide id="1" orient="horz" pos="595">
          <p15:clr>
            <a:srgbClr val="FBAE40"/>
          </p15:clr>
        </p15:guide>
        <p15:guide id="2" pos="52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3" name="Rubrik 2">
            <a:extLst>
              <a:ext uri="{FF2B5EF4-FFF2-40B4-BE49-F238E27FC236}">
                <a16:creationId xmlns:a16="http://schemas.microsoft.com/office/drawing/2014/main" id="{08CEF3E5-B3E5-9144-B698-861158887640}"/>
              </a:ext>
            </a:extLst>
          </p:cNvPr>
          <p:cNvSpPr>
            <a:spLocks noGrp="1"/>
          </p:cNvSpPr>
          <p:nvPr>
            <p:ph type="title" hasCustomPrompt="1"/>
          </p:nvPr>
        </p:nvSpPr>
        <p:spPr>
          <a:xfrm>
            <a:off x="838202" y="1274193"/>
            <a:ext cx="8136834" cy="760090"/>
          </a:xfrm>
        </p:spPr>
        <p:txBody>
          <a:bodyPr/>
          <a:lstStyle/>
          <a:p>
            <a:r>
              <a:rPr lang="sv-SE" dirty="0" err="1"/>
              <a:t>Title</a:t>
            </a:r>
            <a:endParaRPr lang="sv-SE" dirty="0"/>
          </a:p>
        </p:txBody>
      </p:sp>
      <p:sp>
        <p:nvSpPr>
          <p:cNvPr id="10" name="Platshållare för text 2">
            <a:extLst>
              <a:ext uri="{FF2B5EF4-FFF2-40B4-BE49-F238E27FC236}">
                <a16:creationId xmlns:a16="http://schemas.microsoft.com/office/drawing/2014/main" id="{8AEB02FE-7BA8-FA46-8D76-56D26D90CB43}"/>
              </a:ext>
            </a:extLst>
          </p:cNvPr>
          <p:cNvSpPr>
            <a:spLocks noGrp="1"/>
          </p:cNvSpPr>
          <p:nvPr>
            <p:ph idx="1" hasCustomPrompt="1"/>
          </p:nvPr>
        </p:nvSpPr>
        <p:spPr>
          <a:xfrm>
            <a:off x="838202" y="2185371"/>
            <a:ext cx="8865199" cy="3596845"/>
          </a:xfrm>
          <a:prstGeom prst="rect">
            <a:avLst/>
          </a:prstGeom>
        </p:spPr>
        <p:txBody>
          <a:bodyPr vert="horz" lIns="91440" tIns="45720" rIns="91440" bIns="45720" rtlCol="0">
            <a:normAutofit/>
          </a:bodyPr>
          <a:lstStyle>
            <a:lvl1pPr>
              <a:defRPr sz="2000"/>
            </a:lvl1pPr>
          </a:lstStyle>
          <a:p>
            <a:pPr lvl="0"/>
            <a:r>
              <a:rPr lang="sv-SE" dirty="0" err="1"/>
              <a:t>Your</a:t>
            </a:r>
            <a:r>
              <a:rPr lang="sv-SE" dirty="0"/>
              <a:t> text or </a:t>
            </a:r>
            <a:r>
              <a:rPr lang="sv-SE" dirty="0" err="1"/>
              <a:t>picture</a:t>
            </a:r>
            <a:r>
              <a:rPr lang="sv-SE" dirty="0"/>
              <a:t> </a:t>
            </a:r>
            <a:r>
              <a:rPr lang="sv-SE" dirty="0" err="1"/>
              <a:t>here</a:t>
            </a:r>
            <a:endParaRPr lang="sv-SE" dirty="0"/>
          </a:p>
        </p:txBody>
      </p:sp>
      <p:sp>
        <p:nvSpPr>
          <p:cNvPr id="12" name="Rektangel 11">
            <a:extLst>
              <a:ext uri="{FF2B5EF4-FFF2-40B4-BE49-F238E27FC236}">
                <a16:creationId xmlns:a16="http://schemas.microsoft.com/office/drawing/2014/main" id="{6FC6C9AD-89F3-BC41-B92E-B9CF349E16D8}"/>
              </a:ext>
            </a:extLst>
          </p:cNvPr>
          <p:cNvSpPr/>
          <p:nvPr userDrawn="1"/>
        </p:nvSpPr>
        <p:spPr>
          <a:xfrm>
            <a:off x="0" y="0"/>
            <a:ext cx="12192000" cy="316523"/>
          </a:xfrm>
          <a:prstGeom prst="rect">
            <a:avLst/>
          </a:prstGeom>
          <a:solidFill>
            <a:schemeClr val="accent1"/>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sv-SE" sz="1800"/>
          </a:p>
        </p:txBody>
      </p:sp>
      <p:pic>
        <p:nvPicPr>
          <p:cNvPr id="2" name="Bild 1">
            <a:extLst>
              <a:ext uri="{FF2B5EF4-FFF2-40B4-BE49-F238E27FC236}">
                <a16:creationId xmlns:a16="http://schemas.microsoft.com/office/drawing/2014/main" id="{88B53B19-477E-5E83-212F-872224318E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122103" y="383561"/>
            <a:ext cx="3002642" cy="1272306"/>
          </a:xfrm>
          <a:prstGeom prst="rect">
            <a:avLst/>
          </a:prstGeom>
        </p:spPr>
      </p:pic>
    </p:spTree>
    <p:extLst>
      <p:ext uri="{BB962C8B-B14F-4D97-AF65-F5344CB8AC3E}">
        <p14:creationId xmlns:p14="http://schemas.microsoft.com/office/powerpoint/2010/main" val="1274060769"/>
      </p:ext>
    </p:extLst>
  </p:cSld>
  <p:clrMapOvr>
    <a:masterClrMapping/>
  </p:clrMapOvr>
  <p:transition spd="slow">
    <p:push/>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Intro slide 1">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6DABD6B2-5E80-234A-B9B1-91D01476EC65}"/>
              </a:ext>
            </a:extLst>
          </p:cNvPr>
          <p:cNvSpPr txBox="1">
            <a:spLocks/>
          </p:cNvSpPr>
          <p:nvPr userDrawn="1"/>
        </p:nvSpPr>
        <p:spPr>
          <a:xfrm>
            <a:off x="769357" y="754960"/>
            <a:ext cx="10515600" cy="1325563"/>
          </a:xfrm>
          <a:prstGeom prst="rect">
            <a:avLst/>
          </a:prstGeom>
        </p:spPr>
        <p:txBody>
          <a:bodyPr vert="horz" wrap="square" lIns="91440" tIns="45720" rIns="91440" bIns="4572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sv-SE" sz="4400" dirty="0">
              <a:latin typeface="Oswald Light" panose="02000303000000000000" pitchFamily="2" charset="0"/>
              <a:cs typeface="Gill Sans Light" panose="020B0302020104020203" pitchFamily="34" charset="-79"/>
            </a:endParaRPr>
          </a:p>
        </p:txBody>
      </p:sp>
      <p:sp>
        <p:nvSpPr>
          <p:cNvPr id="8" name="Rektangel 7">
            <a:extLst>
              <a:ext uri="{FF2B5EF4-FFF2-40B4-BE49-F238E27FC236}">
                <a16:creationId xmlns:a16="http://schemas.microsoft.com/office/drawing/2014/main" id="{0D5670E7-B0B4-924E-B18B-D1973675DFF7}"/>
              </a:ext>
            </a:extLst>
          </p:cNvPr>
          <p:cNvSpPr/>
          <p:nvPr userDrawn="1"/>
        </p:nvSpPr>
        <p:spPr>
          <a:xfrm>
            <a:off x="0" y="0"/>
            <a:ext cx="12192000" cy="316523"/>
          </a:xfrm>
          <a:prstGeom prst="rect">
            <a:avLst/>
          </a:prstGeom>
          <a:solidFill>
            <a:schemeClr val="accent1"/>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sv-SE" sz="1800"/>
          </a:p>
        </p:txBody>
      </p:sp>
      <p:sp>
        <p:nvSpPr>
          <p:cNvPr id="9" name="Platshållare för text 2">
            <a:extLst>
              <a:ext uri="{FF2B5EF4-FFF2-40B4-BE49-F238E27FC236}">
                <a16:creationId xmlns:a16="http://schemas.microsoft.com/office/drawing/2014/main" id="{0A3B5CC1-8739-02A8-E873-125F17701323}"/>
              </a:ext>
            </a:extLst>
          </p:cNvPr>
          <p:cNvSpPr>
            <a:spLocks noGrp="1"/>
          </p:cNvSpPr>
          <p:nvPr>
            <p:ph idx="1" hasCustomPrompt="1"/>
          </p:nvPr>
        </p:nvSpPr>
        <p:spPr>
          <a:xfrm>
            <a:off x="0" y="316523"/>
            <a:ext cx="4654193" cy="6541477"/>
          </a:xfrm>
          <a:prstGeom prst="rect">
            <a:avLst/>
          </a:prstGeom>
        </p:spPr>
        <p:txBody>
          <a:bodyPr vert="horz" lIns="91440" tIns="45720" rIns="91440" bIns="45720" rtlCol="0">
            <a:normAutofit/>
          </a:bodyPr>
          <a:lstStyle/>
          <a:p>
            <a:pPr lvl="0"/>
            <a:r>
              <a:rPr lang="sv-SE" dirty="0" err="1"/>
              <a:t>Your</a:t>
            </a:r>
            <a:r>
              <a:rPr lang="sv-SE" dirty="0"/>
              <a:t> </a:t>
            </a:r>
            <a:r>
              <a:rPr lang="sv-SE" dirty="0" err="1"/>
              <a:t>picture</a:t>
            </a:r>
            <a:r>
              <a:rPr lang="sv-SE" dirty="0"/>
              <a:t> </a:t>
            </a:r>
            <a:r>
              <a:rPr lang="sv-SE" dirty="0" err="1"/>
              <a:t>here</a:t>
            </a:r>
            <a:endParaRPr lang="sv-SE" dirty="0"/>
          </a:p>
        </p:txBody>
      </p:sp>
      <p:pic>
        <p:nvPicPr>
          <p:cNvPr id="2" name="Bild 1">
            <a:extLst>
              <a:ext uri="{FF2B5EF4-FFF2-40B4-BE49-F238E27FC236}">
                <a16:creationId xmlns:a16="http://schemas.microsoft.com/office/drawing/2014/main" id="{B818FC4F-DC1F-3295-C79C-071C5F2E41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122103" y="383561"/>
            <a:ext cx="3002642" cy="1272306"/>
          </a:xfrm>
          <a:prstGeom prst="rect">
            <a:avLst/>
          </a:prstGeom>
        </p:spPr>
      </p:pic>
      <p:sp>
        <p:nvSpPr>
          <p:cNvPr id="3" name="Rubrik 2">
            <a:extLst>
              <a:ext uri="{FF2B5EF4-FFF2-40B4-BE49-F238E27FC236}">
                <a16:creationId xmlns:a16="http://schemas.microsoft.com/office/drawing/2014/main" id="{EC49C550-AB18-E7A4-0864-70570E8FDDB2}"/>
              </a:ext>
            </a:extLst>
          </p:cNvPr>
          <p:cNvSpPr>
            <a:spLocks noGrp="1"/>
          </p:cNvSpPr>
          <p:nvPr>
            <p:ph type="title" hasCustomPrompt="1"/>
          </p:nvPr>
        </p:nvSpPr>
        <p:spPr>
          <a:xfrm>
            <a:off x="5423551" y="1274193"/>
            <a:ext cx="4986542" cy="753074"/>
          </a:xfrm>
        </p:spPr>
        <p:txBody>
          <a:bodyPr/>
          <a:lstStyle/>
          <a:p>
            <a:r>
              <a:rPr lang="sv-SE" dirty="0" err="1"/>
              <a:t>Title</a:t>
            </a:r>
            <a:endParaRPr lang="sv-SE" dirty="0"/>
          </a:p>
        </p:txBody>
      </p:sp>
      <p:sp>
        <p:nvSpPr>
          <p:cNvPr id="4" name="Platshållare för innehåll 3">
            <a:extLst>
              <a:ext uri="{FF2B5EF4-FFF2-40B4-BE49-F238E27FC236}">
                <a16:creationId xmlns:a16="http://schemas.microsoft.com/office/drawing/2014/main" id="{3675B0A2-74AB-9DC2-21F6-B9781188C9FA}"/>
              </a:ext>
            </a:extLst>
          </p:cNvPr>
          <p:cNvSpPr>
            <a:spLocks noGrp="1"/>
          </p:cNvSpPr>
          <p:nvPr>
            <p:ph idx="10" hasCustomPrompt="1"/>
          </p:nvPr>
        </p:nvSpPr>
        <p:spPr>
          <a:xfrm>
            <a:off x="5423551" y="2146409"/>
            <a:ext cx="4986542" cy="4161924"/>
          </a:xfrm>
        </p:spPr>
        <p:txBody>
          <a:bodyPr/>
          <a:lstStyle/>
          <a:p>
            <a:r>
              <a:rPr lang="sv-SE" dirty="0" err="1"/>
              <a:t>Your</a:t>
            </a:r>
            <a:r>
              <a:rPr lang="sv-SE" dirty="0"/>
              <a:t> </a:t>
            </a:r>
            <a:r>
              <a:rPr lang="sv-SE" dirty="0" err="1"/>
              <a:t>picture</a:t>
            </a:r>
            <a:r>
              <a:rPr lang="sv-SE" dirty="0"/>
              <a:t> or text </a:t>
            </a:r>
            <a:r>
              <a:rPr lang="sv-SE" dirty="0" err="1"/>
              <a:t>here</a:t>
            </a:r>
            <a:endParaRPr lang="sv-SE" dirty="0"/>
          </a:p>
        </p:txBody>
      </p:sp>
    </p:spTree>
    <p:extLst>
      <p:ext uri="{BB962C8B-B14F-4D97-AF65-F5344CB8AC3E}">
        <p14:creationId xmlns:p14="http://schemas.microsoft.com/office/powerpoint/2010/main" val="439538222"/>
      </p:ext>
    </p:extLst>
  </p:cSld>
  <p:clrMapOvr>
    <a:masterClrMapping/>
  </p:clrMapOvr>
  <p:extLst>
    <p:ext uri="{DCECCB84-F9BA-43D5-87BE-67443E8EF086}">
      <p15:sldGuideLst xmlns:p15="http://schemas.microsoft.com/office/powerpoint/2012/main">
        <p15:guide id="1" orient="horz" pos="595" userDrawn="1">
          <p15:clr>
            <a:srgbClr val="FBAE40"/>
          </p15:clr>
        </p15:guide>
        <p15:guide id="2" pos="52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vslutsbild">
    <p:spTree>
      <p:nvGrpSpPr>
        <p:cNvPr id="1" name=""/>
        <p:cNvGrpSpPr/>
        <p:nvPr/>
      </p:nvGrpSpPr>
      <p:grpSpPr>
        <a:xfrm>
          <a:off x="0" y="0"/>
          <a:ext cx="0" cy="0"/>
          <a:chOff x="0" y="0"/>
          <a:chExt cx="0" cy="0"/>
        </a:xfrm>
      </p:grpSpPr>
      <p:sp>
        <p:nvSpPr>
          <p:cNvPr id="4" name="Rektangel 3">
            <a:extLst>
              <a:ext uri="{FF2B5EF4-FFF2-40B4-BE49-F238E27FC236}">
                <a16:creationId xmlns:a16="http://schemas.microsoft.com/office/drawing/2014/main" id="{5F601C24-7B3E-A44D-BF36-31DB8891419C}"/>
              </a:ext>
            </a:extLst>
          </p:cNvPr>
          <p:cNvSpPr/>
          <p:nvPr userDrawn="1"/>
        </p:nvSpPr>
        <p:spPr>
          <a:xfrm>
            <a:off x="0" y="0"/>
            <a:ext cx="12192000" cy="316523"/>
          </a:xfrm>
          <a:prstGeom prst="rect">
            <a:avLst/>
          </a:prstGeom>
          <a:solidFill>
            <a:schemeClr val="accent1"/>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sv-SE" sz="1800"/>
          </a:p>
        </p:txBody>
      </p:sp>
      <p:pic>
        <p:nvPicPr>
          <p:cNvPr id="2" name="Bild 1">
            <a:extLst>
              <a:ext uri="{FF2B5EF4-FFF2-40B4-BE49-F238E27FC236}">
                <a16:creationId xmlns:a16="http://schemas.microsoft.com/office/drawing/2014/main" id="{9F61D04F-D8CC-C945-D2B5-640C97D7D9C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07673" y="2205132"/>
            <a:ext cx="5776654" cy="2447735"/>
          </a:xfrm>
          <a:prstGeom prst="rect">
            <a:avLst/>
          </a:prstGeom>
        </p:spPr>
      </p:pic>
    </p:spTree>
    <p:extLst>
      <p:ext uri="{BB962C8B-B14F-4D97-AF65-F5344CB8AC3E}">
        <p14:creationId xmlns:p14="http://schemas.microsoft.com/office/powerpoint/2010/main" val="1326216751"/>
      </p:ext>
    </p:extLst>
  </p:cSld>
  <p:clrMapOvr>
    <a:masterClrMapping/>
  </p:clrMapOvr>
  <p:transition spd="slow">
    <p:push/>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8F878733-04AA-3341-ACFB-21C3A202883F}"/>
              </a:ext>
            </a:extLst>
          </p:cNvPr>
          <p:cNvSpPr>
            <a:spLocks noGrp="1"/>
          </p:cNvSpPr>
          <p:nvPr>
            <p:ph type="title"/>
          </p:nvPr>
        </p:nvSpPr>
        <p:spPr>
          <a:xfrm>
            <a:off x="838201" y="945419"/>
            <a:ext cx="8865199" cy="647075"/>
          </a:xfrm>
          <a:prstGeom prst="rect">
            <a:avLst/>
          </a:prstGeom>
        </p:spPr>
        <p:txBody>
          <a:bodyPr vert="horz" lIns="91440" tIns="45720" rIns="91440" bIns="45720" rtlCol="0" anchor="t" anchorCtr="0">
            <a:noAutofit/>
          </a:bodyPr>
          <a:lstStyle/>
          <a:p>
            <a:r>
              <a:rPr lang="sv-SE" dirty="0" err="1"/>
              <a:t>Click</a:t>
            </a:r>
            <a:r>
              <a:rPr lang="sv-SE" dirty="0"/>
              <a:t> </a:t>
            </a:r>
            <a:r>
              <a:rPr lang="sv-SE" dirty="0" err="1"/>
              <a:t>here</a:t>
            </a:r>
            <a:r>
              <a:rPr lang="sv-SE" dirty="0"/>
              <a:t> to </a:t>
            </a:r>
            <a:r>
              <a:rPr lang="sv-SE" dirty="0" err="1"/>
              <a:t>add</a:t>
            </a:r>
            <a:r>
              <a:rPr lang="sv-SE" dirty="0"/>
              <a:t> </a:t>
            </a:r>
            <a:r>
              <a:rPr lang="sv-SE" dirty="0" err="1"/>
              <a:t>title</a:t>
            </a:r>
            <a:endParaRPr lang="sv-SE" dirty="0"/>
          </a:p>
        </p:txBody>
      </p:sp>
      <p:sp>
        <p:nvSpPr>
          <p:cNvPr id="3" name="Platshållare för text 2">
            <a:extLst>
              <a:ext uri="{FF2B5EF4-FFF2-40B4-BE49-F238E27FC236}">
                <a16:creationId xmlns:a16="http://schemas.microsoft.com/office/drawing/2014/main" id="{7D3510A7-27E7-AB47-9BDD-4028505215CC}"/>
              </a:ext>
            </a:extLst>
          </p:cNvPr>
          <p:cNvSpPr>
            <a:spLocks noGrp="1"/>
          </p:cNvSpPr>
          <p:nvPr>
            <p:ph type="body" idx="1"/>
          </p:nvPr>
        </p:nvSpPr>
        <p:spPr>
          <a:xfrm>
            <a:off x="838201" y="1735640"/>
            <a:ext cx="8865199" cy="3794248"/>
          </a:xfrm>
          <a:prstGeom prst="rect">
            <a:avLst/>
          </a:prstGeom>
        </p:spPr>
        <p:txBody>
          <a:bodyPr vert="horz" lIns="91440" tIns="45720" rIns="91440" bIns="45720" rtlCol="0">
            <a:normAutofit/>
          </a:bodyPr>
          <a:lstStyle/>
          <a:p>
            <a:r>
              <a:rPr lang="sv-SE" dirty="0" err="1"/>
              <a:t>Your</a:t>
            </a:r>
            <a:r>
              <a:rPr lang="sv-SE" dirty="0"/>
              <a:t> text </a:t>
            </a:r>
            <a:r>
              <a:rPr lang="sv-SE" dirty="0" err="1"/>
              <a:t>here</a:t>
            </a:r>
            <a:r>
              <a:rPr lang="sv-SE" dirty="0"/>
              <a:t>
</a:t>
            </a:r>
          </a:p>
        </p:txBody>
      </p:sp>
      <p:sp>
        <p:nvSpPr>
          <p:cNvPr id="4" name="Rektangel 3">
            <a:extLst>
              <a:ext uri="{FF2B5EF4-FFF2-40B4-BE49-F238E27FC236}">
                <a16:creationId xmlns:a16="http://schemas.microsoft.com/office/drawing/2014/main" id="{63072D4B-4A56-4345-AB07-8855A4354F33}"/>
              </a:ext>
            </a:extLst>
          </p:cNvPr>
          <p:cNvSpPr/>
          <p:nvPr userDrawn="1"/>
        </p:nvSpPr>
        <p:spPr>
          <a:xfrm>
            <a:off x="0" y="0"/>
            <a:ext cx="12192000" cy="316523"/>
          </a:xfrm>
          <a:prstGeom prst="rect">
            <a:avLst/>
          </a:prstGeom>
          <a:solidFill>
            <a:schemeClr val="accent1"/>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sv-SE" sz="1800"/>
          </a:p>
        </p:txBody>
      </p:sp>
    </p:spTree>
    <p:extLst>
      <p:ext uri="{BB962C8B-B14F-4D97-AF65-F5344CB8AC3E}">
        <p14:creationId xmlns:p14="http://schemas.microsoft.com/office/powerpoint/2010/main" val="582853759"/>
      </p:ext>
    </p:extLst>
  </p:cSld>
  <p:clrMap bg1="lt1" tx1="dk1" bg2="lt2" tx2="dk2" accent1="accent1" accent2="accent2" accent3="accent3" accent4="accent4" accent5="accent5" accent6="accent6" hlink="hlink" folHlink="folHlink"/>
  <p:sldLayoutIdLst>
    <p:sldLayoutId id="2147483652" r:id="rId1"/>
    <p:sldLayoutId id="2147483655" r:id="rId2"/>
    <p:sldLayoutId id="2147483649" r:id="rId3"/>
    <p:sldLayoutId id="2147483653" r:id="rId4"/>
    <p:sldLayoutId id="2147483651" r:id="rId5"/>
  </p:sldLayoutIdLst>
  <p:txStyles>
    <p:titleStyle>
      <a:lvl1pPr algn="l" defTabSz="914377" rtl="0" eaLnBrk="1" latinLnBrk="0" hangingPunct="1">
        <a:lnSpc>
          <a:spcPct val="90000"/>
        </a:lnSpc>
        <a:spcBef>
          <a:spcPct val="0"/>
        </a:spcBef>
        <a:buNone/>
        <a:defRPr sz="4000" b="1" i="0" kern="1200">
          <a:solidFill>
            <a:schemeClr val="tx1"/>
          </a:solidFill>
          <a:latin typeface="Century Gothic" panose="020B0502020202020204" pitchFamily="34" charset="0"/>
          <a:ea typeface="+mj-ea"/>
          <a:cs typeface="+mj-cs"/>
        </a:defRPr>
      </a:lvl1pPr>
    </p:titleStyle>
    <p:bodyStyle>
      <a:lvl1pPr marL="0" indent="0" algn="l" defTabSz="914377" rtl="0" eaLnBrk="1" latinLnBrk="0" hangingPunct="1">
        <a:lnSpc>
          <a:spcPct val="90000"/>
        </a:lnSpc>
        <a:spcBef>
          <a:spcPts val="1000"/>
        </a:spcBef>
        <a:buFont typeface="Arial" panose="020B0604020202020204" pitchFamily="34" charset="0"/>
        <a:buNone/>
        <a:defRPr sz="2000" b="0" i="0" kern="1200">
          <a:solidFill>
            <a:schemeClr val="tx1"/>
          </a:solidFill>
          <a:latin typeface="Times" pitchFamily="2"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675887"/>
            <a:ext cx="12191695" cy="3182112"/>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3675887"/>
            <a:ext cx="12191695"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73936"/>
            <a:ext cx="7863840" cy="274320"/>
          </a:xfrm>
          <a:prstGeom prst="rect">
            <a:avLst/>
          </a:prstGeom>
          <a:noFill/>
        </p:spPr>
        <p:txBody>
          <a:bodyPr wrap="square" anchor="t" lIns="0" rIns="0" tIns="0" bIns="0">
            <a:spAutoFit/>
          </a:bodyPr>
          <a:lstStyle/>
          <a:p>
            <a:pPr algn="l">
              <a:lnSpc>
                <a:spcPct val="115000"/>
              </a:lnSpc>
              <a:spcBef>
                <a:spcPts val="0"/>
              </a:spcBef>
              <a:spcAft>
                <a:spcPts val="0"/>
              </a:spcAft>
            </a:pPr>
            <a:r>
              <a:rPr sz="1100" b="1" i="0">
                <a:solidFill>
                  <a:srgbClr val="0C4E64"/>
                </a:solidFill>
                <a:latin typeface="Century Gothic"/>
              </a:rPr>
              <a:t>MASTER'S THESIS  ·  FACULTY OF COMPUTING</a:t>
            </a:r>
          </a:p>
        </p:txBody>
      </p:sp>
      <p:sp>
        <p:nvSpPr>
          <p:cNvPr id="5" name="TextBox 4"/>
          <p:cNvSpPr txBox="1"/>
          <p:nvPr/>
        </p:nvSpPr>
        <p:spPr>
          <a:xfrm>
            <a:off x="841248" y="2212848"/>
            <a:ext cx="10424160" cy="1188720"/>
          </a:xfrm>
          <a:prstGeom prst="rect">
            <a:avLst/>
          </a:prstGeom>
          <a:noFill/>
        </p:spPr>
        <p:txBody>
          <a:bodyPr wrap="square" anchor="t" lIns="0" rIns="0" tIns="0" bIns="0">
            <a:spAutoFit/>
          </a:bodyPr>
          <a:lstStyle/>
          <a:p>
            <a:pPr algn="l">
              <a:lnSpc>
                <a:spcPct val="116000"/>
              </a:lnSpc>
              <a:spcBef>
                <a:spcPts val="0"/>
              </a:spcBef>
              <a:spcAft>
                <a:spcPts val="0"/>
              </a:spcAft>
            </a:pPr>
            <a:r>
              <a:rPr sz="2500" b="1" i="0">
                <a:solidFill>
                  <a:srgbClr val="0C4E64"/>
                </a:solidFill>
                <a:latin typeface="Century Gothic"/>
              </a:rPr>
              <a:t>A Developer-Centred Evaluation of False Positive Impact</a:t>
            </a:r>
            <a:br/>
            <a:r>
              <a:rPr sz="2500" b="1" i="0">
                <a:solidFill>
                  <a:srgbClr val="0C4E64"/>
                </a:solidFill>
                <a:latin typeface="Century Gothic"/>
              </a:rPr>
              <a:t>in Machine Learning-Based Intrusion Detection Systems</a:t>
            </a:r>
          </a:p>
        </p:txBody>
      </p:sp>
      <p:sp>
        <p:nvSpPr>
          <p:cNvPr id="6" name="TextBox 5"/>
          <p:cNvSpPr txBox="1"/>
          <p:nvPr/>
        </p:nvSpPr>
        <p:spPr>
          <a:xfrm>
            <a:off x="841248" y="4023360"/>
            <a:ext cx="950976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94B0C9"/>
                </a:solidFill>
                <a:latin typeface="Calibri"/>
              </a:rPr>
              <a:t>Bridging technical IDS evaluation and human-centred usability assessment</a:t>
            </a:r>
          </a:p>
        </p:txBody>
      </p:sp>
      <p:sp>
        <p:nvSpPr>
          <p:cNvPr id="7" name="Rectangle 6"/>
          <p:cNvSpPr/>
          <p:nvPr/>
        </p:nvSpPr>
        <p:spPr>
          <a:xfrm>
            <a:off x="841248" y="4572000"/>
            <a:ext cx="1280160" cy="41148"/>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41248" y="4864608"/>
            <a:ext cx="6766560" cy="1188720"/>
          </a:xfrm>
          <a:prstGeom prst="rect">
            <a:avLst/>
          </a:prstGeom>
          <a:noFill/>
        </p:spPr>
        <p:txBody>
          <a:bodyPr wrap="square" anchor="t" lIns="0" rIns="0" tIns="0" bIns="0">
            <a:spAutoFit/>
          </a:bodyPr>
          <a:lstStyle/>
          <a:p>
            <a:pPr algn="l">
              <a:lnSpc>
                <a:spcPct val="115000"/>
              </a:lnSpc>
              <a:spcBef>
                <a:spcPts val="0"/>
              </a:spcBef>
              <a:spcAft>
                <a:spcPts val="800"/>
              </a:spcAft>
            </a:pPr>
            <a:r>
              <a:rPr sz="1900" b="1" i="0">
                <a:solidFill>
                  <a:srgbClr val="FFFFFF"/>
                </a:solidFill>
                <a:latin typeface="Century Gothic"/>
              </a:rPr>
              <a:t>Sai Akhil Gouravarapu   ·   Sri Aditya Gundimeda</a:t>
            </a:r>
          </a:p>
          <a:p>
            <a:pPr algn="l">
              <a:lnSpc>
                <a:spcPct val="115000"/>
              </a:lnSpc>
              <a:spcBef>
                <a:spcPts val="0"/>
              </a:spcBef>
              <a:spcAft>
                <a:spcPts val="0"/>
              </a:spcAft>
            </a:pPr>
            <a:r>
              <a:rPr sz="1150" b="0" i="0">
                <a:solidFill>
                  <a:srgbClr val="FFFFFF"/>
                </a:solidFill>
                <a:latin typeface="Calibri"/>
              </a:rPr>
              <a:t>Faculty of Computing  ·  Blekinge Institute of Technology, Karlskrona, Sweden</a:t>
            </a:r>
          </a:p>
        </p:txBody>
      </p:sp>
      <p:sp>
        <p:nvSpPr>
          <p:cNvPr id="9" name="TextBox 8"/>
          <p:cNvSpPr txBox="1"/>
          <p:nvPr/>
        </p:nvSpPr>
        <p:spPr>
          <a:xfrm>
            <a:off x="8412480" y="5029200"/>
            <a:ext cx="2935224" cy="822960"/>
          </a:xfrm>
          <a:prstGeom prst="rect">
            <a:avLst/>
          </a:prstGeom>
          <a:noFill/>
        </p:spPr>
        <p:txBody>
          <a:bodyPr wrap="square" anchor="t" lIns="0" rIns="0" tIns="0" bIns="0">
            <a:spAutoFit/>
          </a:bodyPr>
          <a:lstStyle/>
          <a:p>
            <a:pPr algn="r">
              <a:lnSpc>
                <a:spcPct val="115000"/>
              </a:lnSpc>
              <a:spcBef>
                <a:spcPts val="0"/>
              </a:spcBef>
              <a:spcAft>
                <a:spcPts val="400"/>
              </a:spcAft>
            </a:pPr>
            <a:r>
              <a:rPr sz="900" b="1" i="0">
                <a:solidFill>
                  <a:srgbClr val="94B0C9"/>
                </a:solidFill>
                <a:latin typeface="Century Gothic"/>
              </a:rPr>
              <a:t>THESIS DEFENCE</a:t>
            </a:r>
          </a:p>
          <a:p>
            <a:pPr algn="r">
              <a:lnSpc>
                <a:spcPct val="115000"/>
              </a:lnSpc>
              <a:spcBef>
                <a:spcPts val="0"/>
              </a:spcBef>
              <a:spcAft>
                <a:spcPts val="400"/>
              </a:spcAft>
            </a:pPr>
            <a:r>
              <a:rPr sz="1200" b="1" i="0">
                <a:solidFill>
                  <a:srgbClr val="FFFFFF"/>
                </a:solidFill>
                <a:latin typeface="Calibri"/>
              </a:rPr>
              <a:t>UNSW-NB15  ·  15 developers</a:t>
            </a:r>
          </a:p>
          <a:p>
            <a:pPr algn="r">
              <a:lnSpc>
                <a:spcPct val="115000"/>
              </a:lnSpc>
              <a:spcBef>
                <a:spcPts val="0"/>
              </a:spcBef>
              <a:spcAft>
                <a:spcPts val="0"/>
              </a:spcAft>
            </a:pPr>
            <a:r>
              <a:rPr sz="1050" b="0" i="0">
                <a:solidFill>
                  <a:srgbClr val="FF7841"/>
                </a:solidFill>
                <a:latin typeface="Calibri"/>
              </a:rPr>
              <a:t>Random Forest · Logistic Regression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Agenda</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OVERVIEW</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Parts of this presentation (not thesis chapters)</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01</a:t>
            </a:r>
          </a:p>
        </p:txBody>
      </p:sp>
      <p:sp>
        <p:nvSpPr>
          <p:cNvPr id="9" name="Rectangle 8"/>
          <p:cNvSpPr/>
          <p:nvPr/>
        </p:nvSpPr>
        <p:spPr>
          <a:xfrm>
            <a:off x="841248" y="2468880"/>
            <a:ext cx="5001768" cy="78638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41248" y="2468880"/>
            <a:ext cx="45720" cy="78638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0704" y="2615184"/>
            <a:ext cx="640080" cy="45720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94B0C9"/>
                </a:solidFill>
                <a:latin typeface="Century Gothic"/>
              </a:rPr>
              <a:t>A</a:t>
            </a:r>
          </a:p>
        </p:txBody>
      </p:sp>
      <p:sp>
        <p:nvSpPr>
          <p:cNvPr id="12" name="TextBox 11"/>
          <p:cNvSpPr txBox="1"/>
          <p:nvPr/>
        </p:nvSpPr>
        <p:spPr>
          <a:xfrm>
            <a:off x="1737360" y="2587752"/>
            <a:ext cx="3977639" cy="566928"/>
          </a:xfrm>
          <a:prstGeom prst="rect">
            <a:avLst/>
          </a:prstGeom>
          <a:noFill/>
        </p:spPr>
        <p:txBody>
          <a:bodyPr wrap="square" anchor="t" lIns="0" rIns="0" tIns="0" bIns="0">
            <a:spAutoFit/>
          </a:bodyPr>
          <a:lstStyle/>
          <a:p>
            <a:pPr algn="l">
              <a:lnSpc>
                <a:spcPct val="115000"/>
              </a:lnSpc>
              <a:spcBef>
                <a:spcPts val="0"/>
              </a:spcBef>
              <a:spcAft>
                <a:spcPts val="200"/>
              </a:spcAft>
            </a:pPr>
            <a:r>
              <a:rPr sz="1300" b="1" i="0">
                <a:solidFill>
                  <a:srgbClr val="0C4E64"/>
                </a:solidFill>
                <a:latin typeface="Century Gothic"/>
              </a:rPr>
              <a:t>Introduction</a:t>
            </a:r>
          </a:p>
          <a:p>
            <a:pPr algn="l">
              <a:lnSpc>
                <a:spcPct val="115000"/>
              </a:lnSpc>
              <a:spcBef>
                <a:spcPts val="0"/>
              </a:spcBef>
              <a:spcAft>
                <a:spcPts val="0"/>
              </a:spcAft>
            </a:pPr>
            <a:r>
              <a:rPr sz="950" b="0" i="0">
                <a:solidFill>
                  <a:srgbClr val="6E767B"/>
                </a:solidFill>
                <a:latin typeface="Calibri"/>
              </a:rPr>
              <a:t>Cybersecurity, IDS and false positives</a:t>
            </a:r>
          </a:p>
        </p:txBody>
      </p:sp>
      <p:sp>
        <p:nvSpPr>
          <p:cNvPr id="13" name="Rectangle 12"/>
          <p:cNvSpPr/>
          <p:nvPr/>
        </p:nvSpPr>
        <p:spPr>
          <a:xfrm>
            <a:off x="841248" y="3383280"/>
            <a:ext cx="5001768" cy="78638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41248" y="3383280"/>
            <a:ext cx="45720" cy="78638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60704" y="3529584"/>
            <a:ext cx="640080" cy="45720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94B0C9"/>
                </a:solidFill>
                <a:latin typeface="Century Gothic"/>
              </a:rPr>
              <a:t>B</a:t>
            </a:r>
          </a:p>
        </p:txBody>
      </p:sp>
      <p:sp>
        <p:nvSpPr>
          <p:cNvPr id="16" name="TextBox 15"/>
          <p:cNvSpPr txBox="1"/>
          <p:nvPr/>
        </p:nvSpPr>
        <p:spPr>
          <a:xfrm>
            <a:off x="1737360" y="3502152"/>
            <a:ext cx="3977639" cy="566928"/>
          </a:xfrm>
          <a:prstGeom prst="rect">
            <a:avLst/>
          </a:prstGeom>
          <a:noFill/>
        </p:spPr>
        <p:txBody>
          <a:bodyPr wrap="square" anchor="t" lIns="0" rIns="0" tIns="0" bIns="0">
            <a:spAutoFit/>
          </a:bodyPr>
          <a:lstStyle/>
          <a:p>
            <a:pPr algn="l">
              <a:lnSpc>
                <a:spcPct val="115000"/>
              </a:lnSpc>
              <a:spcBef>
                <a:spcPts val="0"/>
              </a:spcBef>
              <a:spcAft>
                <a:spcPts val="200"/>
              </a:spcAft>
            </a:pPr>
            <a:r>
              <a:rPr sz="1300" b="1" i="0">
                <a:solidFill>
                  <a:srgbClr val="0C4E64"/>
                </a:solidFill>
                <a:latin typeface="Century Gothic"/>
              </a:rPr>
              <a:t>Problem, Aim &amp; Research Questions</a:t>
            </a:r>
          </a:p>
          <a:p>
            <a:pPr algn="l">
              <a:lnSpc>
                <a:spcPct val="115000"/>
              </a:lnSpc>
              <a:spcBef>
                <a:spcPts val="0"/>
              </a:spcBef>
              <a:spcAft>
                <a:spcPts val="0"/>
              </a:spcAft>
            </a:pPr>
            <a:r>
              <a:rPr sz="950" b="0" i="0">
                <a:solidFill>
                  <a:srgbClr val="6E767B"/>
                </a:solidFill>
                <a:latin typeface="Calibri"/>
              </a:rPr>
              <a:t>What the study set out to answer</a:t>
            </a:r>
          </a:p>
        </p:txBody>
      </p:sp>
      <p:sp>
        <p:nvSpPr>
          <p:cNvPr id="17" name="Rectangle 16"/>
          <p:cNvSpPr/>
          <p:nvPr/>
        </p:nvSpPr>
        <p:spPr>
          <a:xfrm>
            <a:off x="841248" y="4297680"/>
            <a:ext cx="5001768" cy="78638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41248" y="4297680"/>
            <a:ext cx="45720" cy="78638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60704" y="4443984"/>
            <a:ext cx="640080" cy="45720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94B0C9"/>
                </a:solidFill>
                <a:latin typeface="Century Gothic"/>
              </a:rPr>
              <a:t>C</a:t>
            </a:r>
          </a:p>
        </p:txBody>
      </p:sp>
      <p:sp>
        <p:nvSpPr>
          <p:cNvPr id="20" name="TextBox 19"/>
          <p:cNvSpPr txBox="1"/>
          <p:nvPr/>
        </p:nvSpPr>
        <p:spPr>
          <a:xfrm>
            <a:off x="1737360" y="4416552"/>
            <a:ext cx="3977639" cy="566928"/>
          </a:xfrm>
          <a:prstGeom prst="rect">
            <a:avLst/>
          </a:prstGeom>
          <a:noFill/>
        </p:spPr>
        <p:txBody>
          <a:bodyPr wrap="square" anchor="t" lIns="0" rIns="0" tIns="0" bIns="0">
            <a:spAutoFit/>
          </a:bodyPr>
          <a:lstStyle/>
          <a:p>
            <a:pPr algn="l">
              <a:lnSpc>
                <a:spcPct val="115000"/>
              </a:lnSpc>
              <a:spcBef>
                <a:spcPts val="0"/>
              </a:spcBef>
              <a:spcAft>
                <a:spcPts val="200"/>
              </a:spcAft>
            </a:pPr>
            <a:r>
              <a:rPr sz="1300" b="1" i="0">
                <a:solidFill>
                  <a:srgbClr val="0C4E64"/>
                </a:solidFill>
                <a:latin typeface="Century Gothic"/>
              </a:rPr>
              <a:t>Related Work</a:t>
            </a:r>
          </a:p>
          <a:p>
            <a:pPr algn="l">
              <a:lnSpc>
                <a:spcPct val="115000"/>
              </a:lnSpc>
              <a:spcBef>
                <a:spcPts val="0"/>
              </a:spcBef>
              <a:spcAft>
                <a:spcPts val="0"/>
              </a:spcAft>
            </a:pPr>
            <a:r>
              <a:rPr sz="950" b="0" i="0">
                <a:solidFill>
                  <a:srgbClr val="6E767B"/>
                </a:solidFill>
                <a:latin typeface="Calibri"/>
              </a:rPr>
              <a:t>ML-based IDS, and trust in automation</a:t>
            </a:r>
          </a:p>
        </p:txBody>
      </p:sp>
      <p:sp>
        <p:nvSpPr>
          <p:cNvPr id="21" name="Rectangle 20"/>
          <p:cNvSpPr/>
          <p:nvPr/>
        </p:nvSpPr>
        <p:spPr>
          <a:xfrm>
            <a:off x="841248" y="5212080"/>
            <a:ext cx="5001768" cy="78638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41248" y="5212080"/>
            <a:ext cx="45720" cy="78638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60704" y="5358384"/>
            <a:ext cx="640080" cy="45720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94B0C9"/>
                </a:solidFill>
                <a:latin typeface="Century Gothic"/>
              </a:rPr>
              <a:t>D</a:t>
            </a:r>
          </a:p>
        </p:txBody>
      </p:sp>
      <p:sp>
        <p:nvSpPr>
          <p:cNvPr id="24" name="TextBox 23"/>
          <p:cNvSpPr txBox="1"/>
          <p:nvPr/>
        </p:nvSpPr>
        <p:spPr>
          <a:xfrm>
            <a:off x="1737360" y="5330952"/>
            <a:ext cx="3977639" cy="566928"/>
          </a:xfrm>
          <a:prstGeom prst="rect">
            <a:avLst/>
          </a:prstGeom>
          <a:noFill/>
        </p:spPr>
        <p:txBody>
          <a:bodyPr wrap="square" anchor="t" lIns="0" rIns="0" tIns="0" bIns="0">
            <a:spAutoFit/>
          </a:bodyPr>
          <a:lstStyle/>
          <a:p>
            <a:pPr algn="l">
              <a:lnSpc>
                <a:spcPct val="115000"/>
              </a:lnSpc>
              <a:spcBef>
                <a:spcPts val="0"/>
              </a:spcBef>
              <a:spcAft>
                <a:spcPts val="200"/>
              </a:spcAft>
            </a:pPr>
            <a:r>
              <a:rPr sz="1300" b="1" i="0">
                <a:solidFill>
                  <a:srgbClr val="0C4E64"/>
                </a:solidFill>
                <a:latin typeface="Century Gothic"/>
              </a:rPr>
              <a:t>Methodology</a:t>
            </a:r>
          </a:p>
          <a:p>
            <a:pPr algn="l">
              <a:lnSpc>
                <a:spcPct val="115000"/>
              </a:lnSpc>
              <a:spcBef>
                <a:spcPts val="0"/>
              </a:spcBef>
              <a:spcAft>
                <a:spcPts val="0"/>
              </a:spcAft>
            </a:pPr>
            <a:r>
              <a:rPr sz="950" b="0" i="0">
                <a:solidFill>
                  <a:srgbClr val="6E767B"/>
                </a:solidFill>
                <a:latin typeface="Calibri"/>
              </a:rPr>
              <a:t>Two-phase mixed-method design</a:t>
            </a:r>
          </a:p>
        </p:txBody>
      </p:sp>
      <p:sp>
        <p:nvSpPr>
          <p:cNvPr id="25" name="Rectangle 24"/>
          <p:cNvSpPr/>
          <p:nvPr/>
        </p:nvSpPr>
        <p:spPr>
          <a:xfrm>
            <a:off x="6272784" y="2468880"/>
            <a:ext cx="5001768" cy="78638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272784" y="2468880"/>
            <a:ext cx="45720" cy="786384"/>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92240" y="2615184"/>
            <a:ext cx="640080" cy="45720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94B0C9"/>
                </a:solidFill>
                <a:latin typeface="Century Gothic"/>
              </a:rPr>
              <a:t>E</a:t>
            </a:r>
          </a:p>
        </p:txBody>
      </p:sp>
      <p:sp>
        <p:nvSpPr>
          <p:cNvPr id="28" name="TextBox 27"/>
          <p:cNvSpPr txBox="1"/>
          <p:nvPr/>
        </p:nvSpPr>
        <p:spPr>
          <a:xfrm>
            <a:off x="7168896" y="2587752"/>
            <a:ext cx="3977639" cy="566928"/>
          </a:xfrm>
          <a:prstGeom prst="rect">
            <a:avLst/>
          </a:prstGeom>
          <a:noFill/>
        </p:spPr>
        <p:txBody>
          <a:bodyPr wrap="square" anchor="t" lIns="0" rIns="0" tIns="0" bIns="0">
            <a:spAutoFit/>
          </a:bodyPr>
          <a:lstStyle/>
          <a:p>
            <a:pPr algn="l">
              <a:lnSpc>
                <a:spcPct val="115000"/>
              </a:lnSpc>
              <a:spcBef>
                <a:spcPts val="0"/>
              </a:spcBef>
              <a:spcAft>
                <a:spcPts val="200"/>
              </a:spcAft>
            </a:pPr>
            <a:r>
              <a:rPr sz="1300" b="1" i="0">
                <a:solidFill>
                  <a:srgbClr val="0C4E64"/>
                </a:solidFill>
                <a:latin typeface="Century Gothic"/>
              </a:rPr>
              <a:t>Results — Phase 1</a:t>
            </a:r>
          </a:p>
          <a:p>
            <a:pPr algn="l">
              <a:lnSpc>
                <a:spcPct val="115000"/>
              </a:lnSpc>
              <a:spcBef>
                <a:spcPts val="0"/>
              </a:spcBef>
              <a:spcAft>
                <a:spcPts val="0"/>
              </a:spcAft>
            </a:pPr>
            <a:r>
              <a:rPr sz="950" b="0" i="0">
                <a:solidFill>
                  <a:srgbClr val="6E767B"/>
                </a:solidFill>
                <a:latin typeface="Calibri"/>
              </a:rPr>
              <a:t>IDS model performance and thresholds</a:t>
            </a:r>
          </a:p>
        </p:txBody>
      </p:sp>
      <p:sp>
        <p:nvSpPr>
          <p:cNvPr id="29" name="Rectangle 28"/>
          <p:cNvSpPr/>
          <p:nvPr/>
        </p:nvSpPr>
        <p:spPr>
          <a:xfrm>
            <a:off x="6272784" y="3383280"/>
            <a:ext cx="5001768" cy="78638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72784" y="3383280"/>
            <a:ext cx="45720" cy="786384"/>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92240" y="3529584"/>
            <a:ext cx="640080" cy="45720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94B0C9"/>
                </a:solidFill>
                <a:latin typeface="Century Gothic"/>
              </a:rPr>
              <a:t>F</a:t>
            </a:r>
          </a:p>
        </p:txBody>
      </p:sp>
      <p:sp>
        <p:nvSpPr>
          <p:cNvPr id="32" name="TextBox 31"/>
          <p:cNvSpPr txBox="1"/>
          <p:nvPr/>
        </p:nvSpPr>
        <p:spPr>
          <a:xfrm>
            <a:off x="7168896" y="3502152"/>
            <a:ext cx="3977639" cy="566928"/>
          </a:xfrm>
          <a:prstGeom prst="rect">
            <a:avLst/>
          </a:prstGeom>
          <a:noFill/>
        </p:spPr>
        <p:txBody>
          <a:bodyPr wrap="square" anchor="t" lIns="0" rIns="0" tIns="0" bIns="0">
            <a:spAutoFit/>
          </a:bodyPr>
          <a:lstStyle/>
          <a:p>
            <a:pPr algn="l">
              <a:lnSpc>
                <a:spcPct val="115000"/>
              </a:lnSpc>
              <a:spcBef>
                <a:spcPts val="0"/>
              </a:spcBef>
              <a:spcAft>
                <a:spcPts val="200"/>
              </a:spcAft>
            </a:pPr>
            <a:r>
              <a:rPr sz="1300" b="1" i="0">
                <a:solidFill>
                  <a:srgbClr val="0C4E64"/>
                </a:solidFill>
                <a:latin typeface="Century Gothic"/>
              </a:rPr>
              <a:t>Results — Phase 2</a:t>
            </a:r>
          </a:p>
          <a:p>
            <a:pPr algn="l">
              <a:lnSpc>
                <a:spcPct val="115000"/>
              </a:lnSpc>
              <a:spcBef>
                <a:spcPts val="0"/>
              </a:spcBef>
              <a:spcAft>
                <a:spcPts val="0"/>
              </a:spcAft>
            </a:pPr>
            <a:r>
              <a:rPr sz="950" b="0" i="0">
                <a:solidFill>
                  <a:srgbClr val="6E767B"/>
                </a:solidFill>
                <a:latin typeface="Calibri"/>
              </a:rPr>
              <a:t>Developer-centred evaluation</a:t>
            </a:r>
          </a:p>
        </p:txBody>
      </p:sp>
      <p:sp>
        <p:nvSpPr>
          <p:cNvPr id="33" name="Rectangle 32"/>
          <p:cNvSpPr/>
          <p:nvPr/>
        </p:nvSpPr>
        <p:spPr>
          <a:xfrm>
            <a:off x="6272784" y="4297680"/>
            <a:ext cx="5001768" cy="78638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272784" y="4297680"/>
            <a:ext cx="45720" cy="786384"/>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92240" y="4443984"/>
            <a:ext cx="640080" cy="45720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94B0C9"/>
                </a:solidFill>
                <a:latin typeface="Century Gothic"/>
              </a:rPr>
              <a:t>G</a:t>
            </a:r>
          </a:p>
        </p:txBody>
      </p:sp>
      <p:sp>
        <p:nvSpPr>
          <p:cNvPr id="36" name="TextBox 35"/>
          <p:cNvSpPr txBox="1"/>
          <p:nvPr/>
        </p:nvSpPr>
        <p:spPr>
          <a:xfrm>
            <a:off x="7168896" y="4416552"/>
            <a:ext cx="3977639" cy="566928"/>
          </a:xfrm>
          <a:prstGeom prst="rect">
            <a:avLst/>
          </a:prstGeom>
          <a:noFill/>
        </p:spPr>
        <p:txBody>
          <a:bodyPr wrap="square" anchor="t" lIns="0" rIns="0" tIns="0" bIns="0">
            <a:spAutoFit/>
          </a:bodyPr>
          <a:lstStyle/>
          <a:p>
            <a:pPr algn="l">
              <a:lnSpc>
                <a:spcPct val="115000"/>
              </a:lnSpc>
              <a:spcBef>
                <a:spcPts val="0"/>
              </a:spcBef>
              <a:spcAft>
                <a:spcPts val="200"/>
              </a:spcAft>
            </a:pPr>
            <a:r>
              <a:rPr sz="1300" b="1" i="0">
                <a:solidFill>
                  <a:srgbClr val="0C4E64"/>
                </a:solidFill>
                <a:latin typeface="Century Gothic"/>
              </a:rPr>
              <a:t>Discussion &amp; Conclusions</a:t>
            </a:r>
          </a:p>
          <a:p>
            <a:pPr algn="l">
              <a:lnSpc>
                <a:spcPct val="115000"/>
              </a:lnSpc>
              <a:spcBef>
                <a:spcPts val="0"/>
              </a:spcBef>
              <a:spcAft>
                <a:spcPts val="0"/>
              </a:spcAft>
            </a:pPr>
            <a:r>
              <a:rPr sz="950" b="0" i="0">
                <a:solidFill>
                  <a:srgbClr val="6E767B"/>
                </a:solidFill>
                <a:latin typeface="Calibri"/>
              </a:rPr>
              <a:t>Interpretation, limitations, future work</a:t>
            </a:r>
          </a:p>
        </p:txBody>
      </p:sp>
      <p:sp>
        <p:nvSpPr>
          <p:cNvPr id="37" name="Rectangle 36"/>
          <p:cNvSpPr/>
          <p:nvPr/>
        </p:nvSpPr>
        <p:spPr>
          <a:xfrm>
            <a:off x="6272784" y="5212080"/>
            <a:ext cx="5001768" cy="78638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272784" y="5212080"/>
            <a:ext cx="45720" cy="786384"/>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92240" y="5358384"/>
            <a:ext cx="640080" cy="45720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94B0C9"/>
                </a:solidFill>
                <a:latin typeface="Century Gothic"/>
              </a:rPr>
              <a:t>H</a:t>
            </a:r>
          </a:p>
        </p:txBody>
      </p:sp>
      <p:sp>
        <p:nvSpPr>
          <p:cNvPr id="40" name="TextBox 39"/>
          <p:cNvSpPr txBox="1"/>
          <p:nvPr/>
        </p:nvSpPr>
        <p:spPr>
          <a:xfrm>
            <a:off x="7168896" y="5330952"/>
            <a:ext cx="3977639" cy="566928"/>
          </a:xfrm>
          <a:prstGeom prst="rect">
            <a:avLst/>
          </a:prstGeom>
          <a:noFill/>
        </p:spPr>
        <p:txBody>
          <a:bodyPr wrap="square" anchor="t" lIns="0" rIns="0" tIns="0" bIns="0">
            <a:spAutoFit/>
          </a:bodyPr>
          <a:lstStyle/>
          <a:p>
            <a:pPr algn="l">
              <a:lnSpc>
                <a:spcPct val="115000"/>
              </a:lnSpc>
              <a:spcBef>
                <a:spcPts val="0"/>
              </a:spcBef>
              <a:spcAft>
                <a:spcPts val="200"/>
              </a:spcAft>
            </a:pPr>
            <a:r>
              <a:rPr sz="1300" b="1" i="0">
                <a:solidFill>
                  <a:srgbClr val="0C4E64"/>
                </a:solidFill>
                <a:latin typeface="Century Gothic"/>
              </a:rPr>
              <a:t>Q &amp; A</a:t>
            </a:r>
          </a:p>
          <a:p>
            <a:pPr algn="l">
              <a:lnSpc>
                <a:spcPct val="115000"/>
              </a:lnSpc>
              <a:spcBef>
                <a:spcPts val="0"/>
              </a:spcBef>
              <a:spcAft>
                <a:spcPts val="0"/>
              </a:spcAft>
            </a:pPr>
            <a:r>
              <a:rPr sz="950" b="0" i="0">
                <a:solidFill>
                  <a:srgbClr val="6E767B"/>
                </a:solidFill>
                <a:latin typeface="Calibri"/>
              </a:rPr>
              <a:t>Questions and 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Cybersecurity Challenges and Intrusion Detection</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A · INTRODUCTION</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02</a:t>
            </a:r>
          </a:p>
        </p:txBody>
      </p:sp>
      <p:sp>
        <p:nvSpPr>
          <p:cNvPr id="8" name="Rectangle 7"/>
          <p:cNvSpPr/>
          <p:nvPr/>
        </p:nvSpPr>
        <p:spPr>
          <a:xfrm>
            <a:off x="841248" y="228142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78992" y="221284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300" b="0" i="0">
                <a:solidFill>
                  <a:srgbClr val="333433"/>
                </a:solidFill>
                <a:latin typeface="Calibri"/>
              </a:rPr>
              <a:t>Cloud computing, IoT and distributed services have expanded the attack surface available to cybercriminals.</a:t>
            </a:r>
          </a:p>
        </p:txBody>
      </p:sp>
      <p:sp>
        <p:nvSpPr>
          <p:cNvPr id="10" name="Rectangle 9"/>
          <p:cNvSpPr/>
          <p:nvPr/>
        </p:nvSpPr>
        <p:spPr>
          <a:xfrm>
            <a:off x="841248" y="264718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78992" y="257860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300" b="0" i="0">
                <a:solidFill>
                  <a:srgbClr val="333433"/>
                </a:solidFill>
                <a:latin typeface="Calibri"/>
              </a:rPr>
              <a:t>Intrusion Detection Systems (IDS) monitor network traffic, system logs and user activity and raise alerts.</a:t>
            </a:r>
          </a:p>
        </p:txBody>
      </p:sp>
      <p:sp>
        <p:nvSpPr>
          <p:cNvPr id="12" name="Rectangle 11"/>
          <p:cNvSpPr/>
          <p:nvPr/>
        </p:nvSpPr>
        <p:spPr>
          <a:xfrm>
            <a:off x="841248" y="301294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78992" y="294436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300" b="0" i="0">
                <a:solidFill>
                  <a:srgbClr val="333433"/>
                </a:solidFill>
                <a:latin typeface="Calibri"/>
              </a:rPr>
              <a:t>Signature-based IDS detect known threats reliably but struggle with previously unseen attacks.</a:t>
            </a:r>
          </a:p>
        </p:txBody>
      </p:sp>
      <p:sp>
        <p:nvSpPr>
          <p:cNvPr id="14" name="Rectangle 13"/>
          <p:cNvSpPr/>
          <p:nvPr/>
        </p:nvSpPr>
        <p:spPr>
          <a:xfrm>
            <a:off x="841248" y="337870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78992" y="331012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300" b="0" i="0">
                <a:solidFill>
                  <a:srgbClr val="333433"/>
                </a:solidFill>
                <a:latin typeface="Calibri"/>
              </a:rPr>
              <a:t>Anomaly-based IDS can detect novel threats, but frequently suffer from high false positive rates.</a:t>
            </a:r>
          </a:p>
        </p:txBody>
      </p:sp>
      <p:sp>
        <p:nvSpPr>
          <p:cNvPr id="16" name="Rectangle 15"/>
          <p:cNvSpPr/>
          <p:nvPr/>
        </p:nvSpPr>
        <p:spPr>
          <a:xfrm>
            <a:off x="841248" y="374446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78992" y="367588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300" b="0" i="0">
                <a:solidFill>
                  <a:srgbClr val="333433"/>
                </a:solidFill>
                <a:latin typeface="Calibri"/>
              </a:rPr>
              <a:t>In post-deployment maintenance it is developers who investigate alerts and decide what to act on.</a:t>
            </a:r>
          </a:p>
        </p:txBody>
      </p:sp>
      <p:sp>
        <p:nvSpPr>
          <p:cNvPr id="18" name="Rectangle 17"/>
          <p:cNvSpPr/>
          <p:nvPr/>
        </p:nvSpPr>
        <p:spPr>
          <a:xfrm>
            <a:off x="841248" y="4315968"/>
            <a:ext cx="3319272" cy="173736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41248" y="4315968"/>
            <a:ext cx="45720" cy="173736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78992" y="4498848"/>
            <a:ext cx="2898648"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APPROACH 1</a:t>
            </a:r>
          </a:p>
        </p:txBody>
      </p:sp>
      <p:sp>
        <p:nvSpPr>
          <p:cNvPr id="21" name="TextBox 20"/>
          <p:cNvSpPr txBox="1"/>
          <p:nvPr/>
        </p:nvSpPr>
        <p:spPr>
          <a:xfrm>
            <a:off x="1078992" y="4736592"/>
            <a:ext cx="2898648"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Signature-based</a:t>
            </a:r>
          </a:p>
        </p:txBody>
      </p:sp>
      <p:sp>
        <p:nvSpPr>
          <p:cNvPr id="22" name="TextBox 21"/>
          <p:cNvSpPr txBox="1"/>
          <p:nvPr/>
        </p:nvSpPr>
        <p:spPr>
          <a:xfrm>
            <a:off x="1078992" y="5010912"/>
            <a:ext cx="2898648" cy="932688"/>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Predefined attack patterns. Effective for known threats, weak against novel attacks.</a:t>
            </a:r>
          </a:p>
        </p:txBody>
      </p:sp>
      <p:sp>
        <p:nvSpPr>
          <p:cNvPr id="23" name="Rectangle 22"/>
          <p:cNvSpPr/>
          <p:nvPr/>
        </p:nvSpPr>
        <p:spPr>
          <a:xfrm>
            <a:off x="4434840" y="4315968"/>
            <a:ext cx="3319272" cy="173736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434840" y="4315968"/>
            <a:ext cx="45720" cy="173736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672584" y="4498848"/>
            <a:ext cx="2898648"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FF7841"/>
                </a:solidFill>
                <a:latin typeface="Century Gothic"/>
              </a:rPr>
              <a:t>APPROACH 2</a:t>
            </a:r>
          </a:p>
        </p:txBody>
      </p:sp>
      <p:sp>
        <p:nvSpPr>
          <p:cNvPr id="26" name="TextBox 25"/>
          <p:cNvSpPr txBox="1"/>
          <p:nvPr/>
        </p:nvSpPr>
        <p:spPr>
          <a:xfrm>
            <a:off x="4672584" y="4736592"/>
            <a:ext cx="2898648"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Anomaly-based</a:t>
            </a:r>
          </a:p>
        </p:txBody>
      </p:sp>
      <p:sp>
        <p:nvSpPr>
          <p:cNvPr id="27" name="TextBox 26"/>
          <p:cNvSpPr txBox="1"/>
          <p:nvPr/>
        </p:nvSpPr>
        <p:spPr>
          <a:xfrm>
            <a:off x="4672584" y="5010912"/>
            <a:ext cx="2898648" cy="932688"/>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Detects deviations from normal behaviour. Finds novel threats, raises false alarms.</a:t>
            </a:r>
          </a:p>
        </p:txBody>
      </p:sp>
      <p:sp>
        <p:nvSpPr>
          <p:cNvPr id="28" name="Rectangle 27"/>
          <p:cNvSpPr/>
          <p:nvPr/>
        </p:nvSpPr>
        <p:spPr>
          <a:xfrm>
            <a:off x="8028431" y="4315968"/>
            <a:ext cx="3319272" cy="173736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8028431" y="4315968"/>
            <a:ext cx="45720" cy="1737360"/>
          </a:xfrm>
          <a:prstGeom prst="rect">
            <a:avLst/>
          </a:prstGeom>
          <a:solidFill>
            <a:srgbClr val="94B0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266175" y="4498848"/>
            <a:ext cx="2898648"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94B0C9"/>
                </a:solidFill>
                <a:latin typeface="Century Gothic"/>
              </a:rPr>
              <a:t>APPROACH 3</a:t>
            </a:r>
          </a:p>
        </p:txBody>
      </p:sp>
      <p:sp>
        <p:nvSpPr>
          <p:cNvPr id="31" name="TextBox 30"/>
          <p:cNvSpPr txBox="1"/>
          <p:nvPr/>
        </p:nvSpPr>
        <p:spPr>
          <a:xfrm>
            <a:off x="8266175" y="4736592"/>
            <a:ext cx="2898648"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ML-based</a:t>
            </a:r>
          </a:p>
        </p:txBody>
      </p:sp>
      <p:sp>
        <p:nvSpPr>
          <p:cNvPr id="32" name="TextBox 31"/>
          <p:cNvSpPr txBox="1"/>
          <p:nvPr/>
        </p:nvSpPr>
        <p:spPr>
          <a:xfrm>
            <a:off x="8266175" y="5010912"/>
            <a:ext cx="2898648" cy="932688"/>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Learns patterns from historical traffic. The focus of this thesis.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From Rule-Based to Machine Learning-Based IDS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A · INTRODUCTION</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03</a:t>
            </a:r>
          </a:p>
        </p:txBody>
      </p:sp>
      <p:sp>
        <p:nvSpPr>
          <p:cNvPr id="8" name="Rectangle 7"/>
          <p:cNvSpPr/>
          <p:nvPr/>
        </p:nvSpPr>
        <p:spPr>
          <a:xfrm>
            <a:off x="841248" y="228142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78992" y="221284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300" b="0" i="0">
                <a:solidFill>
                  <a:srgbClr val="333433"/>
                </a:solidFill>
                <a:latin typeface="Calibri"/>
              </a:rPr>
              <a:t>ML algorithms learn patterns from data instead of relying on predefined signatures.</a:t>
            </a:r>
          </a:p>
        </p:txBody>
      </p:sp>
      <p:sp>
        <p:nvSpPr>
          <p:cNvPr id="10" name="Rectangle 9"/>
          <p:cNvSpPr/>
          <p:nvPr/>
        </p:nvSpPr>
        <p:spPr>
          <a:xfrm>
            <a:off x="841248" y="2702052"/>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78992" y="2633472"/>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300" b="0" i="0">
                <a:solidFill>
                  <a:srgbClr val="333433"/>
                </a:solidFill>
                <a:latin typeface="Calibri"/>
              </a:rPr>
              <a:t>Supervised methods applied to IDS include Decision Trees, Random Forests, Logistic Regression and SVM.</a:t>
            </a:r>
          </a:p>
        </p:txBody>
      </p:sp>
      <p:sp>
        <p:nvSpPr>
          <p:cNvPr id="12" name="Rectangle 11"/>
          <p:cNvSpPr/>
          <p:nvPr/>
        </p:nvSpPr>
        <p:spPr>
          <a:xfrm>
            <a:off x="841248" y="3122676"/>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78992" y="3054096"/>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300" b="0" i="0">
                <a:solidFill>
                  <a:srgbClr val="333433"/>
                </a:solidFill>
                <a:latin typeface="Calibri"/>
              </a:rPr>
              <a:t>Deep learning (CNN, RNN, LSTM) can learn feature representations and reduce manual feature engineering.</a:t>
            </a:r>
          </a:p>
        </p:txBody>
      </p:sp>
      <p:sp>
        <p:nvSpPr>
          <p:cNvPr id="14" name="Rectangle 13"/>
          <p:cNvSpPr/>
          <p:nvPr/>
        </p:nvSpPr>
        <p:spPr>
          <a:xfrm>
            <a:off x="841248" y="3543300"/>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78992" y="3474720"/>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300" b="0" i="0">
                <a:solidFill>
                  <a:srgbClr val="333433"/>
                </a:solidFill>
                <a:latin typeface="Calibri"/>
              </a:rPr>
              <a:t>Research has therefore concentrated on accuracy, precision, recall, F1-score and false positive rate.</a:t>
            </a:r>
          </a:p>
        </p:txBody>
      </p:sp>
      <p:sp>
        <p:nvSpPr>
          <p:cNvPr id="16" name="Rectangle 15"/>
          <p:cNvSpPr/>
          <p:nvPr/>
        </p:nvSpPr>
        <p:spPr>
          <a:xfrm>
            <a:off x="841248" y="4041648"/>
            <a:ext cx="10506456" cy="1133856"/>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41248" y="4041648"/>
            <a:ext cx="54864" cy="1133856"/>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152144" y="4224528"/>
            <a:ext cx="9784080" cy="822960"/>
          </a:xfrm>
          <a:prstGeom prst="rect">
            <a:avLst/>
          </a:prstGeom>
          <a:noFill/>
        </p:spPr>
        <p:txBody>
          <a:bodyPr wrap="square" anchor="t" lIns="0" rIns="0" tIns="0" bIns="0">
            <a:spAutoFit/>
          </a:bodyPr>
          <a:lstStyle/>
          <a:p>
            <a:pPr algn="l">
              <a:lnSpc>
                <a:spcPct val="115000"/>
              </a:lnSpc>
              <a:spcBef>
                <a:spcPts val="0"/>
              </a:spcBef>
              <a:spcAft>
                <a:spcPts val="500"/>
              </a:spcAft>
            </a:pPr>
            <a:r>
              <a:rPr sz="950" b="1" i="0">
                <a:solidFill>
                  <a:srgbClr val="FF7841"/>
                </a:solidFill>
                <a:latin typeface="Century Gothic"/>
              </a:rPr>
              <a:t>THE GAP BETWEEN EVALUATION AND PRACTICE</a:t>
            </a:r>
          </a:p>
          <a:p>
            <a:pPr algn="l">
              <a:lnSpc>
                <a:spcPct val="115000"/>
              </a:lnSpc>
              <a:spcBef>
                <a:spcPts val="0"/>
              </a:spcBef>
              <a:spcAft>
                <a:spcPts val="0"/>
              </a:spcAft>
            </a:pPr>
            <a:r>
              <a:rPr sz="1300" b="0" i="0">
                <a:solidFill>
                  <a:srgbClr val="FFFFFF"/>
                </a:solidFill>
                <a:latin typeface="Calibri"/>
              </a:rPr>
              <a:t>A technically accurate IDS may still be ineffective if developers find its alerts confusing, unreliable or difficult to interpret.</a:t>
            </a:r>
          </a:p>
        </p:txBody>
      </p:sp>
      <p:sp>
        <p:nvSpPr>
          <p:cNvPr id="19" name="Rectangle 18"/>
          <p:cNvSpPr/>
          <p:nvPr/>
        </p:nvSpPr>
        <p:spPr>
          <a:xfrm>
            <a:off x="841248" y="5321808"/>
            <a:ext cx="10506456" cy="73152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41248" y="5321808"/>
            <a:ext cx="45720" cy="73152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60704" y="5468112"/>
            <a:ext cx="10085832" cy="237744"/>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BASE-RATE PROBLEM</a:t>
            </a:r>
          </a:p>
        </p:txBody>
      </p:sp>
      <p:sp>
        <p:nvSpPr>
          <p:cNvPr id="22" name="TextBox 21"/>
          <p:cNvSpPr txBox="1"/>
          <p:nvPr/>
        </p:nvSpPr>
        <p:spPr>
          <a:xfrm>
            <a:off x="1060704" y="5724144"/>
            <a:ext cx="10085832" cy="201168"/>
          </a:xfrm>
          <a:prstGeom prst="rect">
            <a:avLst/>
          </a:prstGeom>
          <a:noFill/>
        </p:spPr>
        <p:txBody>
          <a:bodyPr wrap="square" anchor="t" lIns="0" rIns="0" tIns="0" bIns="0">
            <a:spAutoFit/>
          </a:bodyPr>
          <a:lstStyle/>
          <a:p>
            <a:pPr algn="l">
              <a:lnSpc>
                <a:spcPct val="116000"/>
              </a:lnSpc>
              <a:spcBef>
                <a:spcPts val="0"/>
              </a:spcBef>
              <a:spcAft>
                <a:spcPts val="0"/>
              </a:spcAft>
            </a:pPr>
            <a:r>
              <a:rPr sz="1100" b="0" i="1">
                <a:solidFill>
                  <a:srgbClr val="0C4E64"/>
                </a:solidFill>
                <a:latin typeface="Calibri"/>
              </a:rPr>
              <a:t>Axelsson (2000) shows that with rare attacks and a large volume of benign traffic, even a low false positive rate yields mostly false alerts.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False Positives, Alert Fatigue and Developer Trust</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A · INTRODUCTION</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04</a:t>
            </a:r>
          </a:p>
        </p:txBody>
      </p:sp>
      <p:sp>
        <p:nvSpPr>
          <p:cNvPr id="8" name="Rectangle 7"/>
          <p:cNvSpPr/>
          <p:nvPr/>
        </p:nvSpPr>
        <p:spPr>
          <a:xfrm>
            <a:off x="841248" y="2212848"/>
            <a:ext cx="5120640" cy="182880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41248" y="2212848"/>
            <a:ext cx="45720" cy="182880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78992" y="2395728"/>
            <a:ext cx="4663440" cy="1554480"/>
          </a:xfrm>
          <a:prstGeom prst="rect">
            <a:avLst/>
          </a:prstGeom>
          <a:noFill/>
        </p:spPr>
        <p:txBody>
          <a:bodyPr wrap="square" anchor="t" lIns="0" rIns="0" tIns="0" bIns="0">
            <a:spAutoFit/>
          </a:bodyPr>
          <a:lstStyle/>
          <a:p>
            <a:pPr algn="l">
              <a:lnSpc>
                <a:spcPct val="115000"/>
              </a:lnSpc>
              <a:spcBef>
                <a:spcPts val="0"/>
              </a:spcBef>
              <a:spcAft>
                <a:spcPts val="600"/>
              </a:spcAft>
            </a:pPr>
            <a:r>
              <a:rPr sz="950" b="1" i="0">
                <a:solidFill>
                  <a:srgbClr val="C75324"/>
                </a:solidFill>
                <a:latin typeface="Century Gothic"/>
              </a:rPr>
              <a:t>WHAT IS A FALSE POSITIVE?</a:t>
            </a:r>
          </a:p>
          <a:p>
            <a:pPr algn="l">
              <a:lnSpc>
                <a:spcPct val="115000"/>
              </a:lnSpc>
              <a:spcBef>
                <a:spcPts val="0"/>
              </a:spcBef>
              <a:spcAft>
                <a:spcPts val="600"/>
              </a:spcAft>
            </a:pPr>
            <a:r>
              <a:rPr sz="1250" b="1" i="0">
                <a:solidFill>
                  <a:srgbClr val="0C4E64"/>
                </a:solidFill>
                <a:latin typeface="Calibri"/>
              </a:rPr>
              <a:t>Legitimate behaviour incorrectly classified as malicious activity.</a:t>
            </a:r>
          </a:p>
          <a:p>
            <a:pPr algn="l">
              <a:lnSpc>
                <a:spcPct val="114000"/>
              </a:lnSpc>
              <a:spcBef>
                <a:spcPts val="0"/>
              </a:spcBef>
              <a:spcAft>
                <a:spcPts val="0"/>
              </a:spcAft>
            </a:pPr>
            <a:r>
              <a:rPr sz="1100" b="0" i="0">
                <a:solidFill>
                  <a:srgbClr val="333433"/>
                </a:solidFill>
                <a:latin typeface="Calibri"/>
              </a:rPr>
              <a:t>Every false positive must still be investigated, adding workload without adding security.</a:t>
            </a:r>
          </a:p>
        </p:txBody>
      </p:sp>
      <p:sp>
        <p:nvSpPr>
          <p:cNvPr id="11" name="Rectangle 10"/>
          <p:cNvSpPr/>
          <p:nvPr/>
        </p:nvSpPr>
        <p:spPr>
          <a:xfrm>
            <a:off x="6227064" y="2212848"/>
            <a:ext cx="5120640" cy="1828800"/>
          </a:xfrm>
          <a:prstGeom prst="rect">
            <a:avLst/>
          </a:prstGeom>
          <a:solidFill>
            <a:srgbClr val="F2E5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27064" y="2212848"/>
            <a:ext cx="45720" cy="182880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64808" y="2395728"/>
            <a:ext cx="4663440" cy="1554480"/>
          </a:xfrm>
          <a:prstGeom prst="rect">
            <a:avLst/>
          </a:prstGeom>
          <a:noFill/>
        </p:spPr>
        <p:txBody>
          <a:bodyPr wrap="square" anchor="t" lIns="0" rIns="0" tIns="0" bIns="0">
            <a:spAutoFit/>
          </a:bodyPr>
          <a:lstStyle/>
          <a:p>
            <a:pPr algn="l">
              <a:lnSpc>
                <a:spcPct val="115000"/>
              </a:lnSpc>
              <a:spcBef>
                <a:spcPts val="0"/>
              </a:spcBef>
              <a:spcAft>
                <a:spcPts val="600"/>
              </a:spcAft>
            </a:pPr>
            <a:r>
              <a:rPr sz="950" b="1" i="0">
                <a:solidFill>
                  <a:srgbClr val="0C4E64"/>
                </a:solidFill>
                <a:latin typeface="Century Gothic"/>
              </a:rPr>
              <a:t>WHY IT MATTERS</a:t>
            </a:r>
          </a:p>
          <a:p>
            <a:pPr algn="l">
              <a:lnSpc>
                <a:spcPct val="115000"/>
              </a:lnSpc>
              <a:spcBef>
                <a:spcPts val="0"/>
              </a:spcBef>
              <a:spcAft>
                <a:spcPts val="600"/>
              </a:spcAft>
            </a:pPr>
            <a:r>
              <a:rPr sz="1250" b="1" i="0">
                <a:solidFill>
                  <a:srgbClr val="0C4E64"/>
                </a:solidFill>
                <a:latin typeface="Calibri"/>
              </a:rPr>
              <a:t>Alert fatigue: users overwhelmed by frequent alerts gradually lose confidence.</a:t>
            </a:r>
          </a:p>
          <a:p>
            <a:pPr algn="l">
              <a:lnSpc>
                <a:spcPct val="114000"/>
              </a:lnSpc>
              <a:spcBef>
                <a:spcPts val="0"/>
              </a:spcBef>
              <a:spcAft>
                <a:spcPts val="0"/>
              </a:spcAft>
            </a:pPr>
            <a:r>
              <a:rPr sz="1100" b="0" i="0">
                <a:solidFill>
                  <a:srgbClr val="333433"/>
                </a:solidFill>
                <a:latin typeface="Calibri"/>
              </a:rPr>
              <a:t>Alahmadi et al. (2022) report SOC analysts dismissing whole alert classes they judge unreliable.</a:t>
            </a:r>
          </a:p>
        </p:txBody>
      </p:sp>
      <p:sp>
        <p:nvSpPr>
          <p:cNvPr id="14" name="Pentagon 13"/>
          <p:cNvSpPr/>
          <p:nvPr/>
        </p:nvSpPr>
        <p:spPr>
          <a:xfrm>
            <a:off x="841248" y="4279392"/>
            <a:ext cx="2064715" cy="749808"/>
          </a:xfrm>
          <a:prstGeom prst="homePlate">
            <a:avLst>
              <a:gd name="adj" fmla="val 20000"/>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100" b="1" i="0">
                <a:solidFill>
                  <a:srgbClr val="FFFFFF"/>
                </a:solidFill>
                <a:latin typeface="Century Gothic"/>
              </a:rPr>
              <a:t>High false</a:t>
            </a:r>
            <a:br/>
            <a:r>
              <a:rPr sz="1100" b="1" i="0">
                <a:solidFill>
                  <a:srgbClr val="FFFFFF"/>
                </a:solidFill>
                <a:latin typeface="Century Gothic"/>
              </a:rPr>
              <a:t>positive rate</a:t>
            </a:r>
          </a:p>
        </p:txBody>
      </p:sp>
      <p:sp>
        <p:nvSpPr>
          <p:cNvPr id="15" name="Pentagon 14"/>
          <p:cNvSpPr/>
          <p:nvPr/>
        </p:nvSpPr>
        <p:spPr>
          <a:xfrm>
            <a:off x="2951683" y="4279392"/>
            <a:ext cx="2064715" cy="749808"/>
          </a:xfrm>
          <a:prstGeom prst="homePlate">
            <a:avLst>
              <a:gd name="adj" fmla="val 20000"/>
            </a:avLst>
          </a:prstGeom>
          <a:solidFill>
            <a:srgbClr val="083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100" b="1" i="0">
                <a:solidFill>
                  <a:srgbClr val="FFFFFF"/>
                </a:solidFill>
                <a:latin typeface="Century Gothic"/>
              </a:rPr>
              <a:t>Alert</a:t>
            </a:r>
            <a:br/>
            <a:r>
              <a:rPr sz="1100" b="1" i="0">
                <a:solidFill>
                  <a:srgbClr val="FFFFFF"/>
                </a:solidFill>
                <a:latin typeface="Century Gothic"/>
              </a:rPr>
              <a:t>fatigue</a:t>
            </a:r>
          </a:p>
        </p:txBody>
      </p:sp>
      <p:sp>
        <p:nvSpPr>
          <p:cNvPr id="16" name="Pentagon 15"/>
          <p:cNvSpPr/>
          <p:nvPr/>
        </p:nvSpPr>
        <p:spPr>
          <a:xfrm>
            <a:off x="5062118" y="4279392"/>
            <a:ext cx="2064715" cy="749808"/>
          </a:xfrm>
          <a:prstGeom prst="homePlate">
            <a:avLst>
              <a:gd name="adj" fmla="val 20000"/>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100" b="1" i="0">
                <a:solidFill>
                  <a:srgbClr val="FFFFFF"/>
                </a:solidFill>
                <a:latin typeface="Century Gothic"/>
              </a:rPr>
              <a:t>Reduced</a:t>
            </a:r>
            <a:br/>
            <a:r>
              <a:rPr sz="1100" b="1" i="0">
                <a:solidFill>
                  <a:srgbClr val="FFFFFF"/>
                </a:solidFill>
                <a:latin typeface="Century Gothic"/>
              </a:rPr>
              <a:t>trust</a:t>
            </a:r>
          </a:p>
        </p:txBody>
      </p:sp>
      <p:sp>
        <p:nvSpPr>
          <p:cNvPr id="17" name="Pentagon 16"/>
          <p:cNvSpPr/>
          <p:nvPr/>
        </p:nvSpPr>
        <p:spPr>
          <a:xfrm>
            <a:off x="7172553" y="4279392"/>
            <a:ext cx="2064715" cy="749808"/>
          </a:xfrm>
          <a:prstGeom prst="homePlate">
            <a:avLst>
              <a:gd name="adj" fmla="val 20000"/>
            </a:avLst>
          </a:prstGeom>
          <a:solidFill>
            <a:srgbClr val="083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100" b="1" i="0">
                <a:solidFill>
                  <a:srgbClr val="FFFFFF"/>
                </a:solidFill>
                <a:latin typeface="Century Gothic"/>
              </a:rPr>
              <a:t>Alerts ignored</a:t>
            </a:r>
          </a:p>
        </p:txBody>
      </p:sp>
      <p:sp>
        <p:nvSpPr>
          <p:cNvPr id="18" name="Rectangle 17"/>
          <p:cNvSpPr/>
          <p:nvPr/>
        </p:nvSpPr>
        <p:spPr>
          <a:xfrm>
            <a:off x="9282988" y="4279392"/>
            <a:ext cx="2064715" cy="74980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100" b="1" i="0">
                <a:solidFill>
                  <a:srgbClr val="FFFFFF"/>
                </a:solidFill>
                <a:latin typeface="Century Gothic"/>
              </a:rPr>
              <a:t>Genuine threats</a:t>
            </a:r>
            <a:br/>
            <a:r>
              <a:rPr sz="1100" b="1" i="0">
                <a:solidFill>
                  <a:srgbClr val="FFFFFF"/>
                </a:solidFill>
                <a:latin typeface="Century Gothic"/>
              </a:rPr>
              <a:t>missed</a:t>
            </a:r>
          </a:p>
        </p:txBody>
      </p:sp>
      <p:sp>
        <p:nvSpPr>
          <p:cNvPr id="19" name="Rectangle 18"/>
          <p:cNvSpPr/>
          <p:nvPr/>
        </p:nvSpPr>
        <p:spPr>
          <a:xfrm>
            <a:off x="841248" y="5230368"/>
            <a:ext cx="10506456" cy="822960"/>
          </a:xfrm>
          <a:prstGeom prst="rect">
            <a:avLst/>
          </a:prstGeom>
          <a:solidFill>
            <a:srgbClr val="F2E5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41248" y="5230368"/>
            <a:ext cx="45720" cy="82296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60704" y="5376672"/>
            <a:ext cx="10085832" cy="237744"/>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C75324"/>
                </a:solidFill>
                <a:latin typeface="Century Gothic"/>
              </a:rPr>
              <a:t>TRUST IN AUTOMATION</a:t>
            </a:r>
          </a:p>
        </p:txBody>
      </p:sp>
      <p:sp>
        <p:nvSpPr>
          <p:cNvPr id="22" name="TextBox 21"/>
          <p:cNvSpPr txBox="1"/>
          <p:nvPr/>
        </p:nvSpPr>
        <p:spPr>
          <a:xfrm>
            <a:off x="1060704" y="5632704"/>
            <a:ext cx="10085832" cy="256032"/>
          </a:xfrm>
          <a:prstGeom prst="rect">
            <a:avLst/>
          </a:prstGeom>
          <a:noFill/>
        </p:spPr>
        <p:txBody>
          <a:bodyPr wrap="square" anchor="t" lIns="0" rIns="0" tIns="0" bIns="0">
            <a:spAutoFit/>
          </a:bodyPr>
          <a:lstStyle/>
          <a:p>
            <a:pPr algn="l">
              <a:lnSpc>
                <a:spcPct val="116000"/>
              </a:lnSpc>
              <a:spcBef>
                <a:spcPts val="0"/>
              </a:spcBef>
              <a:spcAft>
                <a:spcPts val="0"/>
              </a:spcAft>
            </a:pPr>
            <a:r>
              <a:rPr sz="1100" b="0" i="1">
                <a:solidFill>
                  <a:srgbClr val="0C4E64"/>
                </a:solidFill>
                <a:latin typeface="Calibri"/>
              </a:rPr>
              <a:t>Lee and See (2004) treat trust as calibrated reliance: the goal is trust matched to actual reliability, not maximum trust.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Problem Statement and Scope</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B · PROBLEM &amp; AIM</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05</a:t>
            </a:r>
          </a:p>
        </p:txBody>
      </p:sp>
      <p:sp>
        <p:nvSpPr>
          <p:cNvPr id="8" name="Rectangle 7"/>
          <p:cNvSpPr/>
          <p:nvPr/>
        </p:nvSpPr>
        <p:spPr>
          <a:xfrm>
            <a:off x="841248" y="2212848"/>
            <a:ext cx="10506456" cy="1133856"/>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41248" y="2212848"/>
            <a:ext cx="54864" cy="1133856"/>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152144" y="2395728"/>
            <a:ext cx="9784080" cy="822960"/>
          </a:xfrm>
          <a:prstGeom prst="rect">
            <a:avLst/>
          </a:prstGeom>
          <a:noFill/>
        </p:spPr>
        <p:txBody>
          <a:bodyPr wrap="square" anchor="t" lIns="0" rIns="0" tIns="0" bIns="0">
            <a:spAutoFit/>
          </a:bodyPr>
          <a:lstStyle/>
          <a:p>
            <a:pPr algn="l">
              <a:lnSpc>
                <a:spcPct val="120000"/>
              </a:lnSpc>
              <a:spcBef>
                <a:spcPts val="0"/>
              </a:spcBef>
              <a:spcAft>
                <a:spcPts val="0"/>
              </a:spcAft>
            </a:pPr>
            <a:r>
              <a:rPr sz="1500" b="1" i="0">
                <a:solidFill>
                  <a:srgbClr val="FFFFFF"/>
                </a:solidFill>
                <a:latin typeface="Century Gothic"/>
              </a:rPr>
              <a:t>Limited research has investigated how software developers perceive the effect of false positive alerts on their trust in ML-based IDS output.</a:t>
            </a:r>
          </a:p>
        </p:txBody>
      </p:sp>
      <p:sp>
        <p:nvSpPr>
          <p:cNvPr id="11" name="Rectangle 10"/>
          <p:cNvSpPr/>
          <p:nvPr/>
        </p:nvSpPr>
        <p:spPr>
          <a:xfrm>
            <a:off x="841248" y="3598164"/>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78992" y="3529584"/>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Most IDS studies compare algorithms and optimise detection performance, overlooking human factors.</a:t>
            </a:r>
          </a:p>
        </p:txBody>
      </p:sp>
      <p:sp>
        <p:nvSpPr>
          <p:cNvPr id="13" name="Rectangle 12"/>
          <p:cNvSpPr/>
          <p:nvPr/>
        </p:nvSpPr>
        <p:spPr>
          <a:xfrm>
            <a:off x="841248" y="401878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78992" y="395020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Even highly accurate systems may fail to deliver value if users do not trust the information they generate.</a:t>
            </a:r>
          </a:p>
        </p:txBody>
      </p:sp>
      <p:sp>
        <p:nvSpPr>
          <p:cNvPr id="15" name="Rectangle 14"/>
          <p:cNvSpPr/>
          <p:nvPr/>
        </p:nvSpPr>
        <p:spPr>
          <a:xfrm>
            <a:off x="841248" y="4439412"/>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78992" y="4370832"/>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This thesis does not attempt to build an IDS that minimises false positives.</a:t>
            </a:r>
          </a:p>
        </p:txBody>
      </p:sp>
      <p:sp>
        <p:nvSpPr>
          <p:cNvPr id="17" name="Rectangle 16"/>
          <p:cNvSpPr/>
          <p:nvPr/>
        </p:nvSpPr>
        <p:spPr>
          <a:xfrm>
            <a:off x="841248" y="4860036"/>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78992" y="4791456"/>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It characterises how developers judge alerts produced at different levels of reliability.</a:t>
            </a:r>
          </a:p>
        </p:txBody>
      </p:sp>
      <p:sp>
        <p:nvSpPr>
          <p:cNvPr id="19" name="Rectangle 18"/>
          <p:cNvSpPr/>
          <p:nvPr/>
        </p:nvSpPr>
        <p:spPr>
          <a:xfrm>
            <a:off x="841248" y="5230368"/>
            <a:ext cx="2468880" cy="82296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41248" y="5230368"/>
            <a:ext cx="2468880"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32688" y="5358384"/>
            <a:ext cx="913485" cy="603504"/>
          </a:xfrm>
          <a:prstGeom prst="rect">
            <a:avLst/>
          </a:prstGeom>
          <a:noFill/>
        </p:spPr>
        <p:txBody>
          <a:bodyPr wrap="square" anchor="ctr" lIns="0" rIns="0" tIns="0" bIns="0">
            <a:spAutoFit/>
          </a:bodyPr>
          <a:lstStyle/>
          <a:p>
            <a:pPr algn="ctr">
              <a:lnSpc>
                <a:spcPct val="100000"/>
              </a:lnSpc>
              <a:spcBef>
                <a:spcPts val="0"/>
              </a:spcBef>
              <a:spcAft>
                <a:spcPts val="0"/>
              </a:spcAft>
            </a:pPr>
            <a:r>
              <a:rPr sz="2000" b="1" i="0">
                <a:solidFill>
                  <a:srgbClr val="FFFFFF"/>
                </a:solidFill>
                <a:latin typeface="Century Gothic"/>
              </a:rPr>
              <a:t>2</a:t>
            </a:r>
          </a:p>
        </p:txBody>
      </p:sp>
      <p:sp>
        <p:nvSpPr>
          <p:cNvPr id="22" name="TextBox 21"/>
          <p:cNvSpPr txBox="1"/>
          <p:nvPr/>
        </p:nvSpPr>
        <p:spPr>
          <a:xfrm>
            <a:off x="1846173" y="5358384"/>
            <a:ext cx="1335939" cy="603504"/>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STUDY PHASES</a:t>
            </a:r>
          </a:p>
          <a:p>
            <a:pPr algn="l">
              <a:lnSpc>
                <a:spcPct val="105000"/>
              </a:lnSpc>
              <a:spcBef>
                <a:spcPts val="0"/>
              </a:spcBef>
              <a:spcAft>
                <a:spcPts val="0"/>
              </a:spcAft>
            </a:pPr>
            <a:r>
              <a:rPr sz="850" b="0" i="0">
                <a:solidFill>
                  <a:srgbClr val="94B0C9"/>
                </a:solidFill>
                <a:latin typeface="Calibri"/>
              </a:rPr>
              <a:t>Technical + developer-centred</a:t>
            </a:r>
          </a:p>
        </p:txBody>
      </p:sp>
      <p:sp>
        <p:nvSpPr>
          <p:cNvPr id="23" name="Rectangle 22"/>
          <p:cNvSpPr/>
          <p:nvPr/>
        </p:nvSpPr>
        <p:spPr>
          <a:xfrm>
            <a:off x="3456432" y="5230368"/>
            <a:ext cx="2468880" cy="82296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456432" y="5230368"/>
            <a:ext cx="2468880"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547872" y="5358384"/>
            <a:ext cx="913485" cy="603504"/>
          </a:xfrm>
          <a:prstGeom prst="rect">
            <a:avLst/>
          </a:prstGeom>
          <a:noFill/>
        </p:spPr>
        <p:txBody>
          <a:bodyPr wrap="square" anchor="ctr" lIns="0" rIns="0" tIns="0" bIns="0">
            <a:spAutoFit/>
          </a:bodyPr>
          <a:lstStyle/>
          <a:p>
            <a:pPr algn="ctr">
              <a:lnSpc>
                <a:spcPct val="100000"/>
              </a:lnSpc>
              <a:spcBef>
                <a:spcPts val="0"/>
              </a:spcBef>
              <a:spcAft>
                <a:spcPts val="0"/>
              </a:spcAft>
            </a:pPr>
            <a:r>
              <a:rPr sz="2000" b="1" i="0">
                <a:solidFill>
                  <a:srgbClr val="FFFFFF"/>
                </a:solidFill>
                <a:latin typeface="Century Gothic"/>
              </a:rPr>
              <a:t>3</a:t>
            </a:r>
          </a:p>
        </p:txBody>
      </p:sp>
      <p:sp>
        <p:nvSpPr>
          <p:cNvPr id="26" name="TextBox 25"/>
          <p:cNvSpPr txBox="1"/>
          <p:nvPr/>
        </p:nvSpPr>
        <p:spPr>
          <a:xfrm>
            <a:off x="4461357" y="5358384"/>
            <a:ext cx="1335939" cy="603504"/>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RESEARCH QUESTIONS</a:t>
            </a:r>
          </a:p>
          <a:p>
            <a:pPr algn="l">
              <a:lnSpc>
                <a:spcPct val="105000"/>
              </a:lnSpc>
              <a:spcBef>
                <a:spcPts val="0"/>
              </a:spcBef>
              <a:spcAft>
                <a:spcPts val="0"/>
              </a:spcAft>
            </a:pPr>
            <a:r>
              <a:rPr sz="850" b="0" i="0">
                <a:solidFill>
                  <a:srgbClr val="94B0C9"/>
                </a:solidFill>
                <a:latin typeface="Calibri"/>
              </a:rPr>
              <a:t>RQ1 — RQ3</a:t>
            </a:r>
          </a:p>
        </p:txBody>
      </p:sp>
      <p:sp>
        <p:nvSpPr>
          <p:cNvPr id="27" name="Rectangle 26"/>
          <p:cNvSpPr/>
          <p:nvPr/>
        </p:nvSpPr>
        <p:spPr>
          <a:xfrm>
            <a:off x="6071616" y="5230368"/>
            <a:ext cx="2468880" cy="82296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071616" y="5230368"/>
            <a:ext cx="2468880"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163056" y="5358384"/>
            <a:ext cx="913485" cy="603504"/>
          </a:xfrm>
          <a:prstGeom prst="rect">
            <a:avLst/>
          </a:prstGeom>
          <a:noFill/>
        </p:spPr>
        <p:txBody>
          <a:bodyPr wrap="square" anchor="ctr" lIns="0" rIns="0" tIns="0" bIns="0">
            <a:spAutoFit/>
          </a:bodyPr>
          <a:lstStyle/>
          <a:p>
            <a:pPr algn="ctr">
              <a:lnSpc>
                <a:spcPct val="100000"/>
              </a:lnSpc>
              <a:spcBef>
                <a:spcPts val="0"/>
              </a:spcBef>
              <a:spcAft>
                <a:spcPts val="0"/>
              </a:spcAft>
            </a:pPr>
            <a:r>
              <a:rPr sz="2000" b="1" i="0">
                <a:solidFill>
                  <a:srgbClr val="FFFFFF"/>
                </a:solidFill>
                <a:latin typeface="Century Gothic"/>
              </a:rPr>
              <a:t>15</a:t>
            </a:r>
          </a:p>
        </p:txBody>
      </p:sp>
      <p:sp>
        <p:nvSpPr>
          <p:cNvPr id="30" name="TextBox 29"/>
          <p:cNvSpPr txBox="1"/>
          <p:nvPr/>
        </p:nvSpPr>
        <p:spPr>
          <a:xfrm>
            <a:off x="7076541" y="5358384"/>
            <a:ext cx="1335939" cy="603504"/>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DEVELOPERS</a:t>
            </a:r>
          </a:p>
          <a:p>
            <a:pPr algn="l">
              <a:lnSpc>
                <a:spcPct val="105000"/>
              </a:lnSpc>
              <a:spcBef>
                <a:spcPts val="0"/>
              </a:spcBef>
              <a:spcAft>
                <a:spcPts val="0"/>
              </a:spcAft>
            </a:pPr>
            <a:r>
              <a:rPr sz="850" b="0" i="0">
                <a:solidFill>
                  <a:srgbClr val="94B0C9"/>
                </a:solidFill>
                <a:latin typeface="Calibri"/>
              </a:rPr>
              <a:t>Survey participants</a:t>
            </a:r>
          </a:p>
        </p:txBody>
      </p:sp>
      <p:sp>
        <p:nvSpPr>
          <p:cNvPr id="31" name="Rectangle 30"/>
          <p:cNvSpPr/>
          <p:nvPr/>
        </p:nvSpPr>
        <p:spPr>
          <a:xfrm>
            <a:off x="8686800" y="5230368"/>
            <a:ext cx="2660904" cy="82296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8686800" y="5230368"/>
            <a:ext cx="2660904"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778240" y="5358384"/>
            <a:ext cx="984534" cy="603504"/>
          </a:xfrm>
          <a:prstGeom prst="rect">
            <a:avLst/>
          </a:prstGeom>
          <a:noFill/>
        </p:spPr>
        <p:txBody>
          <a:bodyPr wrap="square" anchor="ctr" lIns="0" rIns="0" tIns="0" bIns="0">
            <a:spAutoFit/>
          </a:bodyPr>
          <a:lstStyle/>
          <a:p>
            <a:pPr algn="ctr">
              <a:lnSpc>
                <a:spcPct val="100000"/>
              </a:lnSpc>
              <a:spcBef>
                <a:spcPts val="0"/>
              </a:spcBef>
              <a:spcAft>
                <a:spcPts val="0"/>
              </a:spcAft>
            </a:pPr>
            <a:r>
              <a:rPr sz="2000" b="1" i="0">
                <a:solidFill>
                  <a:srgbClr val="FFFFFF"/>
                </a:solidFill>
                <a:latin typeface="Century Gothic"/>
              </a:rPr>
              <a:t>3</a:t>
            </a:r>
          </a:p>
        </p:txBody>
      </p:sp>
      <p:sp>
        <p:nvSpPr>
          <p:cNvPr id="34" name="TextBox 33"/>
          <p:cNvSpPr txBox="1"/>
          <p:nvPr/>
        </p:nvSpPr>
        <p:spPr>
          <a:xfrm>
            <a:off x="9762774" y="5358384"/>
            <a:ext cx="1456914" cy="603504"/>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FP SCENARIOS</a:t>
            </a:r>
          </a:p>
          <a:p>
            <a:pPr algn="l">
              <a:lnSpc>
                <a:spcPct val="105000"/>
              </a:lnSpc>
              <a:spcBef>
                <a:spcPts val="0"/>
              </a:spcBef>
              <a:spcAft>
                <a:spcPts val="0"/>
              </a:spcAft>
            </a:pPr>
            <a:r>
              <a:rPr sz="850" b="0" i="0">
                <a:solidFill>
                  <a:srgbClr val="94B0C9"/>
                </a:solidFill>
                <a:latin typeface="Calibri"/>
              </a:rPr>
              <a:t>FPR 14.6% – 38.3%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Aim and Objectives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B · PROBLEM &amp; AIM</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06</a:t>
            </a:r>
          </a:p>
        </p:txBody>
      </p:sp>
      <p:sp>
        <p:nvSpPr>
          <p:cNvPr id="8" name="Rectangle 7"/>
          <p:cNvSpPr/>
          <p:nvPr/>
        </p:nvSpPr>
        <p:spPr>
          <a:xfrm>
            <a:off x="841248" y="2212848"/>
            <a:ext cx="10506456" cy="96926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41248" y="2212848"/>
            <a:ext cx="45720" cy="96926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60704" y="2359152"/>
            <a:ext cx="10085832" cy="237744"/>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AIM</a:t>
            </a:r>
          </a:p>
        </p:txBody>
      </p:sp>
      <p:sp>
        <p:nvSpPr>
          <p:cNvPr id="11" name="TextBox 10"/>
          <p:cNvSpPr txBox="1"/>
          <p:nvPr/>
        </p:nvSpPr>
        <p:spPr>
          <a:xfrm>
            <a:off x="1060704" y="2615184"/>
            <a:ext cx="10085832" cy="402336"/>
          </a:xfrm>
          <a:prstGeom prst="rect">
            <a:avLst/>
          </a:prstGeom>
          <a:noFill/>
        </p:spPr>
        <p:txBody>
          <a:bodyPr wrap="square" anchor="t" lIns="0" rIns="0" tIns="0" bIns="0">
            <a:spAutoFit/>
          </a:bodyPr>
          <a:lstStyle/>
          <a:p>
            <a:pPr algn="l">
              <a:lnSpc>
                <a:spcPct val="116000"/>
              </a:lnSpc>
              <a:spcBef>
                <a:spcPts val="0"/>
              </a:spcBef>
              <a:spcAft>
                <a:spcPts val="0"/>
              </a:spcAft>
            </a:pPr>
            <a:r>
              <a:rPr sz="1100" b="0" i="1">
                <a:solidFill>
                  <a:srgbClr val="0C4E64"/>
                </a:solidFill>
                <a:latin typeface="Calibri"/>
              </a:rPr>
              <a:t>To evaluate how false positive rates in machine learning-based intrusion detection systems relate to software developers' trust, perceived usefulness and understanding of security alerts in post-deployment software maintenance.</a:t>
            </a:r>
          </a:p>
        </p:txBody>
      </p:sp>
      <p:sp>
        <p:nvSpPr>
          <p:cNvPr id="12" name="TextBox 11"/>
          <p:cNvSpPr txBox="1"/>
          <p:nvPr/>
        </p:nvSpPr>
        <p:spPr>
          <a:xfrm>
            <a:off x="841248" y="3346704"/>
            <a:ext cx="10506456" cy="274320"/>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C75324"/>
                </a:solidFill>
                <a:latin typeface="Century Gothic"/>
              </a:rPr>
              <a:t>SIX OBJECTIVES</a:t>
            </a:r>
          </a:p>
        </p:txBody>
      </p:sp>
      <p:sp>
        <p:nvSpPr>
          <p:cNvPr id="13" name="Rectangle 12"/>
          <p:cNvSpPr/>
          <p:nvPr/>
        </p:nvSpPr>
        <p:spPr>
          <a:xfrm>
            <a:off x="841248" y="3657600"/>
            <a:ext cx="5001768" cy="713232"/>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41248" y="3657600"/>
            <a:ext cx="45720" cy="713232"/>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60704" y="3749040"/>
            <a:ext cx="4572000"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O1   Develop an ML-based IDS prototype</a:t>
            </a:r>
          </a:p>
          <a:p>
            <a:pPr algn="l">
              <a:lnSpc>
                <a:spcPct val="105000"/>
              </a:lnSpc>
              <a:spcBef>
                <a:spcPts val="0"/>
              </a:spcBef>
              <a:spcAft>
                <a:spcPts val="0"/>
              </a:spcAft>
            </a:pPr>
            <a:r>
              <a:rPr sz="950" b="0" i="0">
                <a:solidFill>
                  <a:srgbClr val="6E767B"/>
                </a:solidFill>
                <a:latin typeface="Calibri"/>
              </a:rPr>
              <a:t>using a publicly available dataset.</a:t>
            </a:r>
          </a:p>
        </p:txBody>
      </p:sp>
      <p:sp>
        <p:nvSpPr>
          <p:cNvPr id="16" name="Rectangle 15"/>
          <p:cNvSpPr/>
          <p:nvPr/>
        </p:nvSpPr>
        <p:spPr>
          <a:xfrm>
            <a:off x="6272784" y="3657600"/>
            <a:ext cx="5001768" cy="713232"/>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72784" y="3657600"/>
            <a:ext cx="45720" cy="71323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92240" y="3749040"/>
            <a:ext cx="4572000"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O2   Evaluate technical performance</a:t>
            </a:r>
          </a:p>
          <a:p>
            <a:pPr algn="l">
              <a:lnSpc>
                <a:spcPct val="105000"/>
              </a:lnSpc>
              <a:spcBef>
                <a:spcPts val="0"/>
              </a:spcBef>
              <a:spcAft>
                <a:spcPts val="0"/>
              </a:spcAft>
            </a:pPr>
            <a:r>
              <a:rPr sz="950" b="0" i="0">
                <a:solidFill>
                  <a:srgbClr val="6E767B"/>
                </a:solidFill>
                <a:latin typeface="Calibri"/>
              </a:rPr>
              <a:t>accuracy, precision, recall, false positive rate.</a:t>
            </a:r>
          </a:p>
        </p:txBody>
      </p:sp>
      <p:sp>
        <p:nvSpPr>
          <p:cNvPr id="19" name="Rectangle 18"/>
          <p:cNvSpPr/>
          <p:nvPr/>
        </p:nvSpPr>
        <p:spPr>
          <a:xfrm>
            <a:off x="841248" y="4480560"/>
            <a:ext cx="5001768" cy="713232"/>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41248" y="4480560"/>
            <a:ext cx="45720" cy="713232"/>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60704" y="4572000"/>
            <a:ext cx="4572000"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O3   Design a prototype interface</a:t>
            </a:r>
          </a:p>
          <a:p>
            <a:pPr algn="l">
              <a:lnSpc>
                <a:spcPct val="105000"/>
              </a:lnSpc>
              <a:spcBef>
                <a:spcPts val="0"/>
              </a:spcBef>
              <a:spcAft>
                <a:spcPts val="0"/>
              </a:spcAft>
            </a:pPr>
            <a:r>
              <a:rPr sz="950" b="0" i="0">
                <a:solidFill>
                  <a:srgbClr val="6E767B"/>
                </a:solidFill>
                <a:latin typeface="Calibri"/>
              </a:rPr>
              <a:t>for presenting IDS alerts to developers.</a:t>
            </a:r>
          </a:p>
        </p:txBody>
      </p:sp>
      <p:sp>
        <p:nvSpPr>
          <p:cNvPr id="22" name="Rectangle 21"/>
          <p:cNvSpPr/>
          <p:nvPr/>
        </p:nvSpPr>
        <p:spPr>
          <a:xfrm>
            <a:off x="6272784" y="4480560"/>
            <a:ext cx="5001768" cy="713232"/>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72784" y="4480560"/>
            <a:ext cx="45720" cy="71323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92240" y="4572000"/>
            <a:ext cx="4572000"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O4   Collect developer feedback</a:t>
            </a:r>
          </a:p>
          <a:p>
            <a:pPr algn="l">
              <a:lnSpc>
                <a:spcPct val="105000"/>
              </a:lnSpc>
              <a:spcBef>
                <a:spcPts val="0"/>
              </a:spcBef>
              <a:spcAft>
                <a:spcPts val="0"/>
              </a:spcAft>
            </a:pPr>
            <a:r>
              <a:rPr sz="950" b="0" i="0">
                <a:solidFill>
                  <a:srgbClr val="6E767B"/>
                </a:solidFill>
                <a:latin typeface="Calibri"/>
              </a:rPr>
              <a:t>on clarity, usefulness and trustworthiness.</a:t>
            </a:r>
          </a:p>
        </p:txBody>
      </p:sp>
      <p:sp>
        <p:nvSpPr>
          <p:cNvPr id="25" name="Rectangle 24"/>
          <p:cNvSpPr/>
          <p:nvPr/>
        </p:nvSpPr>
        <p:spPr>
          <a:xfrm>
            <a:off x="841248" y="5303520"/>
            <a:ext cx="5001768" cy="713232"/>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1248" y="5303520"/>
            <a:ext cx="45720" cy="713232"/>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60704" y="5394960"/>
            <a:ext cx="4572000"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O5   Generate distinct FP conditions</a:t>
            </a:r>
          </a:p>
          <a:p>
            <a:pPr algn="l">
              <a:lnSpc>
                <a:spcPct val="105000"/>
              </a:lnSpc>
              <a:spcBef>
                <a:spcPts val="0"/>
              </a:spcBef>
              <a:spcAft>
                <a:spcPts val="0"/>
              </a:spcAft>
            </a:pPr>
            <a:r>
              <a:rPr sz="950" b="0" i="0">
                <a:solidFill>
                  <a:srgbClr val="6E767B"/>
                </a:solidFill>
                <a:latin typeface="Calibri"/>
              </a:rPr>
              <a:t>and characterise them quantitatively.</a:t>
            </a:r>
          </a:p>
        </p:txBody>
      </p:sp>
      <p:sp>
        <p:nvSpPr>
          <p:cNvPr id="28" name="Rectangle 27"/>
          <p:cNvSpPr/>
          <p:nvPr/>
        </p:nvSpPr>
        <p:spPr>
          <a:xfrm>
            <a:off x="6272784" y="5303520"/>
            <a:ext cx="5001768" cy="713232"/>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272784" y="5303520"/>
            <a:ext cx="45720" cy="71323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92240" y="5394960"/>
            <a:ext cx="4572000"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O6   Analyse the relationship</a:t>
            </a:r>
          </a:p>
          <a:p>
            <a:pPr algn="l">
              <a:lnSpc>
                <a:spcPct val="105000"/>
              </a:lnSpc>
              <a:spcBef>
                <a:spcPts val="0"/>
              </a:spcBef>
              <a:spcAft>
                <a:spcPts val="0"/>
              </a:spcAft>
            </a:pPr>
            <a:r>
              <a:rPr sz="950" b="0" i="0">
                <a:solidFill>
                  <a:srgbClr val="6E767B"/>
                </a:solidFill>
                <a:latin typeface="Calibri"/>
              </a:rPr>
              <a:t>between performance metrics and developer perception.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Research Questions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B · PROBLEM &amp; AIM</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RQ3 is descriptive: ratings were not collected separately per scenario</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07</a:t>
            </a:r>
          </a:p>
        </p:txBody>
      </p:sp>
      <p:sp>
        <p:nvSpPr>
          <p:cNvPr id="9" name="Rectangle 8"/>
          <p:cNvSpPr/>
          <p:nvPr/>
        </p:nvSpPr>
        <p:spPr>
          <a:xfrm>
            <a:off x="841248" y="2505456"/>
            <a:ext cx="10506456" cy="100584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41248" y="2505456"/>
            <a:ext cx="969264" cy="10058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spcBef>
                <a:spcPts val="0"/>
              </a:spcBef>
              <a:spcAft>
                <a:spcPts val="0"/>
              </a:spcAft>
            </a:pPr>
            <a:r>
              <a:rPr sz="1700" b="1" i="0">
                <a:solidFill>
                  <a:srgbClr val="FFFFFF"/>
                </a:solidFill>
                <a:latin typeface="Century Gothic"/>
              </a:rPr>
              <a:t>RQ1</a:t>
            </a:r>
          </a:p>
        </p:txBody>
      </p:sp>
      <p:sp>
        <p:nvSpPr>
          <p:cNvPr id="11" name="TextBox 10"/>
          <p:cNvSpPr txBox="1"/>
          <p:nvPr/>
        </p:nvSpPr>
        <p:spPr>
          <a:xfrm>
            <a:off x="2048256" y="2624328"/>
            <a:ext cx="9052560" cy="804672"/>
          </a:xfrm>
          <a:prstGeom prst="rect">
            <a:avLst/>
          </a:prstGeom>
          <a:noFill/>
        </p:spPr>
        <p:txBody>
          <a:bodyPr wrap="square" anchor="t" lIns="0" rIns="0" tIns="0" bIns="0">
            <a:spAutoFit/>
          </a:bodyPr>
          <a:lstStyle/>
          <a:p>
            <a:pPr algn="l">
              <a:lnSpc>
                <a:spcPct val="115000"/>
              </a:lnSpc>
              <a:spcBef>
                <a:spcPts val="0"/>
              </a:spcBef>
              <a:spcAft>
                <a:spcPts val="300"/>
              </a:spcAft>
            </a:pPr>
            <a:r>
              <a:rPr sz="1200" b="1" i="0">
                <a:solidFill>
                  <a:srgbClr val="0C4E64"/>
                </a:solidFill>
                <a:latin typeface="Century Gothic"/>
              </a:rPr>
              <a:t>Detection performance</a:t>
            </a:r>
          </a:p>
          <a:p>
            <a:pPr algn="l">
              <a:lnSpc>
                <a:spcPct val="110000"/>
              </a:lnSpc>
              <a:spcBef>
                <a:spcPts val="0"/>
              </a:spcBef>
              <a:spcAft>
                <a:spcPts val="300"/>
              </a:spcAft>
            </a:pPr>
            <a:r>
              <a:rPr sz="1100" b="0" i="0">
                <a:solidFill>
                  <a:srgbClr val="333433"/>
                </a:solidFill>
                <a:latin typeface="Calibri"/>
              </a:rPr>
              <a:t>What is the detection performance of the proposed ML-based IDS under controlled experimental conditions?</a:t>
            </a:r>
          </a:p>
          <a:p>
            <a:pPr algn="l">
              <a:lnSpc>
                <a:spcPct val="115000"/>
              </a:lnSpc>
              <a:spcBef>
                <a:spcPts val="0"/>
              </a:spcBef>
              <a:spcAft>
                <a:spcPts val="0"/>
              </a:spcAft>
            </a:pPr>
            <a:r>
              <a:rPr sz="950" b="0" i="0">
                <a:solidFill>
                  <a:srgbClr val="6E767B"/>
                </a:solidFill>
                <a:latin typeface="Calibri"/>
              </a:rPr>
              <a:t>Phase 1 · UNSW-NB15 · classification metrics</a:t>
            </a:r>
          </a:p>
        </p:txBody>
      </p:sp>
      <p:sp>
        <p:nvSpPr>
          <p:cNvPr id="12" name="Rectangle 11"/>
          <p:cNvSpPr/>
          <p:nvPr/>
        </p:nvSpPr>
        <p:spPr>
          <a:xfrm>
            <a:off x="841248" y="3639312"/>
            <a:ext cx="10506456" cy="100584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41248" y="3639312"/>
            <a:ext cx="969264" cy="10058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spcBef>
                <a:spcPts val="0"/>
              </a:spcBef>
              <a:spcAft>
                <a:spcPts val="0"/>
              </a:spcAft>
            </a:pPr>
            <a:r>
              <a:rPr sz="1700" b="1" i="0">
                <a:solidFill>
                  <a:srgbClr val="FF7841"/>
                </a:solidFill>
                <a:latin typeface="Century Gothic"/>
              </a:rPr>
              <a:t>RQ2</a:t>
            </a:r>
          </a:p>
        </p:txBody>
      </p:sp>
      <p:sp>
        <p:nvSpPr>
          <p:cNvPr id="14" name="TextBox 13"/>
          <p:cNvSpPr txBox="1"/>
          <p:nvPr/>
        </p:nvSpPr>
        <p:spPr>
          <a:xfrm>
            <a:off x="2048256" y="3758184"/>
            <a:ext cx="9052560" cy="804672"/>
          </a:xfrm>
          <a:prstGeom prst="rect">
            <a:avLst/>
          </a:prstGeom>
          <a:noFill/>
        </p:spPr>
        <p:txBody>
          <a:bodyPr wrap="square" anchor="t" lIns="0" rIns="0" tIns="0" bIns="0">
            <a:spAutoFit/>
          </a:bodyPr>
          <a:lstStyle/>
          <a:p>
            <a:pPr algn="l">
              <a:lnSpc>
                <a:spcPct val="115000"/>
              </a:lnSpc>
              <a:spcBef>
                <a:spcPts val="0"/>
              </a:spcBef>
              <a:spcAft>
                <a:spcPts val="300"/>
              </a:spcAft>
            </a:pPr>
            <a:r>
              <a:rPr sz="1200" b="1" i="0">
                <a:solidFill>
                  <a:srgbClr val="0C4E64"/>
                </a:solidFill>
                <a:latin typeface="Century Gothic"/>
              </a:rPr>
              <a:t>Clarity and usefulness</a:t>
            </a:r>
          </a:p>
          <a:p>
            <a:pPr algn="l">
              <a:lnSpc>
                <a:spcPct val="110000"/>
              </a:lnSpc>
              <a:spcBef>
                <a:spcPts val="0"/>
              </a:spcBef>
              <a:spcAft>
                <a:spcPts val="300"/>
              </a:spcAft>
            </a:pPr>
            <a:r>
              <a:rPr sz="1100" b="0" i="0">
                <a:solidFill>
                  <a:srgbClr val="333433"/>
                </a:solidFill>
                <a:latin typeface="Calibri"/>
              </a:rPr>
              <a:t>How do software developers perceive the clarity and usefulness of IDS alerts presented through the prototype interface?</a:t>
            </a:r>
          </a:p>
          <a:p>
            <a:pPr algn="l">
              <a:lnSpc>
                <a:spcPct val="115000"/>
              </a:lnSpc>
              <a:spcBef>
                <a:spcPts val="0"/>
              </a:spcBef>
              <a:spcAft>
                <a:spcPts val="0"/>
              </a:spcAft>
            </a:pPr>
            <a:r>
              <a:rPr sz="950" b="0" i="0">
                <a:solidFill>
                  <a:srgbClr val="6E767B"/>
                </a:solidFill>
                <a:latin typeface="Calibri"/>
              </a:rPr>
              <a:t>Phase 2 · survey items Q8–Q11 and open responses</a:t>
            </a:r>
          </a:p>
        </p:txBody>
      </p:sp>
      <p:sp>
        <p:nvSpPr>
          <p:cNvPr id="15" name="Rectangle 14"/>
          <p:cNvSpPr/>
          <p:nvPr/>
        </p:nvSpPr>
        <p:spPr>
          <a:xfrm>
            <a:off x="841248" y="4773168"/>
            <a:ext cx="10506456" cy="100584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41248" y="4773168"/>
            <a:ext cx="969264" cy="10058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spcBef>
                <a:spcPts val="0"/>
              </a:spcBef>
              <a:spcAft>
                <a:spcPts val="0"/>
              </a:spcAft>
            </a:pPr>
            <a:r>
              <a:rPr sz="1700" b="1" i="0">
                <a:solidFill>
                  <a:srgbClr val="94B0C9"/>
                </a:solidFill>
                <a:latin typeface="Century Gothic"/>
              </a:rPr>
              <a:t>RQ3</a:t>
            </a:r>
          </a:p>
        </p:txBody>
      </p:sp>
      <p:sp>
        <p:nvSpPr>
          <p:cNvPr id="17" name="TextBox 16"/>
          <p:cNvSpPr txBox="1"/>
          <p:nvPr/>
        </p:nvSpPr>
        <p:spPr>
          <a:xfrm>
            <a:off x="2048256" y="4892040"/>
            <a:ext cx="9052560" cy="804672"/>
          </a:xfrm>
          <a:prstGeom prst="rect">
            <a:avLst/>
          </a:prstGeom>
          <a:noFill/>
        </p:spPr>
        <p:txBody>
          <a:bodyPr wrap="square" anchor="t" lIns="0" rIns="0" tIns="0" bIns="0">
            <a:spAutoFit/>
          </a:bodyPr>
          <a:lstStyle/>
          <a:p>
            <a:pPr algn="l">
              <a:lnSpc>
                <a:spcPct val="115000"/>
              </a:lnSpc>
              <a:spcBef>
                <a:spcPts val="0"/>
              </a:spcBef>
              <a:spcAft>
                <a:spcPts val="300"/>
              </a:spcAft>
            </a:pPr>
            <a:r>
              <a:rPr sz="1200" b="1" i="0">
                <a:solidFill>
                  <a:srgbClr val="0C4E64"/>
                </a:solidFill>
                <a:latin typeface="Century Gothic"/>
              </a:rPr>
              <a:t>Perceived effect on trust</a:t>
            </a:r>
          </a:p>
          <a:p>
            <a:pPr algn="l">
              <a:lnSpc>
                <a:spcPct val="110000"/>
              </a:lnSpc>
              <a:spcBef>
                <a:spcPts val="0"/>
              </a:spcBef>
              <a:spcAft>
                <a:spcPts val="300"/>
              </a:spcAft>
            </a:pPr>
            <a:r>
              <a:rPr sz="1100" b="0" i="0">
                <a:solidFill>
                  <a:srgbClr val="333433"/>
                </a:solidFill>
                <a:latin typeface="Calibri"/>
              </a:rPr>
              <a:t>How do developers describe the effect of false positive alerts on their trust in ML-based IDS output?</a:t>
            </a:r>
          </a:p>
          <a:p>
            <a:pPr algn="l">
              <a:lnSpc>
                <a:spcPct val="115000"/>
              </a:lnSpc>
              <a:spcBef>
                <a:spcPts val="0"/>
              </a:spcBef>
              <a:spcAft>
                <a:spcPts val="0"/>
              </a:spcAft>
            </a:pPr>
            <a:r>
              <a:rPr sz="950" b="0" i="0">
                <a:solidFill>
                  <a:srgbClr val="6E767B"/>
                </a:solidFill>
                <a:latin typeface="Calibri"/>
              </a:rPr>
              <a:t>Phase 2 · items Q1–Q7, reported descriptively</a:t>
            </a:r>
          </a:p>
        </p:txBody>
      </p:sp>
      <p:sp>
        <p:nvSpPr>
          <p:cNvPr id="18" name="Rectangle 17"/>
          <p:cNvSpPr/>
          <p:nvPr/>
        </p:nvSpPr>
        <p:spPr>
          <a:xfrm>
            <a:off x="841248" y="5943600"/>
            <a:ext cx="10506456" cy="91440"/>
          </a:xfrm>
          <a:prstGeom prst="rect">
            <a:avLst/>
          </a:prstGeom>
          <a:solidFill>
            <a:srgbClr val="F2E5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41248" y="5943600"/>
            <a:ext cx="45720" cy="9144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60704" y="6089904"/>
            <a:ext cx="10085832" cy="237744"/>
          </a:xfrm>
          <a:prstGeom prst="rect">
            <a:avLst/>
          </a:prstGeom>
          <a:noFill/>
        </p:spPr>
        <p:txBody>
          <a:bodyPr wrap="square" anchor="t" lIns="0" rIns="0" tIns="0" bIns="0">
            <a:spAutoFit/>
          </a:bodyPr>
          <a:lstStyle/>
          <a:p>
            <a:pPr algn="l">
              <a:lnSpc>
                <a:spcPct val="115000"/>
              </a:lnSpc>
              <a:spcBef>
                <a:spcPts val="0"/>
              </a:spcBef>
              <a:spcAft>
                <a:spcPts val="0"/>
              </a:spcAft>
            </a:pPr>
          </a:p>
        </p:txBody>
      </p:sp>
      <p:sp>
        <p:nvSpPr>
          <p:cNvPr id="21" name="TextBox 20"/>
          <p:cNvSpPr txBox="1"/>
          <p:nvPr/>
        </p:nvSpPr>
        <p:spPr>
          <a:xfrm>
            <a:off x="1060704" y="6345936"/>
            <a:ext cx="10085832" cy="201168"/>
          </a:xfrm>
          <a:prstGeom prst="rect">
            <a:avLst/>
          </a:prstGeom>
          <a:noFill/>
        </p:spPr>
        <p:txBody>
          <a:bodyPr wrap="square" anchor="t" lIns="0" rIns="0" tIns="0" bIns="0">
            <a:spAutoFit/>
          </a:bodyPr>
          <a:lstStyle/>
          <a:p>
            <a:pPr algn="l">
              <a:lnSpc>
                <a:spcPct val="116000"/>
              </a:lnSpc>
              <a:spcBef>
                <a:spcPts val="0"/>
              </a:spcBef>
              <a:spcAft>
                <a:spcPts val="0"/>
              </a:spcAft>
            </a:pPr>
          </a:p>
        </p:txBody>
      </p:sp>
      <p:sp>
        <p:nvSpPr>
          <p:cNvPr id="22" name="TextBox 21"/>
          <p:cNvSpPr txBox="1"/>
          <p:nvPr/>
        </p:nvSpPr>
        <p:spPr>
          <a:xfrm>
            <a:off x="841248" y="5907024"/>
            <a:ext cx="10506456" cy="274320"/>
          </a:xfrm>
          <a:prstGeom prst="rect">
            <a:avLst/>
          </a:prstGeom>
          <a:noFill/>
        </p:spPr>
        <p:txBody>
          <a:bodyPr wrap="square" anchor="t" lIns="0" rIns="0" tIns="0" bIns="0">
            <a:spAutoFit/>
          </a:bodyPr>
          <a:lstStyle/>
          <a:p>
            <a:pPr algn="l">
              <a:lnSpc>
                <a:spcPct val="115000"/>
              </a:lnSpc>
              <a:spcBef>
                <a:spcPts val="0"/>
              </a:spcBef>
              <a:spcAft>
                <a:spcPts val="0"/>
              </a:spcAft>
            </a:pPr>
            <a:r>
              <a:rPr sz="1000" b="0" i="1">
                <a:solidFill>
                  <a:srgbClr val="C75324"/>
                </a:solidFill>
                <a:latin typeface="Calibri"/>
              </a:rPr>
              <a:t>RQ3 was originally framed as a causal question. Because the survey collected one set of ratings after all scenarios, it is answered descriptively.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Related Work I — Machine Learning-Based IDS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C · RELATED WORK</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08</a:t>
            </a:r>
          </a:p>
        </p:txBody>
      </p:sp>
      <p:graphicFrame>
        <p:nvGraphicFramePr>
          <p:cNvPr id="8" name="Table 7"/>
          <p:cNvGraphicFramePr>
            <a:graphicFrameLocks noGrp="1"/>
          </p:cNvGraphicFramePr>
          <p:nvPr/>
        </p:nvGraphicFramePr>
        <p:xfrm>
          <a:off x="841248" y="2212848"/>
          <a:ext cx="10506455" cy="3529584"/>
        </p:xfrm>
        <a:graphic>
          <a:graphicData uri="http://schemas.openxmlformats.org/drawingml/2006/table">
            <a:tbl>
              <a:tblPr firstRow="1" bandRow="1">
                <a:tableStyleId>{5C22544A-7EE6-4342-B048-85BDC9FD1C3A}</a:tableStyleId>
              </a:tblPr>
              <a:tblGrid>
                <a:gridCol w="2101291"/>
                <a:gridCol w="4465243"/>
                <a:gridCol w="3939921"/>
              </a:tblGrid>
              <a:tr h="384048">
                <a:tc>
                  <a:txBody>
                    <a:bodyPr/>
                    <a:lstStyle/>
                    <a:p>
                      <a:pPr>
                        <a:lnSpc>
                          <a:spcPct val="100000"/>
                        </a:lnSpc>
                      </a:pPr>
                      <a:r>
                        <a:rPr sz="1050" b="1">
                          <a:solidFill>
                            <a:srgbClr val="FFFFFF"/>
                          </a:solidFill>
                          <a:latin typeface="Century Gothic"/>
                        </a:rPr>
                        <a:t>Study</a:t>
                      </a:r>
                    </a:p>
                  </a:txBody>
                  <a:tcPr anchor="ctr" marL="82296" marR="64008" marT="18288" marB="18288">
                    <a:solidFill>
                      <a:srgbClr val="0C4E64"/>
                    </a:solidFill>
                  </a:tcPr>
                </a:tc>
                <a:tc>
                  <a:txBody>
                    <a:bodyPr/>
                    <a:lstStyle/>
                    <a:p>
                      <a:pPr>
                        <a:lnSpc>
                          <a:spcPct val="100000"/>
                        </a:lnSpc>
                      </a:pPr>
                      <a:r>
                        <a:rPr sz="1050" b="1">
                          <a:solidFill>
                            <a:srgbClr val="FFFFFF"/>
                          </a:solidFill>
                          <a:latin typeface="Century Gothic"/>
                        </a:rPr>
                        <a:t>Contribution</a:t>
                      </a:r>
                    </a:p>
                  </a:txBody>
                  <a:tcPr anchor="ctr" marL="82296" marR="64008" marT="18288" marB="18288">
                    <a:solidFill>
                      <a:srgbClr val="0C4E64"/>
                    </a:solidFill>
                  </a:tcPr>
                </a:tc>
                <a:tc>
                  <a:txBody>
                    <a:bodyPr/>
                    <a:lstStyle/>
                    <a:p>
                      <a:pPr>
                        <a:lnSpc>
                          <a:spcPct val="100000"/>
                        </a:lnSpc>
                      </a:pPr>
                      <a:r>
                        <a:rPr sz="1050" b="1">
                          <a:solidFill>
                            <a:srgbClr val="FFFFFF"/>
                          </a:solidFill>
                          <a:latin typeface="Century Gothic"/>
                        </a:rPr>
                        <a:t>Relation to this thesis</a:t>
                      </a:r>
                    </a:p>
                  </a:txBody>
                  <a:tcPr anchor="ctr" marL="82296" marR="64008" marT="18288" marB="18288">
                    <a:solidFill>
                      <a:srgbClr val="0C4E64"/>
                    </a:solidFill>
                  </a:tcPr>
                </a:tc>
              </a:tr>
              <a:tr h="786384">
                <a:tc>
                  <a:txBody>
                    <a:bodyPr/>
                    <a:lstStyle/>
                    <a:p>
                      <a:pPr>
                        <a:lnSpc>
                          <a:spcPct val="100000"/>
                        </a:lnSpc>
                      </a:pPr>
                      <a:r>
                        <a:rPr sz="1050" b="0">
                          <a:solidFill>
                            <a:srgbClr val="333433"/>
                          </a:solidFill>
                          <a:latin typeface="Calibri"/>
                        </a:rPr>
                        <a:t>Christy et al. (2025)</a:t>
                      </a:r>
                    </a:p>
                  </a:txBody>
                  <a:tcPr anchor="ctr" marL="82296" marR="64008" marT="18288" marB="18288">
                    <a:solidFill>
                      <a:srgbClr val="FFFFFF"/>
                    </a:solidFill>
                  </a:tcPr>
                </a:tc>
                <a:tc>
                  <a:txBody>
                    <a:bodyPr/>
                    <a:lstStyle/>
                    <a:p>
                      <a:pPr>
                        <a:lnSpc>
                          <a:spcPct val="100000"/>
                        </a:lnSpc>
                      </a:pPr>
                      <a:r>
                        <a:rPr sz="1050" b="0">
                          <a:solidFill>
                            <a:srgbClr val="333433"/>
                          </a:solidFill>
                          <a:latin typeface="Calibri"/>
                        </a:rPr>
                        <a:t>MLIDS-RFA: multi-stage Random Forest IDS for cloud-assisted VANETs; 96.2% accuracy with low FPR.</a:t>
                      </a:r>
                    </a:p>
                  </a:txBody>
                  <a:tcPr anchor="ctr" marL="82296" marR="64008" marT="18288" marB="18288">
                    <a:solidFill>
                      <a:srgbClr val="FFFFFF"/>
                    </a:solidFill>
                  </a:tcPr>
                </a:tc>
                <a:tc>
                  <a:txBody>
                    <a:bodyPr/>
                    <a:lstStyle/>
                    <a:p>
                      <a:pPr>
                        <a:lnSpc>
                          <a:spcPct val="100000"/>
                        </a:lnSpc>
                      </a:pPr>
                      <a:r>
                        <a:rPr sz="1050" b="0">
                          <a:solidFill>
                            <a:srgbClr val="333433"/>
                          </a:solidFill>
                          <a:latin typeface="Calibri"/>
                        </a:rPr>
                        <a:t>Improves performance and reduces false positives, but does not investigate developer trust.</a:t>
                      </a:r>
                    </a:p>
                  </a:txBody>
                  <a:tcPr anchor="ctr" marL="82296" marR="64008" marT="18288" marB="18288">
                    <a:solidFill>
                      <a:srgbClr val="FFFFFF"/>
                    </a:solidFill>
                  </a:tcPr>
                </a:tc>
              </a:tr>
              <a:tr h="786384">
                <a:tc>
                  <a:txBody>
                    <a:bodyPr/>
                    <a:lstStyle/>
                    <a:p>
                      <a:pPr>
                        <a:lnSpc>
                          <a:spcPct val="100000"/>
                        </a:lnSpc>
                      </a:pPr>
                      <a:r>
                        <a:rPr sz="1050" b="0">
                          <a:solidFill>
                            <a:srgbClr val="333433"/>
                          </a:solidFill>
                          <a:latin typeface="Calibri"/>
                        </a:rPr>
                        <a:t>Sun et al. (2020)</a:t>
                      </a:r>
                    </a:p>
                  </a:txBody>
                  <a:tcPr anchor="ctr" marL="82296" marR="64008" marT="18288" marB="18288">
                    <a:solidFill>
                      <a:srgbClr val="F2E5DF"/>
                    </a:solidFill>
                  </a:tcPr>
                </a:tc>
                <a:tc>
                  <a:txBody>
                    <a:bodyPr/>
                    <a:lstStyle/>
                    <a:p>
                      <a:pPr>
                        <a:lnSpc>
                          <a:spcPct val="100000"/>
                        </a:lnSpc>
                      </a:pPr>
                      <a:r>
                        <a:rPr sz="1050" b="0">
                          <a:solidFill>
                            <a:srgbClr val="333433"/>
                          </a:solidFill>
                          <a:latin typeface="Calibri"/>
                        </a:rPr>
                        <a:t>DL-IDS: CNN-LSTM hybrid extracting spatial and temporal features; 98.67% on CICIDS2017.</a:t>
                      </a:r>
                    </a:p>
                  </a:txBody>
                  <a:tcPr anchor="ctr" marL="82296" marR="64008" marT="18288" marB="18288">
                    <a:solidFill>
                      <a:srgbClr val="F2E5DF"/>
                    </a:solidFill>
                  </a:tcPr>
                </a:tc>
                <a:tc>
                  <a:txBody>
                    <a:bodyPr/>
                    <a:lstStyle/>
                    <a:p>
                      <a:pPr>
                        <a:lnSpc>
                          <a:spcPct val="100000"/>
                        </a:lnSpc>
                      </a:pPr>
                      <a:r>
                        <a:rPr sz="1050" b="0">
                          <a:solidFill>
                            <a:srgbClr val="333433"/>
                          </a:solidFill>
                          <a:latin typeface="Calibri"/>
                        </a:rPr>
                        <a:t>Emphasises accuracy; no consideration of user perception of alerts.</a:t>
                      </a:r>
                    </a:p>
                  </a:txBody>
                  <a:tcPr anchor="ctr" marL="82296" marR="64008" marT="18288" marB="18288">
                    <a:solidFill>
                      <a:srgbClr val="F2E5DF"/>
                    </a:solidFill>
                  </a:tcPr>
                </a:tc>
              </a:tr>
              <a:tr h="786384">
                <a:tc>
                  <a:txBody>
                    <a:bodyPr/>
                    <a:lstStyle/>
                    <a:p>
                      <a:pPr>
                        <a:lnSpc>
                          <a:spcPct val="100000"/>
                        </a:lnSpc>
                      </a:pPr>
                      <a:r>
                        <a:rPr sz="1050" b="0">
                          <a:solidFill>
                            <a:srgbClr val="333433"/>
                          </a:solidFill>
                          <a:latin typeface="Calibri"/>
                        </a:rPr>
                        <a:t>Waghmode et al. (2025)</a:t>
                      </a:r>
                    </a:p>
                  </a:txBody>
                  <a:tcPr anchor="ctr" marL="82296" marR="64008" marT="18288" marB="18288">
                    <a:solidFill>
                      <a:srgbClr val="FFFFFF"/>
                    </a:solidFill>
                  </a:tcPr>
                </a:tc>
                <a:tc>
                  <a:txBody>
                    <a:bodyPr/>
                    <a:lstStyle/>
                    <a:p>
                      <a:pPr>
                        <a:lnSpc>
                          <a:spcPct val="100000"/>
                        </a:lnSpc>
                      </a:pPr>
                      <a:r>
                        <a:rPr sz="1050" b="0">
                          <a:solidFill>
                            <a:srgbClr val="333433"/>
                          </a:solidFill>
                          <a:latin typeface="Calibri"/>
                        </a:rPr>
                        <a:t>LS-SVM with exhaustive feature selection; 99.3% / 99.5% / 93.3% on three datasets.</a:t>
                      </a:r>
                    </a:p>
                  </a:txBody>
                  <a:tcPr anchor="ctr" marL="82296" marR="64008" marT="18288" marB="18288">
                    <a:solidFill>
                      <a:srgbClr val="FFFFFF"/>
                    </a:solidFill>
                  </a:tcPr>
                </a:tc>
                <a:tc>
                  <a:txBody>
                    <a:bodyPr/>
                    <a:lstStyle/>
                    <a:p>
                      <a:pPr>
                        <a:lnSpc>
                          <a:spcPct val="100000"/>
                        </a:lnSpc>
                      </a:pPr>
                      <a:r>
                        <a:rPr sz="1050" b="0">
                          <a:solidFill>
                            <a:srgbClr val="333433"/>
                          </a:solidFill>
                          <a:latin typeface="Calibri"/>
                        </a:rPr>
                        <a:t>Recognises the burden of false positives but does not evaluate their impact on trust.</a:t>
                      </a:r>
                    </a:p>
                  </a:txBody>
                  <a:tcPr anchor="ctr" marL="82296" marR="64008" marT="18288" marB="18288">
                    <a:solidFill>
                      <a:srgbClr val="FFFFFF"/>
                    </a:solidFill>
                  </a:tcPr>
                </a:tc>
              </a:tr>
              <a:tr h="786384">
                <a:tc>
                  <a:txBody>
                    <a:bodyPr/>
                    <a:lstStyle/>
                    <a:p>
                      <a:pPr>
                        <a:lnSpc>
                          <a:spcPct val="100000"/>
                        </a:lnSpc>
                      </a:pPr>
                      <a:r>
                        <a:rPr sz="1050" b="0">
                          <a:solidFill>
                            <a:srgbClr val="333433"/>
                          </a:solidFill>
                          <a:latin typeface="Calibri"/>
                        </a:rPr>
                        <a:t>Altulaihan et al. (2024)</a:t>
                      </a:r>
                    </a:p>
                  </a:txBody>
                  <a:tcPr anchor="ctr" marL="82296" marR="64008" marT="18288" marB="18288">
                    <a:solidFill>
                      <a:srgbClr val="F2E5DF"/>
                    </a:solidFill>
                  </a:tcPr>
                </a:tc>
                <a:tc>
                  <a:txBody>
                    <a:bodyPr/>
                    <a:lstStyle/>
                    <a:p>
                      <a:pPr>
                        <a:lnSpc>
                          <a:spcPct val="100000"/>
                        </a:lnSpc>
                      </a:pPr>
                      <a:r>
                        <a:rPr sz="1050" b="0">
                          <a:solidFill>
                            <a:srgbClr val="333433"/>
                          </a:solidFill>
                          <a:latin typeface="Calibri"/>
                        </a:rPr>
                        <a:t>Anomaly-based IDS for IoT DoS attacks; Decision Tree and Random Forest best on IoTID20.</a:t>
                      </a:r>
                    </a:p>
                  </a:txBody>
                  <a:tcPr anchor="ctr" marL="82296" marR="64008" marT="18288" marB="18288">
                    <a:solidFill>
                      <a:srgbClr val="F2E5DF"/>
                    </a:solidFill>
                  </a:tcPr>
                </a:tc>
                <a:tc>
                  <a:txBody>
                    <a:bodyPr/>
                    <a:lstStyle/>
                    <a:p>
                      <a:pPr>
                        <a:lnSpc>
                          <a:spcPct val="100000"/>
                        </a:lnSpc>
                      </a:pPr>
                      <a:r>
                        <a:rPr sz="1050" b="0">
                          <a:solidFill>
                            <a:srgbClr val="333433"/>
                          </a:solidFill>
                          <a:latin typeface="Calibri"/>
                        </a:rPr>
                        <a:t>Evaluates detection effectiveness only; no human-centred evaluation.</a:t>
                      </a:r>
                    </a:p>
                  </a:txBody>
                  <a:tcPr anchor="ctr" marL="82296" marR="64008" marT="18288" marB="18288">
                    <a:solidFill>
                      <a:srgbClr val="F2E5D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Related Work II — Reviews and Persistent Challenges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C · RELATED WORK</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09</a:t>
            </a:r>
          </a:p>
        </p:txBody>
      </p:sp>
      <p:sp>
        <p:nvSpPr>
          <p:cNvPr id="8" name="Rectangle 7"/>
          <p:cNvSpPr/>
          <p:nvPr/>
        </p:nvSpPr>
        <p:spPr>
          <a:xfrm>
            <a:off x="841248" y="2212848"/>
            <a:ext cx="5120640" cy="192024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41248" y="2212848"/>
            <a:ext cx="45720" cy="19202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78992" y="2395728"/>
            <a:ext cx="4700016"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SYSTEMATIC REVIEW</a:t>
            </a:r>
          </a:p>
        </p:txBody>
      </p:sp>
      <p:sp>
        <p:nvSpPr>
          <p:cNvPr id="11" name="TextBox 10"/>
          <p:cNvSpPr txBox="1"/>
          <p:nvPr/>
        </p:nvSpPr>
        <p:spPr>
          <a:xfrm>
            <a:off x="1078992" y="2633472"/>
            <a:ext cx="4700016"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Ahmad et al. (2021)</a:t>
            </a:r>
          </a:p>
        </p:txBody>
      </p:sp>
      <p:sp>
        <p:nvSpPr>
          <p:cNvPr id="12" name="TextBox 11"/>
          <p:cNvSpPr txBox="1"/>
          <p:nvPr/>
        </p:nvSpPr>
        <p:spPr>
          <a:xfrm>
            <a:off x="1078992" y="2907792"/>
            <a:ext cx="4700016" cy="1115568"/>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Systematic review of ML and DL approaches for network intrusion detection.</a:t>
            </a:r>
          </a:p>
          <a:p>
            <a:pPr algn="l">
              <a:lnSpc>
                <a:spcPct val="110000"/>
              </a:lnSpc>
              <a:spcBef>
                <a:spcPts val="0"/>
              </a:spcBef>
              <a:spcAft>
                <a:spcPts val="400"/>
              </a:spcAft>
            </a:pPr>
            <a:r>
              <a:rPr sz="1050" b="0" i="0">
                <a:solidFill>
                  <a:srgbClr val="333433"/>
                </a:solidFill>
                <a:latin typeface="Calibri"/>
              </a:rPr>
              <a:t>Identifies persistent challenges: high false alarm rates, difficulty detecting novel attacks, dataset limitations.</a:t>
            </a:r>
          </a:p>
        </p:txBody>
      </p:sp>
      <p:sp>
        <p:nvSpPr>
          <p:cNvPr id="13" name="Rectangle 12"/>
          <p:cNvSpPr/>
          <p:nvPr/>
        </p:nvSpPr>
        <p:spPr>
          <a:xfrm>
            <a:off x="6227064" y="2212848"/>
            <a:ext cx="5120640" cy="192024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27064" y="2212848"/>
            <a:ext cx="45720" cy="192024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4808" y="2395728"/>
            <a:ext cx="4700016"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FF7841"/>
                </a:solidFill>
                <a:latin typeface="Century Gothic"/>
              </a:rPr>
              <a:t>WHY ML-IDS UNDERDELIVERS</a:t>
            </a:r>
          </a:p>
        </p:txBody>
      </p:sp>
      <p:sp>
        <p:nvSpPr>
          <p:cNvPr id="16" name="TextBox 15"/>
          <p:cNvSpPr txBox="1"/>
          <p:nvPr/>
        </p:nvSpPr>
        <p:spPr>
          <a:xfrm>
            <a:off x="6464808" y="2633472"/>
            <a:ext cx="4700016"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Sommer and Paxson (2010)</a:t>
            </a:r>
          </a:p>
        </p:txBody>
      </p:sp>
      <p:sp>
        <p:nvSpPr>
          <p:cNvPr id="17" name="TextBox 16"/>
          <p:cNvSpPr txBox="1"/>
          <p:nvPr/>
        </p:nvSpPr>
        <p:spPr>
          <a:xfrm>
            <a:off x="6464808" y="2907792"/>
            <a:ext cx="4700016" cy="1115568"/>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Argue that anomaly detection underperforms in operational networks despite strong benchmark results.</a:t>
            </a:r>
          </a:p>
          <a:p>
            <a:pPr algn="l">
              <a:lnSpc>
                <a:spcPct val="110000"/>
              </a:lnSpc>
              <a:spcBef>
                <a:spcPts val="0"/>
              </a:spcBef>
              <a:spcAft>
                <a:spcPts val="400"/>
              </a:spcAft>
            </a:pPr>
            <a:r>
              <a:rPr sz="1050" b="0" i="0">
                <a:solidFill>
                  <a:srgbClr val="333433"/>
                </a:solidFill>
                <a:latin typeface="Calibri"/>
              </a:rPr>
              <a:t>Attribute this to the cost of errors and the semantic gap between detection output and analyst action.</a:t>
            </a:r>
          </a:p>
        </p:txBody>
      </p:sp>
      <p:sp>
        <p:nvSpPr>
          <p:cNvPr id="18" name="TextBox 17"/>
          <p:cNvSpPr txBox="1"/>
          <p:nvPr/>
        </p:nvSpPr>
        <p:spPr>
          <a:xfrm>
            <a:off x="841248" y="4352544"/>
            <a:ext cx="10506456" cy="274320"/>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0C4E64"/>
                </a:solidFill>
                <a:latin typeface="Century Gothic"/>
              </a:rPr>
              <a:t>COMMON PATTERN ACROSS THE ML-IDS LITERATURE</a:t>
            </a:r>
          </a:p>
        </p:txBody>
      </p:sp>
      <p:sp>
        <p:nvSpPr>
          <p:cNvPr id="19" name="Rectangle 18"/>
          <p:cNvSpPr/>
          <p:nvPr/>
        </p:nvSpPr>
        <p:spPr>
          <a:xfrm>
            <a:off x="841248" y="4786884"/>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78992" y="4718304"/>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00" b="0" i="0">
                <a:solidFill>
                  <a:srgbClr val="333433"/>
                </a:solidFill>
                <a:latin typeface="Calibri"/>
              </a:rPr>
              <a:t>Evaluation relies on accuracy, precision, recall, F1-score and false positive rate.</a:t>
            </a:r>
          </a:p>
        </p:txBody>
      </p:sp>
      <p:sp>
        <p:nvSpPr>
          <p:cNvPr id="21" name="Rectangle 20"/>
          <p:cNvSpPr/>
          <p:nvPr/>
        </p:nvSpPr>
        <p:spPr>
          <a:xfrm>
            <a:off x="841248" y="520750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78992" y="513892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00" b="0" i="0">
                <a:solidFill>
                  <a:srgbClr val="333433"/>
                </a:solidFill>
                <a:latin typeface="Calibri"/>
              </a:rPr>
              <a:t>False positives are acknowledged as an operational burden, usually in a single sentence.</a:t>
            </a:r>
          </a:p>
        </p:txBody>
      </p:sp>
      <p:sp>
        <p:nvSpPr>
          <p:cNvPr id="23" name="Rectangle 22"/>
          <p:cNvSpPr/>
          <p:nvPr/>
        </p:nvSpPr>
        <p:spPr>
          <a:xfrm>
            <a:off x="841248" y="5628132"/>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78992" y="5559552"/>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00" b="0" i="0">
                <a:solidFill>
                  <a:srgbClr val="333433"/>
                </a:solidFill>
                <a:latin typeface="Calibri"/>
              </a:rPr>
              <a:t>Whether developers understand, trust or act on the alerts is not measured.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Related Work III — Trust, Alert Fatigue and Usable Security</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C · RELATED WORK</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The human-factors foundation for the second half of this thesis</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10</a:t>
            </a:r>
          </a:p>
        </p:txBody>
      </p:sp>
      <p:sp>
        <p:nvSpPr>
          <p:cNvPr id="9" name="Rectangle 8"/>
          <p:cNvSpPr/>
          <p:nvPr/>
        </p:nvSpPr>
        <p:spPr>
          <a:xfrm>
            <a:off x="841248" y="2468880"/>
            <a:ext cx="2532888" cy="182880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41248" y="2468880"/>
            <a:ext cx="45720" cy="182880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78992" y="2651760"/>
            <a:ext cx="2112264"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BASE-RATE FALLACY</a:t>
            </a:r>
          </a:p>
        </p:txBody>
      </p:sp>
      <p:sp>
        <p:nvSpPr>
          <p:cNvPr id="12" name="TextBox 11"/>
          <p:cNvSpPr txBox="1"/>
          <p:nvPr/>
        </p:nvSpPr>
        <p:spPr>
          <a:xfrm>
            <a:off x="1078992" y="2889504"/>
            <a:ext cx="2112264"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Axelsson (2000)</a:t>
            </a:r>
          </a:p>
        </p:txBody>
      </p:sp>
      <p:sp>
        <p:nvSpPr>
          <p:cNvPr id="13" name="TextBox 12"/>
          <p:cNvSpPr txBox="1"/>
          <p:nvPr/>
        </p:nvSpPr>
        <p:spPr>
          <a:xfrm>
            <a:off x="1078992" y="3163824"/>
            <a:ext cx="2112264" cy="1024128"/>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333433"/>
                </a:solidFill>
                <a:latin typeface="Calibri"/>
              </a:rPr>
              <a:t>Base-rate fallacy in intrusion detection: with rare attacks, even low FPR yields mostly false alerts.</a:t>
            </a:r>
          </a:p>
          <a:p>
            <a:pPr algn="l">
              <a:lnSpc>
                <a:spcPct val="110000"/>
              </a:lnSpc>
              <a:spcBef>
                <a:spcPts val="0"/>
              </a:spcBef>
              <a:spcAft>
                <a:spcPts val="400"/>
              </a:spcAft>
            </a:pPr>
            <a:r>
              <a:rPr sz="1000" b="0" i="0">
                <a:solidFill>
                  <a:srgbClr val="333433"/>
                </a:solidFill>
                <a:latin typeface="Calibri"/>
              </a:rPr>
              <a:t>Sets the theoretical limit this thesis observes empirically.</a:t>
            </a:r>
          </a:p>
        </p:txBody>
      </p:sp>
      <p:sp>
        <p:nvSpPr>
          <p:cNvPr id="14" name="Rectangle 13"/>
          <p:cNvSpPr/>
          <p:nvPr/>
        </p:nvSpPr>
        <p:spPr>
          <a:xfrm>
            <a:off x="3456432" y="2468880"/>
            <a:ext cx="2532888" cy="182880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456432" y="2468880"/>
            <a:ext cx="45720" cy="1828800"/>
          </a:xfrm>
          <a:prstGeom prst="rect">
            <a:avLst/>
          </a:prstGeom>
          <a:solidFill>
            <a:srgbClr val="94B0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94176" y="2651760"/>
            <a:ext cx="2112264"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94B0C9"/>
                </a:solidFill>
                <a:latin typeface="Century Gothic"/>
              </a:rPr>
              <a:t>TRUST IN AUTOMATION</a:t>
            </a:r>
          </a:p>
        </p:txBody>
      </p:sp>
      <p:sp>
        <p:nvSpPr>
          <p:cNvPr id="17" name="TextBox 16"/>
          <p:cNvSpPr txBox="1"/>
          <p:nvPr/>
        </p:nvSpPr>
        <p:spPr>
          <a:xfrm>
            <a:off x="3694176" y="2889504"/>
            <a:ext cx="2112264"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Lee and See (2004)</a:t>
            </a:r>
          </a:p>
        </p:txBody>
      </p:sp>
      <p:sp>
        <p:nvSpPr>
          <p:cNvPr id="18" name="TextBox 17"/>
          <p:cNvSpPr txBox="1"/>
          <p:nvPr/>
        </p:nvSpPr>
        <p:spPr>
          <a:xfrm>
            <a:off x="3694176" y="3163824"/>
            <a:ext cx="2112264" cy="1024128"/>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333433"/>
                </a:solidFill>
                <a:latin typeface="Calibri"/>
              </a:rPr>
              <a:t>Trust in automation as calibrated reliance; trust should match actual reliability.</a:t>
            </a:r>
          </a:p>
          <a:p>
            <a:pPr algn="l">
              <a:lnSpc>
                <a:spcPct val="110000"/>
              </a:lnSpc>
              <a:spcBef>
                <a:spcPts val="0"/>
              </a:spcBef>
              <a:spcAft>
                <a:spcPts val="400"/>
              </a:spcAft>
            </a:pPr>
            <a:r>
              <a:rPr sz="1000" b="0" i="0">
                <a:solidFill>
                  <a:srgbClr val="333433"/>
                </a:solidFill>
                <a:latin typeface="Calibri"/>
              </a:rPr>
              <a:t>Frames why maximum trust is not the design goal.</a:t>
            </a:r>
          </a:p>
        </p:txBody>
      </p:sp>
      <p:sp>
        <p:nvSpPr>
          <p:cNvPr id="19" name="Rectangle 18"/>
          <p:cNvSpPr/>
          <p:nvPr/>
        </p:nvSpPr>
        <p:spPr>
          <a:xfrm>
            <a:off x="6071616" y="2468880"/>
            <a:ext cx="2532888" cy="182880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071616" y="2468880"/>
            <a:ext cx="45720" cy="182880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09360" y="2651760"/>
            <a:ext cx="2112264"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FF7841"/>
                </a:solidFill>
                <a:latin typeface="Century Gothic"/>
              </a:rPr>
              <a:t>OPERATIONAL REALITY</a:t>
            </a:r>
          </a:p>
        </p:txBody>
      </p:sp>
      <p:sp>
        <p:nvSpPr>
          <p:cNvPr id="22" name="TextBox 21"/>
          <p:cNvSpPr txBox="1"/>
          <p:nvPr/>
        </p:nvSpPr>
        <p:spPr>
          <a:xfrm>
            <a:off x="6309360" y="2889504"/>
            <a:ext cx="2112264"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Sommer and Paxson (2010)</a:t>
            </a:r>
          </a:p>
        </p:txBody>
      </p:sp>
      <p:sp>
        <p:nvSpPr>
          <p:cNvPr id="23" name="TextBox 22"/>
          <p:cNvSpPr txBox="1"/>
          <p:nvPr/>
        </p:nvSpPr>
        <p:spPr>
          <a:xfrm>
            <a:off x="6309360" y="3163824"/>
            <a:ext cx="2112264" cy="1024128"/>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333433"/>
                </a:solidFill>
                <a:latin typeface="Calibri"/>
              </a:rPr>
              <a:t>Why ML anomaly detection underperforms in operational networks.</a:t>
            </a:r>
          </a:p>
          <a:p>
            <a:pPr algn="l">
              <a:lnSpc>
                <a:spcPct val="110000"/>
              </a:lnSpc>
              <a:spcBef>
                <a:spcPts val="0"/>
              </a:spcBef>
              <a:spcAft>
                <a:spcPts val="400"/>
              </a:spcAft>
            </a:pPr>
            <a:r>
              <a:rPr sz="1000" b="0" i="0">
                <a:solidFill>
                  <a:srgbClr val="333433"/>
                </a:solidFill>
                <a:latin typeface="Calibri"/>
              </a:rPr>
              <a:t>Cost of errors and the semantic gap between output and action.</a:t>
            </a:r>
          </a:p>
        </p:txBody>
      </p:sp>
      <p:sp>
        <p:nvSpPr>
          <p:cNvPr id="24" name="Rectangle 23"/>
          <p:cNvSpPr/>
          <p:nvPr/>
        </p:nvSpPr>
        <p:spPr>
          <a:xfrm>
            <a:off x="8686800" y="2468880"/>
            <a:ext cx="2660904" cy="182880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686800" y="2468880"/>
            <a:ext cx="45720" cy="18288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924544" y="2651760"/>
            <a:ext cx="2240280"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C0392B"/>
                </a:solidFill>
                <a:latin typeface="Century Gothic"/>
              </a:rPr>
              <a:t>USABLE SECURITY</a:t>
            </a:r>
          </a:p>
        </p:txBody>
      </p:sp>
      <p:sp>
        <p:nvSpPr>
          <p:cNvPr id="27" name="TextBox 26"/>
          <p:cNvSpPr txBox="1"/>
          <p:nvPr/>
        </p:nvSpPr>
        <p:spPr>
          <a:xfrm>
            <a:off x="8924544" y="2889504"/>
            <a:ext cx="2240280"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Alahmadi et al. (2022)</a:t>
            </a:r>
          </a:p>
        </p:txBody>
      </p:sp>
      <p:sp>
        <p:nvSpPr>
          <p:cNvPr id="28" name="TextBox 27"/>
          <p:cNvSpPr txBox="1"/>
          <p:nvPr/>
        </p:nvSpPr>
        <p:spPr>
          <a:xfrm>
            <a:off x="8924544" y="3163824"/>
            <a:ext cx="2240280" cy="1024128"/>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333433"/>
                </a:solidFill>
                <a:latin typeface="Calibri"/>
              </a:rPr>
              <a:t>Interviews with SOC analysts on living with false positives.</a:t>
            </a:r>
          </a:p>
          <a:p>
            <a:pPr algn="l">
              <a:lnSpc>
                <a:spcPct val="110000"/>
              </a:lnSpc>
              <a:spcBef>
                <a:spcPts val="0"/>
              </a:spcBef>
              <a:spcAft>
                <a:spcPts val="400"/>
              </a:spcAft>
            </a:pPr>
            <a:r>
              <a:rPr sz="1000" b="0" i="0">
                <a:solidFill>
                  <a:srgbClr val="333433"/>
                </a:solidFill>
                <a:latin typeface="Calibri"/>
              </a:rPr>
              <a:t>Analysts dismiss whole alert classes they judge unreliable.</a:t>
            </a:r>
          </a:p>
        </p:txBody>
      </p:sp>
      <p:sp>
        <p:nvSpPr>
          <p:cNvPr id="29" name="Rectangle 28"/>
          <p:cNvSpPr/>
          <p:nvPr/>
        </p:nvSpPr>
        <p:spPr>
          <a:xfrm>
            <a:off x="841248" y="4517136"/>
            <a:ext cx="10506456" cy="1499616"/>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41248" y="4517136"/>
            <a:ext cx="45720" cy="1499616"/>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060704" y="4663440"/>
            <a:ext cx="10085832" cy="237744"/>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WHAT THIS LITERATURE CONTRIBUTES</a:t>
            </a:r>
          </a:p>
        </p:txBody>
      </p:sp>
      <p:sp>
        <p:nvSpPr>
          <p:cNvPr id="32" name="TextBox 31"/>
          <p:cNvSpPr txBox="1"/>
          <p:nvPr/>
        </p:nvSpPr>
        <p:spPr>
          <a:xfrm>
            <a:off x="1060704" y="4919472"/>
            <a:ext cx="10085832" cy="932688"/>
          </a:xfrm>
          <a:prstGeom prst="rect">
            <a:avLst/>
          </a:prstGeom>
          <a:noFill/>
        </p:spPr>
        <p:txBody>
          <a:bodyPr wrap="square" anchor="t" lIns="0" rIns="0" tIns="0" bIns="0">
            <a:spAutoFit/>
          </a:bodyPr>
          <a:lstStyle/>
          <a:p>
            <a:pPr algn="l">
              <a:lnSpc>
                <a:spcPct val="116000"/>
              </a:lnSpc>
              <a:spcBef>
                <a:spcPts val="0"/>
              </a:spcBef>
              <a:spcAft>
                <a:spcPts val="0"/>
              </a:spcAft>
            </a:pPr>
            <a:r>
              <a:rPr sz="1100" b="0" i="1">
                <a:solidFill>
                  <a:srgbClr val="0C4E64"/>
                </a:solidFill>
                <a:latin typeface="Calibri"/>
              </a:rPr>
              <a:t>It supplies the concepts the developer-centred half of this thesis rests on: that false positive cost is governed by base rates rather than by accuracy alone, that the goal is calibrated rather than maximal trust, and that practitioners respond to unreliable alerts by disengaging from them. The present study measures developer perceptions against that background rather than treating trust as an undefined quantity.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Research Gap and Motivation</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C · RELATED WORK</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11</a:t>
            </a:r>
          </a:p>
        </p:txBody>
      </p:sp>
      <p:sp>
        <p:nvSpPr>
          <p:cNvPr id="8" name="Pentagon 7"/>
          <p:cNvSpPr/>
          <p:nvPr/>
        </p:nvSpPr>
        <p:spPr>
          <a:xfrm>
            <a:off x="841248" y="2212848"/>
            <a:ext cx="2592324" cy="786384"/>
          </a:xfrm>
          <a:prstGeom prst="homePlate">
            <a:avLst>
              <a:gd name="adj" fmla="val 20000"/>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100" b="1" i="0">
                <a:solidFill>
                  <a:srgbClr val="FFFFFF"/>
                </a:solidFill>
                <a:latin typeface="Century Gothic"/>
              </a:rPr>
              <a:t>ML/DL improves</a:t>
            </a:r>
            <a:br/>
            <a:r>
              <a:rPr sz="1100" b="1" i="0">
                <a:solidFill>
                  <a:srgbClr val="FFFFFF"/>
                </a:solidFill>
                <a:latin typeface="Century Gothic"/>
              </a:rPr>
              <a:t>detection accuracy</a:t>
            </a:r>
          </a:p>
        </p:txBody>
      </p:sp>
      <p:sp>
        <p:nvSpPr>
          <p:cNvPr id="9" name="Pentagon 8"/>
          <p:cNvSpPr/>
          <p:nvPr/>
        </p:nvSpPr>
        <p:spPr>
          <a:xfrm>
            <a:off x="3479292" y="2212848"/>
            <a:ext cx="2592324" cy="786384"/>
          </a:xfrm>
          <a:prstGeom prst="homePlate">
            <a:avLst>
              <a:gd name="adj" fmla="val 20000"/>
            </a:avLst>
          </a:prstGeom>
          <a:solidFill>
            <a:srgbClr val="083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100" b="1" i="0">
                <a:solidFill>
                  <a:srgbClr val="FFFFFF"/>
                </a:solidFill>
                <a:latin typeface="Century Gothic"/>
              </a:rPr>
              <a:t>False positives remain</a:t>
            </a:r>
            <a:br/>
            <a:r>
              <a:rPr sz="1100" b="1" i="0">
                <a:solidFill>
                  <a:srgbClr val="FFFFFF"/>
                </a:solidFill>
                <a:latin typeface="Century Gothic"/>
              </a:rPr>
              <a:t>an open challenge</a:t>
            </a:r>
          </a:p>
        </p:txBody>
      </p:sp>
      <p:sp>
        <p:nvSpPr>
          <p:cNvPr id="10" name="Pentagon 9"/>
          <p:cNvSpPr/>
          <p:nvPr/>
        </p:nvSpPr>
        <p:spPr>
          <a:xfrm>
            <a:off x="6117336" y="2212848"/>
            <a:ext cx="2592324" cy="786384"/>
          </a:xfrm>
          <a:prstGeom prst="homePlate">
            <a:avLst>
              <a:gd name="adj" fmla="val 20000"/>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100" b="1" i="0">
                <a:solidFill>
                  <a:srgbClr val="FFFFFF"/>
                </a:solidFill>
                <a:latin typeface="Century Gothic"/>
              </a:rPr>
              <a:t>Trust literature exists,</a:t>
            </a:r>
            <a:br/>
            <a:r>
              <a:rPr sz="1100" b="1" i="0">
                <a:solidFill>
                  <a:srgbClr val="FFFFFF"/>
                </a:solidFill>
                <a:latin typeface="Century Gothic"/>
              </a:rPr>
              <a:t>but not for ML-IDS alerts</a:t>
            </a:r>
          </a:p>
        </p:txBody>
      </p:sp>
      <p:sp>
        <p:nvSpPr>
          <p:cNvPr id="11" name="Rectangle 10"/>
          <p:cNvSpPr/>
          <p:nvPr/>
        </p:nvSpPr>
        <p:spPr>
          <a:xfrm>
            <a:off x="8755380" y="2212848"/>
            <a:ext cx="2592324" cy="786384"/>
          </a:xfrm>
          <a:prstGeom prst="rect">
            <a:avLst/>
          </a:prstGeom>
          <a:solidFill>
            <a:srgbClr val="083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100" b="1" i="0">
                <a:solidFill>
                  <a:srgbClr val="FFFFFF"/>
                </a:solidFill>
                <a:latin typeface="Century Gothic"/>
              </a:rPr>
              <a:t>This thesis:</a:t>
            </a:r>
            <a:br/>
            <a:r>
              <a:rPr sz="1100" b="1" i="0">
                <a:solidFill>
                  <a:srgbClr val="FFFFFF"/>
                </a:solidFill>
                <a:latin typeface="Century Gothic"/>
              </a:rPr>
              <a:t>developer-centred IDS evaluation</a:t>
            </a:r>
          </a:p>
        </p:txBody>
      </p:sp>
      <p:sp>
        <p:nvSpPr>
          <p:cNvPr id="12" name="Rectangle 11"/>
          <p:cNvSpPr/>
          <p:nvPr/>
        </p:nvSpPr>
        <p:spPr>
          <a:xfrm>
            <a:off x="841248" y="3342132"/>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78992" y="3273552"/>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The ML-IDS literature optimises false positive rate as a technical quantity.</a:t>
            </a:r>
          </a:p>
        </p:txBody>
      </p:sp>
      <p:sp>
        <p:nvSpPr>
          <p:cNvPr id="14" name="Rectangle 13"/>
          <p:cNvSpPr/>
          <p:nvPr/>
        </p:nvSpPr>
        <p:spPr>
          <a:xfrm>
            <a:off x="841248" y="3781044"/>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78992" y="3712464"/>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The trust and usable-security literature studies reliance and alert fatigue, but rarely on ML-IDS output specifically.</a:t>
            </a:r>
          </a:p>
        </p:txBody>
      </p:sp>
      <p:sp>
        <p:nvSpPr>
          <p:cNvPr id="16" name="Rectangle 15"/>
          <p:cNvSpPr/>
          <p:nvPr/>
        </p:nvSpPr>
        <p:spPr>
          <a:xfrm>
            <a:off x="841248" y="4219956"/>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78992" y="4151376"/>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Little is known about how developers describe the effect of false positives on their trust in such alerts.</a:t>
            </a:r>
          </a:p>
        </p:txBody>
      </p:sp>
      <p:sp>
        <p:nvSpPr>
          <p:cNvPr id="18" name="Rectangle 17"/>
          <p:cNvSpPr/>
          <p:nvPr/>
        </p:nvSpPr>
        <p:spPr>
          <a:xfrm>
            <a:off x="841248" y="4773168"/>
            <a:ext cx="10506456" cy="120700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41248" y="4773168"/>
            <a:ext cx="54864" cy="1207008"/>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152144" y="4956048"/>
            <a:ext cx="9784080" cy="868680"/>
          </a:xfrm>
          <a:prstGeom prst="rect">
            <a:avLst/>
          </a:prstGeom>
          <a:noFill/>
        </p:spPr>
        <p:txBody>
          <a:bodyPr wrap="square" anchor="t" lIns="0" rIns="0" tIns="0" bIns="0">
            <a:spAutoFit/>
          </a:bodyPr>
          <a:lstStyle/>
          <a:p>
            <a:pPr algn="l">
              <a:lnSpc>
                <a:spcPct val="115000"/>
              </a:lnSpc>
              <a:spcBef>
                <a:spcPts val="0"/>
              </a:spcBef>
              <a:spcAft>
                <a:spcPts val="500"/>
              </a:spcAft>
            </a:pPr>
            <a:r>
              <a:rPr sz="950" b="1" i="0">
                <a:solidFill>
                  <a:srgbClr val="FF7841"/>
                </a:solidFill>
                <a:latin typeface="Century Gothic"/>
              </a:rPr>
              <a:t>CONTRIBUTION</a:t>
            </a:r>
          </a:p>
          <a:p>
            <a:pPr algn="l">
              <a:lnSpc>
                <a:spcPct val="115000"/>
              </a:lnSpc>
              <a:spcBef>
                <a:spcPts val="0"/>
              </a:spcBef>
              <a:spcAft>
                <a:spcPts val="0"/>
              </a:spcAft>
            </a:pPr>
            <a:r>
              <a:rPr sz="1250" b="0" i="0">
                <a:solidFill>
                  <a:srgbClr val="FFFFFF"/>
                </a:solidFill>
                <a:latin typeface="Calibri"/>
              </a:rPr>
              <a:t>This thesis combines a technical IDS evaluation with empirical developer feedback, connecting measured false positive rates to how practitioners describe their willingness to rely on the alerts.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Methodology — Two-Phase Mixed-Method Design</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D · METHODOLOGY</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Quantitative ML evaluation combined with developer-centred assessment</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12</a:t>
            </a:r>
          </a:p>
        </p:txBody>
      </p:sp>
      <p:sp>
        <p:nvSpPr>
          <p:cNvPr id="9" name="Rectangle 8"/>
          <p:cNvSpPr/>
          <p:nvPr/>
        </p:nvSpPr>
        <p:spPr>
          <a:xfrm>
            <a:off x="841248" y="2468880"/>
            <a:ext cx="5120640" cy="228600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41248" y="2468880"/>
            <a:ext cx="5120640" cy="420624"/>
          </a:xfrm>
          <a:prstGeom prst="rect">
            <a:avLst/>
          </a:prstGeom>
          <a:solidFill>
            <a:srgbClr val="083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78992" y="2578608"/>
            <a:ext cx="4663440" cy="274320"/>
          </a:xfrm>
          <a:prstGeom prst="rect">
            <a:avLst/>
          </a:prstGeom>
          <a:noFill/>
        </p:spPr>
        <p:txBody>
          <a:bodyPr wrap="square" anchor="t" lIns="0" rIns="0" tIns="0" bIns="0">
            <a:spAutoFit/>
          </a:bodyPr>
          <a:lstStyle/>
          <a:p>
            <a:pPr algn="l">
              <a:lnSpc>
                <a:spcPct val="115000"/>
              </a:lnSpc>
              <a:spcBef>
                <a:spcPts val="0"/>
              </a:spcBef>
              <a:spcAft>
                <a:spcPts val="0"/>
              </a:spcAft>
            </a:pPr>
            <a:r>
              <a:rPr sz="1050" b="1" i="0">
                <a:solidFill>
                  <a:srgbClr val="FFFFFF"/>
                </a:solidFill>
                <a:latin typeface="Century Gothic"/>
              </a:rPr>
              <a:t>PHASE 1 · TECHNICAL EVALUATION</a:t>
            </a:r>
          </a:p>
        </p:txBody>
      </p:sp>
      <p:sp>
        <p:nvSpPr>
          <p:cNvPr id="12" name="TextBox 11"/>
          <p:cNvSpPr txBox="1"/>
          <p:nvPr/>
        </p:nvSpPr>
        <p:spPr>
          <a:xfrm>
            <a:off x="1078992" y="3054096"/>
            <a:ext cx="4663440" cy="1554480"/>
          </a:xfrm>
          <a:prstGeom prst="rect">
            <a:avLst/>
          </a:prstGeom>
          <a:noFill/>
        </p:spPr>
        <p:txBody>
          <a:bodyPr wrap="square" anchor="t" lIns="0" rIns="0" tIns="0" bIns="0">
            <a:spAutoFit/>
          </a:bodyPr>
          <a:lstStyle/>
          <a:p>
            <a:pPr algn="l">
              <a:lnSpc>
                <a:spcPct val="114000"/>
              </a:lnSpc>
              <a:spcBef>
                <a:spcPts val="0"/>
              </a:spcBef>
              <a:spcAft>
                <a:spcPts val="800"/>
              </a:spcAft>
            </a:pPr>
            <a:r>
              <a:rPr sz="1150" b="0" i="0">
                <a:solidFill>
                  <a:srgbClr val="333433"/>
                </a:solidFill>
                <a:latin typeface="Calibri"/>
              </a:rPr>
              <a:t>Develop an ML-based IDS on the UNSW-NB15 dataset.</a:t>
            </a:r>
          </a:p>
          <a:p>
            <a:pPr algn="l">
              <a:lnSpc>
                <a:spcPct val="114000"/>
              </a:lnSpc>
              <a:spcBef>
                <a:spcPts val="0"/>
              </a:spcBef>
              <a:spcAft>
                <a:spcPts val="800"/>
              </a:spcAft>
            </a:pPr>
            <a:r>
              <a:rPr sz="1150" b="0" i="0">
                <a:solidFill>
                  <a:srgbClr val="333433"/>
                </a:solidFill>
                <a:latin typeface="Calibri"/>
              </a:rPr>
              <a:t>Evaluate with accuracy, precision, recall, F1-score and false positive rate.</a:t>
            </a:r>
          </a:p>
          <a:p>
            <a:pPr algn="l">
              <a:lnSpc>
                <a:spcPct val="114000"/>
              </a:lnSpc>
              <a:spcBef>
                <a:spcPts val="0"/>
              </a:spcBef>
              <a:spcAft>
                <a:spcPts val="800"/>
              </a:spcAft>
            </a:pPr>
            <a:r>
              <a:rPr sz="1150" b="0" i="0">
                <a:solidFill>
                  <a:srgbClr val="333433"/>
                </a:solidFill>
                <a:latin typeface="Calibri"/>
              </a:rPr>
              <a:t>Generate three alert sets at measured false positive rates.</a:t>
            </a:r>
          </a:p>
        </p:txBody>
      </p:sp>
      <p:sp>
        <p:nvSpPr>
          <p:cNvPr id="13" name="Rectangle 12"/>
          <p:cNvSpPr/>
          <p:nvPr/>
        </p:nvSpPr>
        <p:spPr>
          <a:xfrm>
            <a:off x="6227064" y="2468880"/>
            <a:ext cx="5120640" cy="2286000"/>
          </a:xfrm>
          <a:prstGeom prst="rect">
            <a:avLst/>
          </a:prstGeom>
          <a:solidFill>
            <a:srgbClr val="F2E5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27064" y="2468880"/>
            <a:ext cx="5120640" cy="42062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4808" y="2578608"/>
            <a:ext cx="4663440" cy="274320"/>
          </a:xfrm>
          <a:prstGeom prst="rect">
            <a:avLst/>
          </a:prstGeom>
          <a:noFill/>
        </p:spPr>
        <p:txBody>
          <a:bodyPr wrap="square" anchor="t" lIns="0" rIns="0" tIns="0" bIns="0">
            <a:spAutoFit/>
          </a:bodyPr>
          <a:lstStyle/>
          <a:p>
            <a:pPr algn="l">
              <a:lnSpc>
                <a:spcPct val="115000"/>
              </a:lnSpc>
              <a:spcBef>
                <a:spcPts val="0"/>
              </a:spcBef>
              <a:spcAft>
                <a:spcPts val="0"/>
              </a:spcAft>
            </a:pPr>
            <a:r>
              <a:rPr sz="1050" b="1" i="0">
                <a:solidFill>
                  <a:srgbClr val="FFFFFF"/>
                </a:solidFill>
                <a:latin typeface="Century Gothic"/>
              </a:rPr>
              <a:t>PHASE 2 · DEVELOPER-CENTRED EVALUATION</a:t>
            </a:r>
          </a:p>
        </p:txBody>
      </p:sp>
      <p:sp>
        <p:nvSpPr>
          <p:cNvPr id="16" name="TextBox 15"/>
          <p:cNvSpPr txBox="1"/>
          <p:nvPr/>
        </p:nvSpPr>
        <p:spPr>
          <a:xfrm>
            <a:off x="6464808" y="3054096"/>
            <a:ext cx="4663440" cy="1554480"/>
          </a:xfrm>
          <a:prstGeom prst="rect">
            <a:avLst/>
          </a:prstGeom>
          <a:noFill/>
        </p:spPr>
        <p:txBody>
          <a:bodyPr wrap="square" anchor="t" lIns="0" rIns="0" tIns="0" bIns="0">
            <a:spAutoFit/>
          </a:bodyPr>
          <a:lstStyle/>
          <a:p>
            <a:pPr algn="l">
              <a:lnSpc>
                <a:spcPct val="114000"/>
              </a:lnSpc>
              <a:spcBef>
                <a:spcPts val="0"/>
              </a:spcBef>
              <a:spcAft>
                <a:spcPts val="800"/>
              </a:spcAft>
            </a:pPr>
            <a:r>
              <a:rPr sz="1150" b="0" i="0">
                <a:solidFill>
                  <a:srgbClr val="333433"/>
                </a:solidFill>
                <a:latin typeface="Calibri"/>
              </a:rPr>
              <a:t>Present the generated alerts to 15 developers.</a:t>
            </a:r>
          </a:p>
          <a:p>
            <a:pPr algn="l">
              <a:lnSpc>
                <a:spcPct val="114000"/>
              </a:lnSpc>
              <a:spcBef>
                <a:spcPts val="0"/>
              </a:spcBef>
              <a:spcAft>
                <a:spcPts val="800"/>
              </a:spcAft>
            </a:pPr>
            <a:r>
              <a:rPr sz="1150" b="0" i="0">
                <a:solidFill>
                  <a:srgbClr val="333433"/>
                </a:solidFill>
                <a:latin typeface="Calibri"/>
              </a:rPr>
              <a:t>Structured survey: 14 five-point Likert items plus four open-ended questions.</a:t>
            </a:r>
          </a:p>
          <a:p>
            <a:pPr algn="l">
              <a:lnSpc>
                <a:spcPct val="114000"/>
              </a:lnSpc>
              <a:spcBef>
                <a:spcPts val="0"/>
              </a:spcBef>
              <a:spcAft>
                <a:spcPts val="800"/>
              </a:spcAft>
            </a:pPr>
            <a:r>
              <a:rPr sz="1150" b="0" i="0">
                <a:solidFill>
                  <a:srgbClr val="333433"/>
                </a:solidFill>
                <a:latin typeface="Calibri"/>
              </a:rPr>
              <a:t>One set of ratings collected after reviewing the alert material.</a:t>
            </a:r>
          </a:p>
        </p:txBody>
      </p:sp>
      <p:sp>
        <p:nvSpPr>
          <p:cNvPr id="17" name="Rectangle 16"/>
          <p:cNvSpPr/>
          <p:nvPr/>
        </p:nvSpPr>
        <p:spPr>
          <a:xfrm>
            <a:off x="841248" y="4956048"/>
            <a:ext cx="10506456" cy="1060704"/>
          </a:xfrm>
          <a:prstGeom prst="rect">
            <a:avLst/>
          </a:prstGeom>
          <a:solidFill>
            <a:srgbClr val="F2E5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41248" y="4956048"/>
            <a:ext cx="45720" cy="1060704"/>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60704" y="5102352"/>
            <a:ext cx="10085832" cy="237744"/>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C75324"/>
                </a:solidFill>
                <a:latin typeface="Century Gothic"/>
              </a:rPr>
              <a:t>DESIGN NOTE</a:t>
            </a:r>
          </a:p>
        </p:txBody>
      </p:sp>
      <p:sp>
        <p:nvSpPr>
          <p:cNvPr id="20" name="TextBox 19"/>
          <p:cNvSpPr txBox="1"/>
          <p:nvPr/>
        </p:nvSpPr>
        <p:spPr>
          <a:xfrm>
            <a:off x="1060704" y="5358384"/>
            <a:ext cx="10085832" cy="493776"/>
          </a:xfrm>
          <a:prstGeom prst="rect">
            <a:avLst/>
          </a:prstGeom>
          <a:noFill/>
        </p:spPr>
        <p:txBody>
          <a:bodyPr wrap="square" anchor="t" lIns="0" rIns="0" tIns="0" bIns="0">
            <a:spAutoFit/>
          </a:bodyPr>
          <a:lstStyle/>
          <a:p>
            <a:pPr algn="l">
              <a:lnSpc>
                <a:spcPct val="116000"/>
              </a:lnSpc>
              <a:spcBef>
                <a:spcPts val="0"/>
              </a:spcBef>
              <a:spcAft>
                <a:spcPts val="0"/>
              </a:spcAft>
            </a:pPr>
            <a:r>
              <a:rPr sz="1100" b="0" i="1">
                <a:solidFill>
                  <a:srgbClr val="0C4E64"/>
                </a:solidFill>
                <a:latin typeface="Calibri"/>
              </a:rPr>
              <a:t>Participants reviewed the alert material and then completed a single questionnaire. Ratings were therefore not collected separately per false positive condition, which is why RQ3 is answered descriptively.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Phase 1 — IDS Development Pipeline</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D · METHODOLOGY</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From raw dataset to alert generation</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13</a:t>
            </a:r>
          </a:p>
        </p:txBody>
      </p:sp>
      <p:sp>
        <p:nvSpPr>
          <p:cNvPr id="9" name="Rectangle 8"/>
          <p:cNvSpPr/>
          <p:nvPr/>
        </p:nvSpPr>
        <p:spPr>
          <a:xfrm>
            <a:off x="841248" y="2468880"/>
            <a:ext cx="5001768" cy="64008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41248" y="2468880"/>
            <a:ext cx="475488" cy="64008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94B0C9"/>
                </a:solidFill>
                <a:latin typeface="Century Gothic"/>
              </a:rPr>
              <a:t>1</a:t>
            </a:r>
          </a:p>
        </p:txBody>
      </p:sp>
      <p:sp>
        <p:nvSpPr>
          <p:cNvPr id="11" name="TextBox 10"/>
          <p:cNvSpPr txBox="1"/>
          <p:nvPr/>
        </p:nvSpPr>
        <p:spPr>
          <a:xfrm>
            <a:off x="1481328" y="2569464"/>
            <a:ext cx="4215384" cy="457200"/>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UNSW-NB15 dataset</a:t>
            </a:r>
          </a:p>
          <a:p>
            <a:pPr algn="l">
              <a:lnSpc>
                <a:spcPct val="105000"/>
              </a:lnSpc>
              <a:spcBef>
                <a:spcPts val="0"/>
              </a:spcBef>
              <a:spcAft>
                <a:spcPts val="0"/>
              </a:spcAft>
            </a:pPr>
            <a:r>
              <a:rPr sz="900" b="0" i="0">
                <a:solidFill>
                  <a:srgbClr val="6E767B"/>
                </a:solidFill>
                <a:latin typeface="Calibri"/>
              </a:rPr>
              <a:t>175,341 training and 82,332 testing records</a:t>
            </a:r>
          </a:p>
        </p:txBody>
      </p:sp>
      <p:sp>
        <p:nvSpPr>
          <p:cNvPr id="12" name="Rectangle 11"/>
          <p:cNvSpPr/>
          <p:nvPr/>
        </p:nvSpPr>
        <p:spPr>
          <a:xfrm>
            <a:off x="841248" y="3191256"/>
            <a:ext cx="5001768" cy="64008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41248" y="3191256"/>
            <a:ext cx="475488" cy="64008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94B0C9"/>
                </a:solidFill>
                <a:latin typeface="Century Gothic"/>
              </a:rPr>
              <a:t>2</a:t>
            </a:r>
          </a:p>
        </p:txBody>
      </p:sp>
      <p:sp>
        <p:nvSpPr>
          <p:cNvPr id="14" name="TextBox 13"/>
          <p:cNvSpPr txBox="1"/>
          <p:nvPr/>
        </p:nvSpPr>
        <p:spPr>
          <a:xfrm>
            <a:off x="1481328" y="3291840"/>
            <a:ext cx="4215384" cy="457200"/>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Data preprocessing</a:t>
            </a:r>
          </a:p>
          <a:p>
            <a:pPr algn="l">
              <a:lnSpc>
                <a:spcPct val="105000"/>
              </a:lnSpc>
              <a:spcBef>
                <a:spcPts val="0"/>
              </a:spcBef>
              <a:spcAft>
                <a:spcPts val="0"/>
              </a:spcAft>
            </a:pPr>
            <a:r>
              <a:rPr sz="900" b="0" i="0">
                <a:solidFill>
                  <a:srgbClr val="6E767B"/>
                </a:solidFill>
                <a:latin typeface="Calibri"/>
              </a:rPr>
              <a:t>Handle categorical attributes, transform and scale</a:t>
            </a:r>
          </a:p>
        </p:txBody>
      </p:sp>
      <p:sp>
        <p:nvSpPr>
          <p:cNvPr id="15" name="Rectangle 14"/>
          <p:cNvSpPr/>
          <p:nvPr/>
        </p:nvSpPr>
        <p:spPr>
          <a:xfrm>
            <a:off x="841248" y="3913632"/>
            <a:ext cx="5001768" cy="64008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41248" y="3913632"/>
            <a:ext cx="475488" cy="64008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94B0C9"/>
                </a:solidFill>
                <a:latin typeface="Century Gothic"/>
              </a:rPr>
              <a:t>3</a:t>
            </a:r>
          </a:p>
        </p:txBody>
      </p:sp>
      <p:sp>
        <p:nvSpPr>
          <p:cNvPr id="17" name="TextBox 16"/>
          <p:cNvSpPr txBox="1"/>
          <p:nvPr/>
        </p:nvSpPr>
        <p:spPr>
          <a:xfrm>
            <a:off x="1481328" y="4014216"/>
            <a:ext cx="4215384" cy="457200"/>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Feature engineering</a:t>
            </a:r>
          </a:p>
          <a:p>
            <a:pPr algn="l">
              <a:lnSpc>
                <a:spcPct val="105000"/>
              </a:lnSpc>
              <a:spcBef>
                <a:spcPts val="0"/>
              </a:spcBef>
              <a:spcAft>
                <a:spcPts val="0"/>
              </a:spcAft>
            </a:pPr>
            <a:r>
              <a:rPr sz="900" b="0" i="0">
                <a:solidFill>
                  <a:srgbClr val="6E767B"/>
                </a:solidFill>
                <a:latin typeface="Calibri"/>
              </a:rPr>
              <a:t>One-Hot Encoding, Standard Scaling, drop id / attack_cat / label</a:t>
            </a:r>
          </a:p>
        </p:txBody>
      </p:sp>
      <p:sp>
        <p:nvSpPr>
          <p:cNvPr id="18" name="Rectangle 17"/>
          <p:cNvSpPr/>
          <p:nvPr/>
        </p:nvSpPr>
        <p:spPr>
          <a:xfrm>
            <a:off x="841248" y="4636008"/>
            <a:ext cx="5001768" cy="64008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41248" y="4636008"/>
            <a:ext cx="475488" cy="64008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94B0C9"/>
                </a:solidFill>
                <a:latin typeface="Century Gothic"/>
              </a:rPr>
              <a:t>4</a:t>
            </a:r>
          </a:p>
        </p:txBody>
      </p:sp>
      <p:sp>
        <p:nvSpPr>
          <p:cNvPr id="20" name="TextBox 19"/>
          <p:cNvSpPr txBox="1"/>
          <p:nvPr/>
        </p:nvSpPr>
        <p:spPr>
          <a:xfrm>
            <a:off x="1481328" y="4736592"/>
            <a:ext cx="4215384" cy="457200"/>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Train / test split</a:t>
            </a:r>
          </a:p>
          <a:p>
            <a:pPr algn="l">
              <a:lnSpc>
                <a:spcPct val="105000"/>
              </a:lnSpc>
              <a:spcBef>
                <a:spcPts val="0"/>
              </a:spcBef>
              <a:spcAft>
                <a:spcPts val="0"/>
              </a:spcAft>
            </a:pPr>
            <a:r>
              <a:rPr sz="900" b="0" i="0">
                <a:solidFill>
                  <a:srgbClr val="6E767B"/>
                </a:solidFill>
                <a:latin typeface="Calibri"/>
              </a:rPr>
              <a:t>Predefined official UNSW-NB15 subsets used directly</a:t>
            </a:r>
          </a:p>
        </p:txBody>
      </p:sp>
      <p:sp>
        <p:nvSpPr>
          <p:cNvPr id="21" name="Rectangle 20"/>
          <p:cNvSpPr/>
          <p:nvPr/>
        </p:nvSpPr>
        <p:spPr>
          <a:xfrm>
            <a:off x="841248" y="5358384"/>
            <a:ext cx="5001768" cy="64008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41248" y="5358384"/>
            <a:ext cx="475488" cy="64008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94B0C9"/>
                </a:solidFill>
                <a:latin typeface="Century Gothic"/>
              </a:rPr>
              <a:t>5</a:t>
            </a:r>
          </a:p>
        </p:txBody>
      </p:sp>
      <p:sp>
        <p:nvSpPr>
          <p:cNvPr id="23" name="TextBox 22"/>
          <p:cNvSpPr txBox="1"/>
          <p:nvPr/>
        </p:nvSpPr>
        <p:spPr>
          <a:xfrm>
            <a:off x="1481328" y="5458968"/>
            <a:ext cx="4215384" cy="457200"/>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Model development</a:t>
            </a:r>
          </a:p>
          <a:p>
            <a:pPr algn="l">
              <a:lnSpc>
                <a:spcPct val="105000"/>
              </a:lnSpc>
              <a:spcBef>
                <a:spcPts val="0"/>
              </a:spcBef>
              <a:spcAft>
                <a:spcPts val="0"/>
              </a:spcAft>
            </a:pPr>
            <a:r>
              <a:rPr sz="900" b="0" i="0">
                <a:solidFill>
                  <a:srgbClr val="6E767B"/>
                </a:solidFill>
                <a:latin typeface="Calibri"/>
              </a:rPr>
              <a:t>Logistic Regression baseline and Random Forest primary</a:t>
            </a:r>
          </a:p>
        </p:txBody>
      </p:sp>
      <p:sp>
        <p:nvSpPr>
          <p:cNvPr id="24" name="Rectangle 23"/>
          <p:cNvSpPr/>
          <p:nvPr/>
        </p:nvSpPr>
        <p:spPr>
          <a:xfrm>
            <a:off x="6272784" y="2468880"/>
            <a:ext cx="5001768" cy="64008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272784" y="2468880"/>
            <a:ext cx="475488" cy="64008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FF7841"/>
                </a:solidFill>
                <a:latin typeface="Century Gothic"/>
              </a:rPr>
              <a:t>6</a:t>
            </a:r>
          </a:p>
        </p:txBody>
      </p:sp>
      <p:sp>
        <p:nvSpPr>
          <p:cNvPr id="26" name="TextBox 25"/>
          <p:cNvSpPr txBox="1"/>
          <p:nvPr/>
        </p:nvSpPr>
        <p:spPr>
          <a:xfrm>
            <a:off x="6912864" y="2569464"/>
            <a:ext cx="4215384" cy="457200"/>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Model training</a:t>
            </a:r>
          </a:p>
          <a:p>
            <a:pPr algn="l">
              <a:lnSpc>
                <a:spcPct val="105000"/>
              </a:lnSpc>
              <a:spcBef>
                <a:spcPts val="0"/>
              </a:spcBef>
              <a:spcAft>
                <a:spcPts val="0"/>
              </a:spcAft>
            </a:pPr>
            <a:r>
              <a:rPr sz="900" b="0" i="0">
                <a:solidFill>
                  <a:srgbClr val="6E767B"/>
                </a:solidFill>
                <a:latin typeface="Calibri"/>
              </a:rPr>
              <a:t>Scikit-learn pipeline with ColumnTransformer</a:t>
            </a:r>
          </a:p>
        </p:txBody>
      </p:sp>
      <p:sp>
        <p:nvSpPr>
          <p:cNvPr id="27" name="Rectangle 26"/>
          <p:cNvSpPr/>
          <p:nvPr/>
        </p:nvSpPr>
        <p:spPr>
          <a:xfrm>
            <a:off x="6272784" y="3191256"/>
            <a:ext cx="5001768" cy="64008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272784" y="3191256"/>
            <a:ext cx="475488" cy="64008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FF7841"/>
                </a:solidFill>
                <a:latin typeface="Century Gothic"/>
              </a:rPr>
              <a:t>7</a:t>
            </a:r>
          </a:p>
        </p:txBody>
      </p:sp>
      <p:sp>
        <p:nvSpPr>
          <p:cNvPr id="29" name="TextBox 28"/>
          <p:cNvSpPr txBox="1"/>
          <p:nvPr/>
        </p:nvSpPr>
        <p:spPr>
          <a:xfrm>
            <a:off x="6912864" y="3291840"/>
            <a:ext cx="4215384" cy="457200"/>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Model testing</a:t>
            </a:r>
          </a:p>
          <a:p>
            <a:pPr algn="l">
              <a:lnSpc>
                <a:spcPct val="105000"/>
              </a:lnSpc>
              <a:spcBef>
                <a:spcPts val="0"/>
              </a:spcBef>
              <a:spcAft>
                <a:spcPts val="0"/>
              </a:spcAft>
            </a:pPr>
            <a:r>
              <a:rPr sz="900" b="0" i="0">
                <a:solidFill>
                  <a:srgbClr val="6E767B"/>
                </a:solidFill>
                <a:latin typeface="Calibri"/>
              </a:rPr>
              <a:t>Evaluated on previously unseen testing subset</a:t>
            </a:r>
          </a:p>
        </p:txBody>
      </p:sp>
      <p:sp>
        <p:nvSpPr>
          <p:cNvPr id="30" name="Rectangle 29"/>
          <p:cNvSpPr/>
          <p:nvPr/>
        </p:nvSpPr>
        <p:spPr>
          <a:xfrm>
            <a:off x="6272784" y="3913632"/>
            <a:ext cx="5001768" cy="64008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272784" y="3913632"/>
            <a:ext cx="475488" cy="64008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FF7841"/>
                </a:solidFill>
                <a:latin typeface="Century Gothic"/>
              </a:rPr>
              <a:t>8</a:t>
            </a:r>
          </a:p>
        </p:txBody>
      </p:sp>
      <p:sp>
        <p:nvSpPr>
          <p:cNvPr id="32" name="TextBox 31"/>
          <p:cNvSpPr txBox="1"/>
          <p:nvPr/>
        </p:nvSpPr>
        <p:spPr>
          <a:xfrm>
            <a:off x="6912864" y="4014216"/>
            <a:ext cx="4215384" cy="457200"/>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Performance evaluation</a:t>
            </a:r>
          </a:p>
          <a:p>
            <a:pPr algn="l">
              <a:lnSpc>
                <a:spcPct val="105000"/>
              </a:lnSpc>
              <a:spcBef>
                <a:spcPts val="0"/>
              </a:spcBef>
              <a:spcAft>
                <a:spcPts val="0"/>
              </a:spcAft>
            </a:pPr>
            <a:r>
              <a:rPr sz="900" b="0" i="0">
                <a:solidFill>
                  <a:srgbClr val="6E767B"/>
                </a:solidFill>
                <a:latin typeface="Calibri"/>
              </a:rPr>
              <a:t>Accuracy, precision, recall, F1-score, FPR</a:t>
            </a:r>
          </a:p>
        </p:txBody>
      </p:sp>
      <p:sp>
        <p:nvSpPr>
          <p:cNvPr id="33" name="Rectangle 32"/>
          <p:cNvSpPr/>
          <p:nvPr/>
        </p:nvSpPr>
        <p:spPr>
          <a:xfrm>
            <a:off x="6272784" y="4636008"/>
            <a:ext cx="5001768" cy="64008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272784" y="4636008"/>
            <a:ext cx="475488" cy="64008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FF7841"/>
                </a:solidFill>
                <a:latin typeface="Century Gothic"/>
              </a:rPr>
              <a:t>9</a:t>
            </a:r>
          </a:p>
        </p:txBody>
      </p:sp>
      <p:sp>
        <p:nvSpPr>
          <p:cNvPr id="35" name="TextBox 34"/>
          <p:cNvSpPr txBox="1"/>
          <p:nvPr/>
        </p:nvSpPr>
        <p:spPr>
          <a:xfrm>
            <a:off x="6912864" y="4736592"/>
            <a:ext cx="4215384" cy="457200"/>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Alert set generation</a:t>
            </a:r>
          </a:p>
          <a:p>
            <a:pPr algn="l">
              <a:lnSpc>
                <a:spcPct val="105000"/>
              </a:lnSpc>
              <a:spcBef>
                <a:spcPts val="0"/>
              </a:spcBef>
              <a:spcAft>
                <a:spcPts val="0"/>
              </a:spcAft>
            </a:pPr>
            <a:r>
              <a:rPr sz="900" b="0" i="0">
                <a:solidFill>
                  <a:srgbClr val="6E767B"/>
                </a:solidFill>
                <a:latin typeface="Calibri"/>
              </a:rPr>
              <a:t>Three thresholds, each with a measured FPR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Dataset — UNSW-NB15</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D · METHODOLOGY</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Moustafa and Slay (2015), Australian Centre for Cyber Security</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14</a:t>
            </a:r>
          </a:p>
        </p:txBody>
      </p:sp>
      <p:graphicFrame>
        <p:nvGraphicFramePr>
          <p:cNvPr id="9" name="Table 8"/>
          <p:cNvGraphicFramePr>
            <a:graphicFrameLocks noGrp="1"/>
          </p:cNvGraphicFramePr>
          <p:nvPr/>
        </p:nvGraphicFramePr>
        <p:xfrm>
          <a:off x="841248" y="2468880"/>
          <a:ext cx="5669280" cy="2688336"/>
        </p:xfrm>
        <a:graphic>
          <a:graphicData uri="http://schemas.openxmlformats.org/drawingml/2006/table">
            <a:tbl>
              <a:tblPr firstRow="1" bandRow="1">
                <a:tableStyleId>{5C22544A-7EE6-4342-B048-85BDC9FD1C3A}</a:tableStyleId>
              </a:tblPr>
              <a:tblGrid>
                <a:gridCol w="2456688"/>
                <a:gridCol w="3212592"/>
              </a:tblGrid>
              <a:tr h="384048">
                <a:tc>
                  <a:txBody>
                    <a:bodyPr/>
                    <a:lstStyle/>
                    <a:p>
                      <a:pPr>
                        <a:lnSpc>
                          <a:spcPct val="100000"/>
                        </a:lnSpc>
                      </a:pPr>
                      <a:r>
                        <a:rPr sz="1050" b="1">
                          <a:solidFill>
                            <a:srgbClr val="FFFFFF"/>
                          </a:solidFill>
                          <a:latin typeface="Century Gothic"/>
                        </a:rPr>
                        <a:t>Property</a:t>
                      </a:r>
                    </a:p>
                  </a:txBody>
                  <a:tcPr anchor="ctr" marL="82296" marR="64008" marT="18288" marB="18288">
                    <a:solidFill>
                      <a:srgbClr val="0C4E64"/>
                    </a:solidFill>
                  </a:tcPr>
                </a:tc>
                <a:tc>
                  <a:txBody>
                    <a:bodyPr/>
                    <a:lstStyle/>
                    <a:p>
                      <a:pPr>
                        <a:lnSpc>
                          <a:spcPct val="100000"/>
                        </a:lnSpc>
                      </a:pPr>
                      <a:r>
                        <a:rPr sz="1050" b="1">
                          <a:solidFill>
                            <a:srgbClr val="FFFFFF"/>
                          </a:solidFill>
                          <a:latin typeface="Century Gothic"/>
                        </a:rPr>
                        <a:t>Value</a:t>
                      </a:r>
                    </a:p>
                  </a:txBody>
                  <a:tcPr anchor="ctr" marL="82296" marR="64008" marT="18288" marB="18288">
                    <a:solidFill>
                      <a:srgbClr val="0C4E64"/>
                    </a:solidFill>
                  </a:tcPr>
                </a:tc>
              </a:tr>
              <a:tr h="384048">
                <a:tc>
                  <a:txBody>
                    <a:bodyPr/>
                    <a:lstStyle/>
                    <a:p>
                      <a:pPr>
                        <a:lnSpc>
                          <a:spcPct val="100000"/>
                        </a:lnSpc>
                      </a:pPr>
                      <a:r>
                        <a:rPr sz="1100" b="0">
                          <a:solidFill>
                            <a:srgbClr val="333433"/>
                          </a:solidFill>
                          <a:latin typeface="Calibri"/>
                        </a:rPr>
                        <a:t>Dataset</a:t>
                      </a:r>
                    </a:p>
                  </a:txBody>
                  <a:tcPr anchor="ctr" marL="82296" marR="64008" marT="18288" marB="18288">
                    <a:solidFill>
                      <a:srgbClr val="FFFFFF"/>
                    </a:solidFill>
                  </a:tcPr>
                </a:tc>
                <a:tc>
                  <a:txBody>
                    <a:bodyPr/>
                    <a:lstStyle/>
                    <a:p>
                      <a:pPr>
                        <a:lnSpc>
                          <a:spcPct val="100000"/>
                        </a:lnSpc>
                      </a:pPr>
                      <a:r>
                        <a:rPr sz="1100" b="0">
                          <a:solidFill>
                            <a:srgbClr val="333433"/>
                          </a:solidFill>
                          <a:latin typeface="Calibri"/>
                        </a:rPr>
                        <a:t>UNSW-NB15 (Moustafa &amp; Slay, 2015)</a:t>
                      </a:r>
                    </a:p>
                  </a:txBody>
                  <a:tcPr anchor="ctr" marL="82296" marR="64008" marT="18288" marB="18288">
                    <a:solidFill>
                      <a:srgbClr val="FFFFFF"/>
                    </a:solidFill>
                  </a:tcPr>
                </a:tc>
              </a:tr>
              <a:tr h="384048">
                <a:tc>
                  <a:txBody>
                    <a:bodyPr/>
                    <a:lstStyle/>
                    <a:p>
                      <a:pPr>
                        <a:lnSpc>
                          <a:spcPct val="100000"/>
                        </a:lnSpc>
                      </a:pPr>
                      <a:r>
                        <a:rPr sz="1100" b="0">
                          <a:solidFill>
                            <a:srgbClr val="333433"/>
                          </a:solidFill>
                          <a:latin typeface="Calibri"/>
                        </a:rPr>
                        <a:t>Training records</a:t>
                      </a:r>
                    </a:p>
                  </a:txBody>
                  <a:tcPr anchor="ctr" marL="82296" marR="64008" marT="18288" marB="18288">
                    <a:solidFill>
                      <a:srgbClr val="F2E5DF"/>
                    </a:solidFill>
                  </a:tcPr>
                </a:tc>
                <a:tc>
                  <a:txBody>
                    <a:bodyPr/>
                    <a:lstStyle/>
                    <a:p>
                      <a:pPr>
                        <a:lnSpc>
                          <a:spcPct val="100000"/>
                        </a:lnSpc>
                      </a:pPr>
                      <a:r>
                        <a:rPr sz="1100" b="0">
                          <a:solidFill>
                            <a:srgbClr val="333433"/>
                          </a:solidFill>
                          <a:latin typeface="Calibri"/>
                        </a:rPr>
                        <a:t>175,341</a:t>
                      </a:r>
                    </a:p>
                  </a:txBody>
                  <a:tcPr anchor="ctr" marL="82296" marR="64008" marT="18288" marB="18288">
                    <a:solidFill>
                      <a:srgbClr val="F2E5DF"/>
                    </a:solidFill>
                  </a:tcPr>
                </a:tc>
              </a:tr>
              <a:tr h="384048">
                <a:tc>
                  <a:txBody>
                    <a:bodyPr/>
                    <a:lstStyle/>
                    <a:p>
                      <a:pPr>
                        <a:lnSpc>
                          <a:spcPct val="100000"/>
                        </a:lnSpc>
                      </a:pPr>
                      <a:r>
                        <a:rPr sz="1100" b="0">
                          <a:solidFill>
                            <a:srgbClr val="333433"/>
                          </a:solidFill>
                          <a:latin typeface="Calibri"/>
                        </a:rPr>
                        <a:t>Testing records</a:t>
                      </a:r>
                    </a:p>
                  </a:txBody>
                  <a:tcPr anchor="ctr" marL="82296" marR="64008" marT="18288" marB="18288">
                    <a:solidFill>
                      <a:srgbClr val="FFFFFF"/>
                    </a:solidFill>
                  </a:tcPr>
                </a:tc>
                <a:tc>
                  <a:txBody>
                    <a:bodyPr/>
                    <a:lstStyle/>
                    <a:p>
                      <a:pPr>
                        <a:lnSpc>
                          <a:spcPct val="100000"/>
                        </a:lnSpc>
                      </a:pPr>
                      <a:r>
                        <a:rPr sz="1100" b="0">
                          <a:solidFill>
                            <a:srgbClr val="333433"/>
                          </a:solidFill>
                          <a:latin typeface="Calibri"/>
                        </a:rPr>
                        <a:t>82,332  (37,000 normal / 45,332 attack)</a:t>
                      </a:r>
                    </a:p>
                  </a:txBody>
                  <a:tcPr anchor="ctr" marL="82296" marR="64008" marT="18288" marB="18288">
                    <a:solidFill>
                      <a:srgbClr val="FFFFFF"/>
                    </a:solidFill>
                  </a:tcPr>
                </a:tc>
              </a:tr>
              <a:tr h="384048">
                <a:tc>
                  <a:txBody>
                    <a:bodyPr/>
                    <a:lstStyle/>
                    <a:p>
                      <a:pPr>
                        <a:lnSpc>
                          <a:spcPct val="100000"/>
                        </a:lnSpc>
                      </a:pPr>
                      <a:r>
                        <a:rPr sz="1100" b="0">
                          <a:solidFill>
                            <a:srgbClr val="333433"/>
                          </a:solidFill>
                          <a:latin typeface="Calibri"/>
                        </a:rPr>
                        <a:t>Columns in the file</a:t>
                      </a:r>
                    </a:p>
                  </a:txBody>
                  <a:tcPr anchor="ctr" marL="82296" marR="64008" marT="18288" marB="18288">
                    <a:solidFill>
                      <a:srgbClr val="F2E5DF"/>
                    </a:solidFill>
                  </a:tcPr>
                </a:tc>
                <a:tc>
                  <a:txBody>
                    <a:bodyPr/>
                    <a:lstStyle/>
                    <a:p>
                      <a:pPr>
                        <a:lnSpc>
                          <a:spcPct val="100000"/>
                        </a:lnSpc>
                      </a:pPr>
                      <a:r>
                        <a:rPr sz="1100" b="0">
                          <a:solidFill>
                            <a:srgbClr val="333433"/>
                          </a:solidFill>
                          <a:latin typeface="Calibri"/>
                        </a:rPr>
                        <a:t>45</a:t>
                      </a:r>
                    </a:p>
                  </a:txBody>
                  <a:tcPr anchor="ctr" marL="82296" marR="64008" marT="18288" marB="18288">
                    <a:solidFill>
                      <a:srgbClr val="F2E5DF"/>
                    </a:solidFill>
                  </a:tcPr>
                </a:tc>
              </a:tr>
              <a:tr h="384048">
                <a:tc>
                  <a:txBody>
                    <a:bodyPr/>
                    <a:lstStyle/>
                    <a:p>
                      <a:pPr>
                        <a:lnSpc>
                          <a:spcPct val="100000"/>
                        </a:lnSpc>
                      </a:pPr>
                      <a:r>
                        <a:rPr sz="1100" b="0">
                          <a:solidFill>
                            <a:srgbClr val="333433"/>
                          </a:solidFill>
                          <a:latin typeface="Calibri"/>
                        </a:rPr>
                        <a:t>Predictive features used</a:t>
                      </a:r>
                    </a:p>
                  </a:txBody>
                  <a:tcPr anchor="ctr" marL="82296" marR="64008" marT="18288" marB="18288">
                    <a:solidFill>
                      <a:srgbClr val="FFFFFF"/>
                    </a:solidFill>
                  </a:tcPr>
                </a:tc>
                <a:tc>
                  <a:txBody>
                    <a:bodyPr/>
                    <a:lstStyle/>
                    <a:p>
                      <a:pPr>
                        <a:lnSpc>
                          <a:spcPct val="100000"/>
                        </a:lnSpc>
                      </a:pPr>
                      <a:r>
                        <a:rPr sz="1100" b="0">
                          <a:solidFill>
                            <a:srgbClr val="333433"/>
                          </a:solidFill>
                          <a:latin typeface="Calibri"/>
                        </a:rPr>
                        <a:t>42  (after dropping id, attack_cat, label)</a:t>
                      </a:r>
                    </a:p>
                  </a:txBody>
                  <a:tcPr anchor="ctr" marL="82296" marR="64008" marT="18288" marB="18288">
                    <a:solidFill>
                      <a:srgbClr val="FFFFFF"/>
                    </a:solidFill>
                  </a:tcPr>
                </a:tc>
              </a:tr>
              <a:tr h="384048">
                <a:tc>
                  <a:txBody>
                    <a:bodyPr/>
                    <a:lstStyle/>
                    <a:p>
                      <a:pPr>
                        <a:lnSpc>
                          <a:spcPct val="100000"/>
                        </a:lnSpc>
                      </a:pPr>
                      <a:r>
                        <a:rPr sz="1100" b="0">
                          <a:solidFill>
                            <a:srgbClr val="333433"/>
                          </a:solidFill>
                          <a:latin typeface="Calibri"/>
                        </a:rPr>
                        <a:t>Classification type</a:t>
                      </a:r>
                    </a:p>
                  </a:txBody>
                  <a:tcPr anchor="ctr" marL="82296" marR="64008" marT="18288" marB="18288">
                    <a:solidFill>
                      <a:srgbClr val="F2E5DF"/>
                    </a:solidFill>
                  </a:tcPr>
                </a:tc>
                <a:tc>
                  <a:txBody>
                    <a:bodyPr/>
                    <a:lstStyle/>
                    <a:p>
                      <a:pPr>
                        <a:lnSpc>
                          <a:spcPct val="100000"/>
                        </a:lnSpc>
                      </a:pPr>
                      <a:r>
                        <a:rPr sz="1100" b="0">
                          <a:solidFill>
                            <a:srgbClr val="333433"/>
                          </a:solidFill>
                          <a:latin typeface="Calibri"/>
                        </a:rPr>
                        <a:t>Binary: normal (0) / attack (1)</a:t>
                      </a:r>
                    </a:p>
                  </a:txBody>
                  <a:tcPr anchor="ctr" marL="82296" marR="64008" marT="18288" marB="18288">
                    <a:solidFill>
                      <a:srgbClr val="F2E5DF"/>
                    </a:solidFill>
                  </a:tcPr>
                </a:tc>
              </a:tr>
            </a:tbl>
          </a:graphicData>
        </a:graphic>
      </p:graphicFrame>
      <p:sp>
        <p:nvSpPr>
          <p:cNvPr id="10" name="Rectangle 9"/>
          <p:cNvSpPr/>
          <p:nvPr/>
        </p:nvSpPr>
        <p:spPr>
          <a:xfrm>
            <a:off x="6766560" y="2468880"/>
            <a:ext cx="4581144" cy="157276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766560" y="2468880"/>
            <a:ext cx="45720" cy="157276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004304" y="2651760"/>
            <a:ext cx="4160520"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RATIONALE</a:t>
            </a:r>
          </a:p>
        </p:txBody>
      </p:sp>
      <p:sp>
        <p:nvSpPr>
          <p:cNvPr id="13" name="TextBox 12"/>
          <p:cNvSpPr txBox="1"/>
          <p:nvPr/>
        </p:nvSpPr>
        <p:spPr>
          <a:xfrm>
            <a:off x="7004304" y="2889504"/>
            <a:ext cx="4160520"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Why UNSW-NB15</a:t>
            </a:r>
          </a:p>
        </p:txBody>
      </p:sp>
      <p:sp>
        <p:nvSpPr>
          <p:cNvPr id="14" name="TextBox 13"/>
          <p:cNvSpPr txBox="1"/>
          <p:nvPr/>
        </p:nvSpPr>
        <p:spPr>
          <a:xfrm>
            <a:off x="7004304" y="3163824"/>
            <a:ext cx="4160520" cy="768096"/>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Created to address limitations of earlier IDS datasets with modern traffic and contemporary attacks.</a:t>
            </a:r>
          </a:p>
          <a:p>
            <a:pPr algn="l">
              <a:lnSpc>
                <a:spcPct val="110000"/>
              </a:lnSpc>
              <a:spcBef>
                <a:spcPts val="0"/>
              </a:spcBef>
              <a:spcAft>
                <a:spcPts val="400"/>
              </a:spcAft>
            </a:pPr>
            <a:r>
              <a:rPr sz="1050" b="0" i="0">
                <a:solidFill>
                  <a:srgbClr val="333433"/>
                </a:solidFill>
                <a:latin typeface="Calibri"/>
              </a:rPr>
              <a:t>Widely adopted, enabling comparison with existing research.</a:t>
            </a:r>
          </a:p>
        </p:txBody>
      </p:sp>
      <p:sp>
        <p:nvSpPr>
          <p:cNvPr id="15" name="Rectangle 14"/>
          <p:cNvSpPr/>
          <p:nvPr/>
        </p:nvSpPr>
        <p:spPr>
          <a:xfrm>
            <a:off x="6766560" y="4224528"/>
            <a:ext cx="4581144" cy="179222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766560" y="4224528"/>
            <a:ext cx="45720" cy="1792224"/>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004304" y="4407408"/>
            <a:ext cx="4160520"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FF7841"/>
                </a:solidFill>
                <a:latin typeface="Century Gothic"/>
              </a:rPr>
              <a:t>DROPPED COLUMNS</a:t>
            </a:r>
          </a:p>
        </p:txBody>
      </p:sp>
      <p:sp>
        <p:nvSpPr>
          <p:cNvPr id="18" name="TextBox 17"/>
          <p:cNvSpPr txBox="1"/>
          <p:nvPr/>
        </p:nvSpPr>
        <p:spPr>
          <a:xfrm>
            <a:off x="7004304" y="4645152"/>
            <a:ext cx="4160520"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Feature handling</a:t>
            </a:r>
          </a:p>
        </p:txBody>
      </p:sp>
      <p:sp>
        <p:nvSpPr>
          <p:cNvPr id="19" name="TextBox 18"/>
          <p:cNvSpPr txBox="1"/>
          <p:nvPr/>
        </p:nvSpPr>
        <p:spPr>
          <a:xfrm>
            <a:off x="7004304" y="4919472"/>
            <a:ext cx="4160520" cy="987552"/>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id is an identifier and carries no predictive information.</a:t>
            </a:r>
          </a:p>
          <a:p>
            <a:pPr algn="l">
              <a:lnSpc>
                <a:spcPct val="110000"/>
              </a:lnSpc>
              <a:spcBef>
                <a:spcPts val="0"/>
              </a:spcBef>
              <a:spcAft>
                <a:spcPts val="400"/>
              </a:spcAft>
            </a:pPr>
            <a:r>
              <a:rPr sz="1050" b="0" i="0">
                <a:solidFill>
                  <a:srgbClr val="333433"/>
                </a:solidFill>
                <a:latin typeface="Calibri"/>
              </a:rPr>
              <a:t>attack_cat would leak the label into a binary task.</a:t>
            </a:r>
          </a:p>
          <a:p>
            <a:pPr algn="l">
              <a:lnSpc>
                <a:spcPct val="110000"/>
              </a:lnSpc>
              <a:spcBef>
                <a:spcPts val="0"/>
              </a:spcBef>
              <a:spcAft>
                <a:spcPts val="400"/>
              </a:spcAft>
            </a:pPr>
            <a:r>
              <a:rPr sz="1050" b="0" i="0">
                <a:solidFill>
                  <a:srgbClr val="333433"/>
                </a:solidFill>
                <a:latin typeface="Calibri"/>
              </a:rPr>
              <a:t>label is the target, so 42 features remain for training.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Preprocessing and Model Development</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D · METHODOLOGY</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15</a:t>
            </a:r>
          </a:p>
        </p:txBody>
      </p:sp>
      <p:sp>
        <p:nvSpPr>
          <p:cNvPr id="8" name="TextBox 7"/>
          <p:cNvSpPr txBox="1"/>
          <p:nvPr/>
        </p:nvSpPr>
        <p:spPr>
          <a:xfrm>
            <a:off x="841248" y="2212848"/>
            <a:ext cx="5120640" cy="274320"/>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0C4E64"/>
                </a:solidFill>
                <a:latin typeface="Century Gothic"/>
              </a:rPr>
              <a:t>PREPROCESSING</a:t>
            </a:r>
          </a:p>
        </p:txBody>
      </p:sp>
      <p:sp>
        <p:nvSpPr>
          <p:cNvPr id="9" name="Rectangle 8"/>
          <p:cNvSpPr/>
          <p:nvPr/>
        </p:nvSpPr>
        <p:spPr>
          <a:xfrm>
            <a:off x="841248" y="2628900"/>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78992" y="2560320"/>
            <a:ext cx="4882896" cy="329184"/>
          </a:xfrm>
          <a:prstGeom prst="rect">
            <a:avLst/>
          </a:prstGeom>
          <a:noFill/>
        </p:spPr>
        <p:txBody>
          <a:bodyPr wrap="square" anchor="t" lIns="0" rIns="0" tIns="0" bIns="0">
            <a:spAutoFit/>
          </a:bodyPr>
          <a:lstStyle/>
          <a:p>
            <a:pPr algn="l">
              <a:lnSpc>
                <a:spcPct val="112000"/>
              </a:lnSpc>
              <a:spcBef>
                <a:spcPts val="0"/>
              </a:spcBef>
              <a:spcAft>
                <a:spcPts val="0"/>
              </a:spcAft>
            </a:pPr>
            <a:r>
              <a:rPr sz="1100" b="0" i="0">
                <a:solidFill>
                  <a:srgbClr val="333433"/>
                </a:solidFill>
                <a:latin typeface="Calibri"/>
              </a:rPr>
              <a:t>Inspected for missing values, inconsistencies and irrelevant attributes.</a:t>
            </a:r>
          </a:p>
        </p:txBody>
      </p:sp>
      <p:sp>
        <p:nvSpPr>
          <p:cNvPr id="11" name="Rectangle 10"/>
          <p:cNvSpPr/>
          <p:nvPr/>
        </p:nvSpPr>
        <p:spPr>
          <a:xfrm>
            <a:off x="841248" y="310438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78992" y="3035808"/>
            <a:ext cx="4882896" cy="329184"/>
          </a:xfrm>
          <a:prstGeom prst="rect">
            <a:avLst/>
          </a:prstGeom>
          <a:noFill/>
        </p:spPr>
        <p:txBody>
          <a:bodyPr wrap="square" anchor="t" lIns="0" rIns="0" tIns="0" bIns="0">
            <a:spAutoFit/>
          </a:bodyPr>
          <a:lstStyle/>
          <a:p>
            <a:pPr algn="l">
              <a:lnSpc>
                <a:spcPct val="112000"/>
              </a:lnSpc>
              <a:spcBef>
                <a:spcPts val="0"/>
              </a:spcBef>
              <a:spcAft>
                <a:spcPts val="0"/>
              </a:spcAft>
            </a:pPr>
            <a:r>
              <a:rPr sz="1100" b="0" i="0">
                <a:solidFill>
                  <a:srgbClr val="333433"/>
                </a:solidFill>
                <a:latin typeface="Calibri"/>
              </a:rPr>
              <a:t>Dropped id, attack_cat and label, leaving 42 predictive features.</a:t>
            </a:r>
          </a:p>
        </p:txBody>
      </p:sp>
      <p:sp>
        <p:nvSpPr>
          <p:cNvPr id="13" name="Rectangle 12"/>
          <p:cNvSpPr/>
          <p:nvPr/>
        </p:nvSpPr>
        <p:spPr>
          <a:xfrm>
            <a:off x="841248" y="3579876"/>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78992" y="3511296"/>
            <a:ext cx="4882896" cy="329184"/>
          </a:xfrm>
          <a:prstGeom prst="rect">
            <a:avLst/>
          </a:prstGeom>
          <a:noFill/>
        </p:spPr>
        <p:txBody>
          <a:bodyPr wrap="square" anchor="t" lIns="0" rIns="0" tIns="0" bIns="0">
            <a:spAutoFit/>
          </a:bodyPr>
          <a:lstStyle/>
          <a:p>
            <a:pPr algn="l">
              <a:lnSpc>
                <a:spcPct val="112000"/>
              </a:lnSpc>
              <a:spcBef>
                <a:spcPts val="0"/>
              </a:spcBef>
              <a:spcAft>
                <a:spcPts val="0"/>
              </a:spcAft>
            </a:pPr>
            <a:r>
              <a:rPr sz="1100" b="0" i="0">
                <a:solidFill>
                  <a:srgbClr val="333433"/>
                </a:solidFill>
                <a:latin typeface="Calibri"/>
              </a:rPr>
              <a:t>One-Hot Encoding for proto, service and state; Standard Scaling for numerical features.</a:t>
            </a:r>
          </a:p>
        </p:txBody>
      </p:sp>
      <p:sp>
        <p:nvSpPr>
          <p:cNvPr id="15" name="Rectangle 14"/>
          <p:cNvSpPr/>
          <p:nvPr/>
        </p:nvSpPr>
        <p:spPr>
          <a:xfrm>
            <a:off x="841248" y="4246473"/>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78992" y="4177893"/>
            <a:ext cx="4882896" cy="329184"/>
          </a:xfrm>
          <a:prstGeom prst="rect">
            <a:avLst/>
          </a:prstGeom>
          <a:noFill/>
        </p:spPr>
        <p:txBody>
          <a:bodyPr wrap="square" anchor="t" lIns="0" rIns="0" tIns="0" bIns="0">
            <a:spAutoFit/>
          </a:bodyPr>
          <a:lstStyle/>
          <a:p>
            <a:pPr algn="l">
              <a:lnSpc>
                <a:spcPct val="112000"/>
              </a:lnSpc>
              <a:spcBef>
                <a:spcPts val="0"/>
              </a:spcBef>
              <a:spcAft>
                <a:spcPts val="0"/>
              </a:spcAft>
            </a:pPr>
            <a:r>
              <a:rPr sz="1100" b="0" i="0">
                <a:solidFill>
                  <a:srgbClr val="333433"/>
                </a:solidFill>
                <a:latin typeface="Calibri"/>
              </a:rPr>
              <a:t>ColumnTransformer processes categorical and numerical features in one pipeline.</a:t>
            </a:r>
          </a:p>
        </p:txBody>
      </p:sp>
      <p:sp>
        <p:nvSpPr>
          <p:cNvPr id="17" name="TextBox 16"/>
          <p:cNvSpPr txBox="1"/>
          <p:nvPr/>
        </p:nvSpPr>
        <p:spPr>
          <a:xfrm>
            <a:off x="6227064" y="2212848"/>
            <a:ext cx="5120640" cy="274320"/>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C75324"/>
                </a:solidFill>
                <a:latin typeface="Century Gothic"/>
              </a:rPr>
              <a:t>MODELS</a:t>
            </a:r>
          </a:p>
        </p:txBody>
      </p:sp>
      <p:sp>
        <p:nvSpPr>
          <p:cNvPr id="18" name="Rectangle 17"/>
          <p:cNvSpPr/>
          <p:nvPr/>
        </p:nvSpPr>
        <p:spPr>
          <a:xfrm>
            <a:off x="6227064" y="2542032"/>
            <a:ext cx="5120640" cy="137160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27064" y="2542032"/>
            <a:ext cx="45720" cy="1371600"/>
          </a:xfrm>
          <a:prstGeom prst="rect">
            <a:avLst/>
          </a:prstGeom>
          <a:solidFill>
            <a:srgbClr val="94B0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64808" y="2724912"/>
            <a:ext cx="4700016"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94B0C9"/>
                </a:solidFill>
                <a:latin typeface="Century Gothic"/>
              </a:rPr>
              <a:t>BASELINE</a:t>
            </a:r>
          </a:p>
        </p:txBody>
      </p:sp>
      <p:sp>
        <p:nvSpPr>
          <p:cNvPr id="21" name="TextBox 20"/>
          <p:cNvSpPr txBox="1"/>
          <p:nvPr/>
        </p:nvSpPr>
        <p:spPr>
          <a:xfrm>
            <a:off x="6464808" y="2962656"/>
            <a:ext cx="4700016"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Logistic Regression — baseline</a:t>
            </a:r>
          </a:p>
        </p:txBody>
      </p:sp>
      <p:sp>
        <p:nvSpPr>
          <p:cNvPr id="22" name="TextBox 21"/>
          <p:cNvSpPr txBox="1"/>
          <p:nvPr/>
        </p:nvSpPr>
        <p:spPr>
          <a:xfrm>
            <a:off x="6464808" y="3236976"/>
            <a:ext cx="4700016" cy="566928"/>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max_iter = 1000, class_weight = balanced. Provides a reference point.</a:t>
            </a:r>
          </a:p>
        </p:txBody>
      </p:sp>
      <p:sp>
        <p:nvSpPr>
          <p:cNvPr id="23" name="Rectangle 22"/>
          <p:cNvSpPr/>
          <p:nvPr/>
        </p:nvSpPr>
        <p:spPr>
          <a:xfrm>
            <a:off x="6227064" y="4041648"/>
            <a:ext cx="5120640" cy="157276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27064" y="4041648"/>
            <a:ext cx="45720" cy="1572768"/>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64808" y="4224528"/>
            <a:ext cx="4700016"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FF7841"/>
                </a:solidFill>
                <a:latin typeface="Century Gothic"/>
              </a:rPr>
              <a:t>PRIMARY</a:t>
            </a:r>
          </a:p>
        </p:txBody>
      </p:sp>
      <p:sp>
        <p:nvSpPr>
          <p:cNvPr id="26" name="TextBox 25"/>
          <p:cNvSpPr txBox="1"/>
          <p:nvPr/>
        </p:nvSpPr>
        <p:spPr>
          <a:xfrm>
            <a:off x="6464808" y="4462272"/>
            <a:ext cx="4700016"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Random Forest — primary model</a:t>
            </a:r>
          </a:p>
        </p:txBody>
      </p:sp>
      <p:sp>
        <p:nvSpPr>
          <p:cNvPr id="27" name="TextBox 26"/>
          <p:cNvSpPr txBox="1"/>
          <p:nvPr/>
        </p:nvSpPr>
        <p:spPr>
          <a:xfrm>
            <a:off x="6464808" y="4736592"/>
            <a:ext cx="4700016" cy="768096"/>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Handles high-dimensional data, models complex relationships, reduces overfitting.</a:t>
            </a:r>
          </a:p>
          <a:p>
            <a:pPr algn="l">
              <a:lnSpc>
                <a:spcPct val="110000"/>
              </a:lnSpc>
              <a:spcBef>
                <a:spcPts val="0"/>
              </a:spcBef>
              <a:spcAft>
                <a:spcPts val="400"/>
              </a:spcAft>
            </a:pPr>
            <a:r>
              <a:rPr sz="1050" b="0" i="0">
                <a:solidFill>
                  <a:srgbClr val="333433"/>
                </a:solidFill>
                <a:latin typeface="Calibri"/>
              </a:rPr>
              <a:t>100 trees, random_state = 42, class_weight = balanced, n_jobs = -1.</a:t>
            </a:r>
          </a:p>
        </p:txBody>
      </p:sp>
      <p:sp>
        <p:nvSpPr>
          <p:cNvPr id="28" name="Rectangle 27"/>
          <p:cNvSpPr/>
          <p:nvPr/>
        </p:nvSpPr>
        <p:spPr>
          <a:xfrm>
            <a:off x="841248" y="5138928"/>
            <a:ext cx="5120640" cy="87782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841248" y="5138928"/>
            <a:ext cx="45720" cy="87782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60704" y="5285232"/>
            <a:ext cx="4700016" cy="237744"/>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IMPLEMENTATION</a:t>
            </a:r>
          </a:p>
        </p:txBody>
      </p:sp>
      <p:sp>
        <p:nvSpPr>
          <p:cNvPr id="31" name="TextBox 30"/>
          <p:cNvSpPr txBox="1"/>
          <p:nvPr/>
        </p:nvSpPr>
        <p:spPr>
          <a:xfrm>
            <a:off x="1060704" y="5541264"/>
            <a:ext cx="4700016" cy="310896"/>
          </a:xfrm>
          <a:prstGeom prst="rect">
            <a:avLst/>
          </a:prstGeom>
          <a:noFill/>
        </p:spPr>
        <p:txBody>
          <a:bodyPr wrap="square" anchor="t" lIns="0" rIns="0" tIns="0" bIns="0">
            <a:spAutoFit/>
          </a:bodyPr>
          <a:lstStyle/>
          <a:p>
            <a:pPr algn="l">
              <a:lnSpc>
                <a:spcPct val="116000"/>
              </a:lnSpc>
              <a:spcBef>
                <a:spcPts val="0"/>
              </a:spcBef>
              <a:spcAft>
                <a:spcPts val="0"/>
              </a:spcAft>
            </a:pPr>
            <a:r>
              <a:rPr sz="1100" b="0" i="1">
                <a:solidFill>
                  <a:srgbClr val="0C4E64"/>
                </a:solidFill>
                <a:latin typeface="Calibri"/>
              </a:rPr>
              <a:t>Python with Scikit-learn; a single pipeline integrates preprocessing and model training.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False Positive Scenario Generation</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D · METHODOLOGY</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The decision threshold is the experimental lever — with measured outcomes</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16</a:t>
            </a:r>
          </a:p>
        </p:txBody>
      </p:sp>
      <p:sp>
        <p:nvSpPr>
          <p:cNvPr id="9" name="Rectangle 8"/>
          <p:cNvSpPr/>
          <p:nvPr/>
        </p:nvSpPr>
        <p:spPr>
          <a:xfrm>
            <a:off x="841248" y="2537460"/>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78992" y="2468880"/>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Random Forest outputs a probability that a network event is malicious; the threshold decides the cut.</a:t>
            </a:r>
          </a:p>
        </p:txBody>
      </p:sp>
      <p:sp>
        <p:nvSpPr>
          <p:cNvPr id="11" name="Rectangle 10"/>
          <p:cNvSpPr/>
          <p:nvPr/>
        </p:nvSpPr>
        <p:spPr>
          <a:xfrm>
            <a:off x="841248" y="2939796"/>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78992" y="2871216"/>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Lower thresholds raise more alerts and more false positives; higher thresholds raise fewer of both.</a:t>
            </a:r>
          </a:p>
        </p:txBody>
      </p:sp>
      <p:graphicFrame>
        <p:nvGraphicFramePr>
          <p:cNvPr id="13" name="Table 12"/>
          <p:cNvGraphicFramePr>
            <a:graphicFrameLocks noGrp="1"/>
          </p:cNvGraphicFramePr>
          <p:nvPr/>
        </p:nvGraphicFramePr>
        <p:xfrm>
          <a:off x="841248" y="3364992"/>
          <a:ext cx="10506455" cy="1609344"/>
        </p:xfrm>
        <a:graphic>
          <a:graphicData uri="http://schemas.openxmlformats.org/drawingml/2006/table">
            <a:tbl>
              <a:tblPr firstRow="1" bandRow="1">
                <a:tableStyleId>{5C22544A-7EE6-4342-B048-85BDC9FD1C3A}</a:tableStyleId>
              </a:tblPr>
              <a:tblGrid>
                <a:gridCol w="2865397"/>
                <a:gridCol w="1432698"/>
                <a:gridCol w="1313307"/>
                <a:gridCol w="1790873"/>
                <a:gridCol w="1790873"/>
                <a:gridCol w="1313307"/>
              </a:tblGrid>
              <a:tr h="402336">
                <a:tc>
                  <a:txBody>
                    <a:bodyPr/>
                    <a:lstStyle/>
                    <a:p>
                      <a:pPr>
                        <a:lnSpc>
                          <a:spcPct val="100000"/>
                        </a:lnSpc>
                      </a:pPr>
                      <a:r>
                        <a:rPr sz="1050" b="1">
                          <a:solidFill>
                            <a:srgbClr val="FFFFFF"/>
                          </a:solidFill>
                          <a:latin typeface="Century Gothic"/>
                        </a:rPr>
                        <a:t>Scenario (relative)</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Threshold</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FPR</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False positives</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False negatives</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Recall</a:t>
                      </a:r>
                    </a:p>
                  </a:txBody>
                  <a:tcPr anchor="ctr" marL="82296" marR="64008" marT="18288" marB="18288">
                    <a:solidFill>
                      <a:srgbClr val="0C4E64"/>
                    </a:solidFill>
                  </a:tcPr>
                </a:tc>
              </a:tr>
              <a:tr h="402336">
                <a:tc>
                  <a:txBody>
                    <a:bodyPr/>
                    <a:lstStyle/>
                    <a:p>
                      <a:pPr>
                        <a:lnSpc>
                          <a:spcPct val="100000"/>
                        </a:lnSpc>
                      </a:pPr>
                      <a:r>
                        <a:rPr sz="1100" b="0">
                          <a:solidFill>
                            <a:srgbClr val="333433"/>
                          </a:solidFill>
                          <a:latin typeface="Calibri"/>
                        </a:rPr>
                        <a:t>Fewest false positives</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0.70</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14.60%</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5,403</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2,063</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95.45%</a:t>
                      </a:r>
                    </a:p>
                  </a:txBody>
                  <a:tcPr anchor="ctr" marL="82296" marR="64008" marT="18288" marB="18288">
                    <a:solidFill>
                      <a:srgbClr val="FFFFFF"/>
                    </a:solidFill>
                  </a:tcPr>
                </a:tc>
              </a:tr>
              <a:tr h="402336">
                <a:tc>
                  <a:txBody>
                    <a:bodyPr/>
                    <a:lstStyle/>
                    <a:p>
                      <a:pPr>
                        <a:lnSpc>
                          <a:spcPct val="100000"/>
                        </a:lnSpc>
                      </a:pPr>
                      <a:r>
                        <a:rPr sz="1100" b="0">
                          <a:solidFill>
                            <a:srgbClr val="333433"/>
                          </a:solidFill>
                          <a:latin typeface="Calibri"/>
                        </a:rPr>
                        <a:t>Default operating point</a:t>
                      </a:r>
                    </a:p>
                  </a:txBody>
                  <a:tcPr anchor="ctr" marL="82296" marR="64008" marT="18288" marB="18288">
                    <a:solidFill>
                      <a:srgbClr val="F2E5DF"/>
                    </a:solidFill>
                  </a:tcPr>
                </a:tc>
                <a:tc>
                  <a:txBody>
                    <a:bodyPr/>
                    <a:lstStyle/>
                    <a:p>
                      <a:pPr algn="ctr">
                        <a:lnSpc>
                          <a:spcPct val="100000"/>
                        </a:lnSpc>
                      </a:pPr>
                      <a:r>
                        <a:rPr sz="1100" b="0">
                          <a:solidFill>
                            <a:srgbClr val="333433"/>
                          </a:solidFill>
                          <a:latin typeface="Calibri"/>
                        </a:rPr>
                        <a:t>0.50</a:t>
                      </a:r>
                    </a:p>
                  </a:txBody>
                  <a:tcPr anchor="ctr" marL="82296" marR="64008" marT="18288" marB="18288">
                    <a:solidFill>
                      <a:srgbClr val="F2E5DF"/>
                    </a:solidFill>
                  </a:tcPr>
                </a:tc>
                <a:tc>
                  <a:txBody>
                    <a:bodyPr/>
                    <a:lstStyle/>
                    <a:p>
                      <a:pPr algn="ctr">
                        <a:lnSpc>
                          <a:spcPct val="100000"/>
                        </a:lnSpc>
                      </a:pPr>
                      <a:r>
                        <a:rPr sz="1100" b="0">
                          <a:solidFill>
                            <a:srgbClr val="333433"/>
                          </a:solidFill>
                          <a:latin typeface="Calibri"/>
                        </a:rPr>
                        <a:t>27.72%</a:t>
                      </a:r>
                    </a:p>
                  </a:txBody>
                  <a:tcPr anchor="ctr" marL="82296" marR="64008" marT="18288" marB="18288">
                    <a:solidFill>
                      <a:srgbClr val="F2E5DF"/>
                    </a:solidFill>
                  </a:tcPr>
                </a:tc>
                <a:tc>
                  <a:txBody>
                    <a:bodyPr/>
                    <a:lstStyle/>
                    <a:p>
                      <a:pPr algn="ctr">
                        <a:lnSpc>
                          <a:spcPct val="100000"/>
                        </a:lnSpc>
                      </a:pPr>
                      <a:r>
                        <a:rPr sz="1100" b="0">
                          <a:solidFill>
                            <a:srgbClr val="333433"/>
                          </a:solidFill>
                          <a:latin typeface="Calibri"/>
                        </a:rPr>
                        <a:t>10,256</a:t>
                      </a:r>
                    </a:p>
                  </a:txBody>
                  <a:tcPr anchor="ctr" marL="82296" marR="64008" marT="18288" marB="18288">
                    <a:solidFill>
                      <a:srgbClr val="F2E5DF"/>
                    </a:solidFill>
                  </a:tcPr>
                </a:tc>
                <a:tc>
                  <a:txBody>
                    <a:bodyPr/>
                    <a:lstStyle/>
                    <a:p>
                      <a:pPr algn="ctr">
                        <a:lnSpc>
                          <a:spcPct val="100000"/>
                        </a:lnSpc>
                      </a:pPr>
                      <a:r>
                        <a:rPr sz="1100" b="0">
                          <a:solidFill>
                            <a:srgbClr val="333433"/>
                          </a:solidFill>
                          <a:latin typeface="Calibri"/>
                        </a:rPr>
                        <a:t>589</a:t>
                      </a:r>
                    </a:p>
                  </a:txBody>
                  <a:tcPr anchor="ctr" marL="82296" marR="64008" marT="18288" marB="18288">
                    <a:solidFill>
                      <a:srgbClr val="F2E5DF"/>
                    </a:solidFill>
                  </a:tcPr>
                </a:tc>
                <a:tc>
                  <a:txBody>
                    <a:bodyPr/>
                    <a:lstStyle/>
                    <a:p>
                      <a:pPr algn="ctr">
                        <a:lnSpc>
                          <a:spcPct val="100000"/>
                        </a:lnSpc>
                      </a:pPr>
                      <a:r>
                        <a:rPr sz="1100" b="0">
                          <a:solidFill>
                            <a:srgbClr val="333433"/>
                          </a:solidFill>
                          <a:latin typeface="Calibri"/>
                        </a:rPr>
                        <a:t>98.70%</a:t>
                      </a:r>
                    </a:p>
                  </a:txBody>
                  <a:tcPr anchor="ctr" marL="82296" marR="64008" marT="18288" marB="18288">
                    <a:solidFill>
                      <a:srgbClr val="F2E5DF"/>
                    </a:solidFill>
                  </a:tcPr>
                </a:tc>
              </a:tr>
              <a:tr h="402336">
                <a:tc>
                  <a:txBody>
                    <a:bodyPr/>
                    <a:lstStyle/>
                    <a:p>
                      <a:pPr>
                        <a:lnSpc>
                          <a:spcPct val="100000"/>
                        </a:lnSpc>
                      </a:pPr>
                      <a:r>
                        <a:rPr sz="1100" b="0">
                          <a:solidFill>
                            <a:srgbClr val="333433"/>
                          </a:solidFill>
                          <a:latin typeface="Calibri"/>
                        </a:rPr>
                        <a:t>Most false positives</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0.30</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38.28%</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14,162</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98</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99.78%</a:t>
                      </a:r>
                    </a:p>
                  </a:txBody>
                  <a:tcPr anchor="ctr" marL="82296" marR="64008" marT="18288" marB="18288">
                    <a:solidFill>
                      <a:srgbClr val="FFFFFF"/>
                    </a:solidFill>
                  </a:tcPr>
                </a:tc>
              </a:tr>
            </a:tbl>
          </a:graphicData>
        </a:graphic>
      </p:graphicFrame>
      <p:sp>
        <p:nvSpPr>
          <p:cNvPr id="14" name="Rectangle 13"/>
          <p:cNvSpPr/>
          <p:nvPr/>
        </p:nvSpPr>
        <p:spPr>
          <a:xfrm>
            <a:off x="841248" y="4974336"/>
            <a:ext cx="10506456" cy="1042415"/>
          </a:xfrm>
          <a:prstGeom prst="rect">
            <a:avLst/>
          </a:prstGeom>
          <a:solidFill>
            <a:srgbClr val="F2E5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41248" y="4974336"/>
            <a:ext cx="45720" cy="1042415"/>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60704" y="5120640"/>
            <a:ext cx="10085832" cy="237744"/>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C75324"/>
                </a:solidFill>
                <a:latin typeface="Century Gothic"/>
              </a:rPr>
              <a:t>READING THE LABELS</a:t>
            </a:r>
          </a:p>
        </p:txBody>
      </p:sp>
      <p:sp>
        <p:nvSpPr>
          <p:cNvPr id="17" name="TextBox 16"/>
          <p:cNvSpPr txBox="1"/>
          <p:nvPr/>
        </p:nvSpPr>
        <p:spPr>
          <a:xfrm>
            <a:off x="1060704" y="5376672"/>
            <a:ext cx="10085832" cy="475487"/>
          </a:xfrm>
          <a:prstGeom prst="rect">
            <a:avLst/>
          </a:prstGeom>
          <a:noFill/>
        </p:spPr>
        <p:txBody>
          <a:bodyPr wrap="square" anchor="t" lIns="0" rIns="0" tIns="0" bIns="0">
            <a:spAutoFit/>
          </a:bodyPr>
          <a:lstStyle/>
          <a:p>
            <a:pPr algn="l">
              <a:lnSpc>
                <a:spcPct val="116000"/>
              </a:lnSpc>
              <a:spcBef>
                <a:spcPts val="0"/>
              </a:spcBef>
              <a:spcAft>
                <a:spcPts val="0"/>
              </a:spcAft>
            </a:pPr>
            <a:r>
              <a:rPr sz="1100" b="0" i="1">
                <a:solidFill>
                  <a:srgbClr val="0C4E64"/>
                </a:solidFill>
                <a:latin typeface="Calibri"/>
              </a:rPr>
              <a:t>The scenario names are relative to each other, not operational judgements: 14.60% is not a low false positive rate by any operational standard. The three conditions span a 2.6-fold range in FPR while false negatives fall 21-fold, from 2,063 to 98.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Phase 2 — Developer-Centred Evaluation Process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D · METHODOLOGY</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17</a:t>
            </a:r>
          </a:p>
        </p:txBody>
      </p:sp>
      <p:sp>
        <p:nvSpPr>
          <p:cNvPr id="8" name="Rectangle 7"/>
          <p:cNvSpPr/>
          <p:nvPr/>
        </p:nvSpPr>
        <p:spPr>
          <a:xfrm>
            <a:off x="841248" y="2468880"/>
            <a:ext cx="5001768" cy="74980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41248" y="2468880"/>
            <a:ext cx="475488" cy="74980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94B0C9"/>
                </a:solidFill>
                <a:latin typeface="Century Gothic"/>
              </a:rPr>
              <a:t>1</a:t>
            </a:r>
          </a:p>
        </p:txBody>
      </p:sp>
      <p:sp>
        <p:nvSpPr>
          <p:cNvPr id="10" name="TextBox 9"/>
          <p:cNvSpPr txBox="1"/>
          <p:nvPr/>
        </p:nvSpPr>
        <p:spPr>
          <a:xfrm>
            <a:off x="1481328" y="2569464"/>
            <a:ext cx="4215384"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Alert material</a:t>
            </a:r>
          </a:p>
          <a:p>
            <a:pPr algn="l">
              <a:lnSpc>
                <a:spcPct val="105000"/>
              </a:lnSpc>
              <a:spcBef>
                <a:spcPts val="0"/>
              </a:spcBef>
              <a:spcAft>
                <a:spcPts val="0"/>
              </a:spcAft>
            </a:pPr>
            <a:r>
              <a:rPr sz="950" b="0" i="0">
                <a:solidFill>
                  <a:srgbClr val="6E767B"/>
                </a:solidFill>
                <a:latin typeface="Calibri"/>
              </a:rPr>
              <a:t>Generated in Phase 1 at three measured false positive rates</a:t>
            </a:r>
          </a:p>
        </p:txBody>
      </p:sp>
      <p:sp>
        <p:nvSpPr>
          <p:cNvPr id="11" name="Rectangle 10"/>
          <p:cNvSpPr/>
          <p:nvPr/>
        </p:nvSpPr>
        <p:spPr>
          <a:xfrm>
            <a:off x="841248" y="3328416"/>
            <a:ext cx="5001768" cy="74980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41248" y="3328416"/>
            <a:ext cx="475488" cy="74980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94B0C9"/>
                </a:solidFill>
                <a:latin typeface="Century Gothic"/>
              </a:rPr>
              <a:t>2</a:t>
            </a:r>
          </a:p>
        </p:txBody>
      </p:sp>
      <p:sp>
        <p:nvSpPr>
          <p:cNvPr id="13" name="TextBox 12"/>
          <p:cNvSpPr txBox="1"/>
          <p:nvPr/>
        </p:nvSpPr>
        <p:spPr>
          <a:xfrm>
            <a:off x="1481328" y="3429000"/>
            <a:ext cx="4215384"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Survey design</a:t>
            </a:r>
          </a:p>
          <a:p>
            <a:pPr algn="l">
              <a:lnSpc>
                <a:spcPct val="105000"/>
              </a:lnSpc>
              <a:spcBef>
                <a:spcPts val="0"/>
              </a:spcBef>
              <a:spcAft>
                <a:spcPts val="0"/>
              </a:spcAft>
            </a:pPr>
            <a:r>
              <a:rPr sz="950" b="0" i="0">
                <a:solidFill>
                  <a:srgbClr val="6E767B"/>
                </a:solidFill>
                <a:latin typeface="Calibri"/>
              </a:rPr>
              <a:t>Google Forms; 14 Likert items and four open-ended questions</a:t>
            </a:r>
          </a:p>
        </p:txBody>
      </p:sp>
      <p:sp>
        <p:nvSpPr>
          <p:cNvPr id="14" name="Rectangle 13"/>
          <p:cNvSpPr/>
          <p:nvPr/>
        </p:nvSpPr>
        <p:spPr>
          <a:xfrm>
            <a:off x="841248" y="4187952"/>
            <a:ext cx="5001768" cy="74980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41248" y="4187952"/>
            <a:ext cx="475488" cy="74980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94B0C9"/>
                </a:solidFill>
                <a:latin typeface="Century Gothic"/>
              </a:rPr>
              <a:t>3</a:t>
            </a:r>
          </a:p>
        </p:txBody>
      </p:sp>
      <p:sp>
        <p:nvSpPr>
          <p:cNvPr id="16" name="TextBox 15"/>
          <p:cNvSpPr txBox="1"/>
          <p:nvPr/>
        </p:nvSpPr>
        <p:spPr>
          <a:xfrm>
            <a:off x="1481328" y="4288536"/>
            <a:ext cx="4215384"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Participant recruitment</a:t>
            </a:r>
          </a:p>
          <a:p>
            <a:pPr algn="l">
              <a:lnSpc>
                <a:spcPct val="105000"/>
              </a:lnSpc>
              <a:spcBef>
                <a:spcPts val="0"/>
              </a:spcBef>
              <a:spcAft>
                <a:spcPts val="0"/>
              </a:spcAft>
            </a:pPr>
            <a:r>
              <a:rPr sz="950" b="0" i="0">
                <a:solidFill>
                  <a:srgbClr val="6E767B"/>
                </a:solidFill>
                <a:latin typeface="Calibri"/>
              </a:rPr>
              <a:t>15 participants via convenience sampling</a:t>
            </a:r>
          </a:p>
        </p:txBody>
      </p:sp>
      <p:sp>
        <p:nvSpPr>
          <p:cNvPr id="17" name="Rectangle 16"/>
          <p:cNvSpPr/>
          <p:nvPr/>
        </p:nvSpPr>
        <p:spPr>
          <a:xfrm>
            <a:off x="841248" y="5047488"/>
            <a:ext cx="5001768" cy="74980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41248" y="5047488"/>
            <a:ext cx="475488" cy="74980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94B0C9"/>
                </a:solidFill>
                <a:latin typeface="Century Gothic"/>
              </a:rPr>
              <a:t>4</a:t>
            </a:r>
          </a:p>
        </p:txBody>
      </p:sp>
      <p:sp>
        <p:nvSpPr>
          <p:cNvPr id="19" name="TextBox 18"/>
          <p:cNvSpPr txBox="1"/>
          <p:nvPr/>
        </p:nvSpPr>
        <p:spPr>
          <a:xfrm>
            <a:off x="1481328" y="5148072"/>
            <a:ext cx="4215384"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Alert review</a:t>
            </a:r>
          </a:p>
          <a:p>
            <a:pPr algn="l">
              <a:lnSpc>
                <a:spcPct val="105000"/>
              </a:lnSpc>
              <a:spcBef>
                <a:spcPts val="0"/>
              </a:spcBef>
              <a:spcAft>
                <a:spcPts val="0"/>
              </a:spcAft>
            </a:pPr>
            <a:r>
              <a:rPr sz="950" b="0" i="0">
                <a:solidFill>
                  <a:srgbClr val="6E767B"/>
                </a:solidFill>
                <a:latin typeface="Calibri"/>
              </a:rPr>
              <a:t>Participants inspect the presented alert material</a:t>
            </a:r>
          </a:p>
        </p:txBody>
      </p:sp>
      <p:sp>
        <p:nvSpPr>
          <p:cNvPr id="20" name="Rectangle 19"/>
          <p:cNvSpPr/>
          <p:nvPr/>
        </p:nvSpPr>
        <p:spPr>
          <a:xfrm>
            <a:off x="6272784" y="2468880"/>
            <a:ext cx="5001768" cy="74980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72784" y="2468880"/>
            <a:ext cx="475488" cy="74980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FF7841"/>
                </a:solidFill>
                <a:latin typeface="Century Gothic"/>
              </a:rPr>
              <a:t>5</a:t>
            </a:r>
          </a:p>
        </p:txBody>
      </p:sp>
      <p:sp>
        <p:nvSpPr>
          <p:cNvPr id="22" name="TextBox 21"/>
          <p:cNvSpPr txBox="1"/>
          <p:nvPr/>
        </p:nvSpPr>
        <p:spPr>
          <a:xfrm>
            <a:off x="6912864" y="2569464"/>
            <a:ext cx="4215384"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Response collection</a:t>
            </a:r>
          </a:p>
          <a:p>
            <a:pPr algn="l">
              <a:lnSpc>
                <a:spcPct val="105000"/>
              </a:lnSpc>
              <a:spcBef>
                <a:spcPts val="0"/>
              </a:spcBef>
              <a:spcAft>
                <a:spcPts val="0"/>
              </a:spcAft>
            </a:pPr>
            <a:r>
              <a:rPr sz="950" b="0" i="0">
                <a:solidFill>
                  <a:srgbClr val="6E767B"/>
                </a:solidFill>
                <a:latin typeface="Calibri"/>
              </a:rPr>
              <a:t>Single set of ratings collected after review</a:t>
            </a:r>
          </a:p>
        </p:txBody>
      </p:sp>
      <p:sp>
        <p:nvSpPr>
          <p:cNvPr id="23" name="Rectangle 22"/>
          <p:cNvSpPr/>
          <p:nvPr/>
        </p:nvSpPr>
        <p:spPr>
          <a:xfrm>
            <a:off x="6272784" y="3328416"/>
            <a:ext cx="5001768" cy="74980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72784" y="3328416"/>
            <a:ext cx="475488" cy="74980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FF7841"/>
                </a:solidFill>
                <a:latin typeface="Century Gothic"/>
              </a:rPr>
              <a:t>6</a:t>
            </a:r>
          </a:p>
        </p:txBody>
      </p:sp>
      <p:sp>
        <p:nvSpPr>
          <p:cNvPr id="25" name="TextBox 24"/>
          <p:cNvSpPr txBox="1"/>
          <p:nvPr/>
        </p:nvSpPr>
        <p:spPr>
          <a:xfrm>
            <a:off x="6912864" y="3429000"/>
            <a:ext cx="4215384"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Quantitative analysis</a:t>
            </a:r>
          </a:p>
          <a:p>
            <a:pPr algn="l">
              <a:lnSpc>
                <a:spcPct val="105000"/>
              </a:lnSpc>
              <a:spcBef>
                <a:spcPts val="0"/>
              </a:spcBef>
              <a:spcAft>
                <a:spcPts val="0"/>
              </a:spcAft>
            </a:pPr>
            <a:r>
              <a:rPr sz="950" b="0" i="0">
                <a:solidFill>
                  <a:srgbClr val="6E767B"/>
                </a:solidFill>
                <a:latin typeface="Calibri"/>
              </a:rPr>
              <a:t>Frequencies, percentages and mean Likert scores</a:t>
            </a:r>
          </a:p>
        </p:txBody>
      </p:sp>
      <p:sp>
        <p:nvSpPr>
          <p:cNvPr id="26" name="Rectangle 25"/>
          <p:cNvSpPr/>
          <p:nvPr/>
        </p:nvSpPr>
        <p:spPr>
          <a:xfrm>
            <a:off x="6272784" y="4187952"/>
            <a:ext cx="5001768" cy="74980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272784" y="4187952"/>
            <a:ext cx="475488" cy="74980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FF7841"/>
                </a:solidFill>
                <a:latin typeface="Century Gothic"/>
              </a:rPr>
              <a:t>7</a:t>
            </a:r>
          </a:p>
        </p:txBody>
      </p:sp>
      <p:sp>
        <p:nvSpPr>
          <p:cNvPr id="28" name="TextBox 27"/>
          <p:cNvSpPr txBox="1"/>
          <p:nvPr/>
        </p:nvSpPr>
        <p:spPr>
          <a:xfrm>
            <a:off x="6912864" y="4288536"/>
            <a:ext cx="4215384"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Qualitative analysis</a:t>
            </a:r>
          </a:p>
          <a:p>
            <a:pPr algn="l">
              <a:lnSpc>
                <a:spcPct val="105000"/>
              </a:lnSpc>
              <a:spcBef>
                <a:spcPts val="0"/>
              </a:spcBef>
              <a:spcAft>
                <a:spcPts val="0"/>
              </a:spcAft>
            </a:pPr>
            <a:r>
              <a:rPr sz="950" b="0" i="0">
                <a:solidFill>
                  <a:srgbClr val="6E767B"/>
                </a:solidFill>
                <a:latin typeface="Calibri"/>
              </a:rPr>
              <a:t>Open-ended responses coded into themes</a:t>
            </a:r>
          </a:p>
        </p:txBody>
      </p:sp>
      <p:sp>
        <p:nvSpPr>
          <p:cNvPr id="29" name="Rectangle 28"/>
          <p:cNvSpPr/>
          <p:nvPr/>
        </p:nvSpPr>
        <p:spPr>
          <a:xfrm>
            <a:off x="6272784" y="5047488"/>
            <a:ext cx="5001768" cy="74980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72784" y="5047488"/>
            <a:ext cx="475488" cy="74980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FF7841"/>
                </a:solidFill>
                <a:latin typeface="Century Gothic"/>
              </a:rPr>
              <a:t>8</a:t>
            </a:r>
          </a:p>
        </p:txBody>
      </p:sp>
      <p:sp>
        <p:nvSpPr>
          <p:cNvPr id="31" name="TextBox 30"/>
          <p:cNvSpPr txBox="1"/>
          <p:nvPr/>
        </p:nvSpPr>
        <p:spPr>
          <a:xfrm>
            <a:off x="6912864" y="5148072"/>
            <a:ext cx="4215384" cy="56692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Synthesis</a:t>
            </a:r>
          </a:p>
          <a:p>
            <a:pPr algn="l">
              <a:lnSpc>
                <a:spcPct val="105000"/>
              </a:lnSpc>
              <a:spcBef>
                <a:spcPts val="0"/>
              </a:spcBef>
              <a:spcAft>
                <a:spcPts val="0"/>
              </a:spcAft>
            </a:pPr>
            <a:r>
              <a:rPr sz="950" b="0" i="0">
                <a:solidFill>
                  <a:srgbClr val="6E767B"/>
                </a:solidFill>
                <a:latin typeface="Calibri"/>
              </a:rPr>
              <a:t>Perceived effect of false positives on trust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Survey Design and Instrument</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D · METHODOLOGY</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Four constructs, fourteen Likert items, four open-ended questions</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18</a:t>
            </a:r>
          </a:p>
        </p:txBody>
      </p:sp>
      <p:sp>
        <p:nvSpPr>
          <p:cNvPr id="9" name="Rectangle 8"/>
          <p:cNvSpPr/>
          <p:nvPr/>
        </p:nvSpPr>
        <p:spPr>
          <a:xfrm>
            <a:off x="841248" y="2468880"/>
            <a:ext cx="6858000" cy="621792"/>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41248" y="2468880"/>
            <a:ext cx="45720" cy="621792"/>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0704" y="2551176"/>
            <a:ext cx="2834640" cy="475488"/>
          </a:xfrm>
          <a:prstGeom prst="rect">
            <a:avLst/>
          </a:prstGeom>
          <a:noFill/>
        </p:spPr>
        <p:txBody>
          <a:bodyPr wrap="square" anchor="t" lIns="0" rIns="0" tIns="0" bIns="0">
            <a:spAutoFit/>
          </a:bodyPr>
          <a:lstStyle/>
          <a:p>
            <a:pPr algn="l">
              <a:lnSpc>
                <a:spcPct val="115000"/>
              </a:lnSpc>
              <a:spcBef>
                <a:spcPts val="0"/>
              </a:spcBef>
              <a:spcAft>
                <a:spcPts val="0"/>
              </a:spcAft>
            </a:pPr>
            <a:r>
              <a:rPr sz="1150" b="1" i="0">
                <a:solidFill>
                  <a:srgbClr val="0C4E64"/>
                </a:solidFill>
                <a:latin typeface="Century Gothic"/>
              </a:rPr>
              <a:t>Trust in IDS Alerts</a:t>
            </a:r>
          </a:p>
        </p:txBody>
      </p:sp>
      <p:sp>
        <p:nvSpPr>
          <p:cNvPr id="12" name="TextBox 11"/>
          <p:cNvSpPr txBox="1"/>
          <p:nvPr/>
        </p:nvSpPr>
        <p:spPr>
          <a:xfrm>
            <a:off x="4041648" y="2523744"/>
            <a:ext cx="822960" cy="457200"/>
          </a:xfrm>
          <a:prstGeom prst="rect">
            <a:avLst/>
          </a:prstGeom>
          <a:noFill/>
        </p:spPr>
        <p:txBody>
          <a:bodyPr wrap="square" anchor="t" lIns="0" rIns="0" tIns="0" bIns="0">
            <a:spAutoFit/>
          </a:bodyPr>
          <a:lstStyle/>
          <a:p>
            <a:pPr algn="l">
              <a:lnSpc>
                <a:spcPct val="115000"/>
              </a:lnSpc>
              <a:spcBef>
                <a:spcPts val="0"/>
              </a:spcBef>
              <a:spcAft>
                <a:spcPts val="0"/>
              </a:spcAft>
            </a:pPr>
            <a:r>
              <a:rPr sz="1050" b="1" i="0">
                <a:solidFill>
                  <a:srgbClr val="0C4E64"/>
                </a:solidFill>
                <a:latin typeface="Century Gothic"/>
              </a:rPr>
              <a:t>Q1 – Q3</a:t>
            </a:r>
          </a:p>
        </p:txBody>
      </p:sp>
      <p:sp>
        <p:nvSpPr>
          <p:cNvPr id="13" name="TextBox 12"/>
          <p:cNvSpPr txBox="1"/>
          <p:nvPr/>
        </p:nvSpPr>
        <p:spPr>
          <a:xfrm>
            <a:off x="4956048" y="2542032"/>
            <a:ext cx="2651760" cy="475488"/>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6E767B"/>
                </a:solidFill>
                <a:latin typeface="Calibri"/>
              </a:rPr>
              <a:t>Trust, reliability, support for maintenance decisions</a:t>
            </a:r>
          </a:p>
        </p:txBody>
      </p:sp>
      <p:sp>
        <p:nvSpPr>
          <p:cNvPr id="14" name="Rectangle 13"/>
          <p:cNvSpPr/>
          <p:nvPr/>
        </p:nvSpPr>
        <p:spPr>
          <a:xfrm>
            <a:off x="841248" y="3182112"/>
            <a:ext cx="6858000" cy="621792"/>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41248" y="3182112"/>
            <a:ext cx="45720" cy="6217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60704" y="3264408"/>
            <a:ext cx="2834640" cy="475488"/>
          </a:xfrm>
          <a:prstGeom prst="rect">
            <a:avLst/>
          </a:prstGeom>
          <a:noFill/>
        </p:spPr>
        <p:txBody>
          <a:bodyPr wrap="square" anchor="t" lIns="0" rIns="0" tIns="0" bIns="0">
            <a:spAutoFit/>
          </a:bodyPr>
          <a:lstStyle/>
          <a:p>
            <a:pPr algn="l">
              <a:lnSpc>
                <a:spcPct val="115000"/>
              </a:lnSpc>
              <a:spcBef>
                <a:spcPts val="0"/>
              </a:spcBef>
              <a:spcAft>
                <a:spcPts val="0"/>
              </a:spcAft>
            </a:pPr>
            <a:r>
              <a:rPr sz="1150" b="1" i="0">
                <a:solidFill>
                  <a:srgbClr val="0C4E64"/>
                </a:solidFill>
                <a:latin typeface="Century Gothic"/>
              </a:rPr>
              <a:t>Impact of False Positives</a:t>
            </a:r>
          </a:p>
        </p:txBody>
      </p:sp>
      <p:sp>
        <p:nvSpPr>
          <p:cNvPr id="17" name="TextBox 16"/>
          <p:cNvSpPr txBox="1"/>
          <p:nvPr/>
        </p:nvSpPr>
        <p:spPr>
          <a:xfrm>
            <a:off x="4041648" y="3236976"/>
            <a:ext cx="822960" cy="457200"/>
          </a:xfrm>
          <a:prstGeom prst="rect">
            <a:avLst/>
          </a:prstGeom>
          <a:noFill/>
        </p:spPr>
        <p:txBody>
          <a:bodyPr wrap="square" anchor="t" lIns="0" rIns="0" tIns="0" bIns="0">
            <a:spAutoFit/>
          </a:bodyPr>
          <a:lstStyle/>
          <a:p>
            <a:pPr algn="l">
              <a:lnSpc>
                <a:spcPct val="115000"/>
              </a:lnSpc>
              <a:spcBef>
                <a:spcPts val="0"/>
              </a:spcBef>
              <a:spcAft>
                <a:spcPts val="0"/>
              </a:spcAft>
            </a:pPr>
            <a:r>
              <a:rPr sz="1050" b="1" i="0">
                <a:solidFill>
                  <a:srgbClr val="FF7841"/>
                </a:solidFill>
                <a:latin typeface="Century Gothic"/>
              </a:rPr>
              <a:t>Q4 – Q7</a:t>
            </a:r>
          </a:p>
        </p:txBody>
      </p:sp>
      <p:sp>
        <p:nvSpPr>
          <p:cNvPr id="18" name="TextBox 17"/>
          <p:cNvSpPr txBox="1"/>
          <p:nvPr/>
        </p:nvSpPr>
        <p:spPr>
          <a:xfrm>
            <a:off x="4956048" y="3255264"/>
            <a:ext cx="2651760" cy="475488"/>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6E767B"/>
                </a:solidFill>
                <a:latin typeface="Calibri"/>
              </a:rPr>
              <a:t>Agreement that false alarms reduce trust and reliance</a:t>
            </a:r>
          </a:p>
        </p:txBody>
      </p:sp>
      <p:sp>
        <p:nvSpPr>
          <p:cNvPr id="19" name="Rectangle 18"/>
          <p:cNvSpPr/>
          <p:nvPr/>
        </p:nvSpPr>
        <p:spPr>
          <a:xfrm>
            <a:off x="841248" y="3895344"/>
            <a:ext cx="6858000" cy="621792"/>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41248" y="3895344"/>
            <a:ext cx="45720" cy="621792"/>
          </a:xfrm>
          <a:prstGeom prst="rect">
            <a:avLst/>
          </a:prstGeom>
          <a:solidFill>
            <a:srgbClr val="94B0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60704" y="3977640"/>
            <a:ext cx="2834640" cy="475488"/>
          </a:xfrm>
          <a:prstGeom prst="rect">
            <a:avLst/>
          </a:prstGeom>
          <a:noFill/>
        </p:spPr>
        <p:txBody>
          <a:bodyPr wrap="square" anchor="t" lIns="0" rIns="0" tIns="0" bIns="0">
            <a:spAutoFit/>
          </a:bodyPr>
          <a:lstStyle/>
          <a:p>
            <a:pPr algn="l">
              <a:lnSpc>
                <a:spcPct val="115000"/>
              </a:lnSpc>
              <a:spcBef>
                <a:spcPts val="0"/>
              </a:spcBef>
              <a:spcAft>
                <a:spcPts val="0"/>
              </a:spcAft>
            </a:pPr>
            <a:r>
              <a:rPr sz="1150" b="1" i="0">
                <a:solidFill>
                  <a:srgbClr val="0C4E64"/>
                </a:solidFill>
                <a:latin typeface="Century Gothic"/>
              </a:rPr>
              <a:t>Alert Usefulness and Clarity</a:t>
            </a:r>
          </a:p>
        </p:txBody>
      </p:sp>
      <p:sp>
        <p:nvSpPr>
          <p:cNvPr id="22" name="TextBox 21"/>
          <p:cNvSpPr txBox="1"/>
          <p:nvPr/>
        </p:nvSpPr>
        <p:spPr>
          <a:xfrm>
            <a:off x="4041648" y="3950208"/>
            <a:ext cx="822960" cy="457200"/>
          </a:xfrm>
          <a:prstGeom prst="rect">
            <a:avLst/>
          </a:prstGeom>
          <a:noFill/>
        </p:spPr>
        <p:txBody>
          <a:bodyPr wrap="square" anchor="t" lIns="0" rIns="0" tIns="0" bIns="0">
            <a:spAutoFit/>
          </a:bodyPr>
          <a:lstStyle/>
          <a:p>
            <a:pPr algn="l">
              <a:lnSpc>
                <a:spcPct val="115000"/>
              </a:lnSpc>
              <a:spcBef>
                <a:spcPts val="0"/>
              </a:spcBef>
              <a:spcAft>
                <a:spcPts val="0"/>
              </a:spcAft>
            </a:pPr>
            <a:r>
              <a:rPr sz="1050" b="1" i="0">
                <a:solidFill>
                  <a:srgbClr val="94B0C9"/>
                </a:solidFill>
                <a:latin typeface="Century Gothic"/>
              </a:rPr>
              <a:t>Q8 – Q11</a:t>
            </a:r>
          </a:p>
        </p:txBody>
      </p:sp>
      <p:sp>
        <p:nvSpPr>
          <p:cNvPr id="23" name="TextBox 22"/>
          <p:cNvSpPr txBox="1"/>
          <p:nvPr/>
        </p:nvSpPr>
        <p:spPr>
          <a:xfrm>
            <a:off x="4956048" y="3968496"/>
            <a:ext cx="2651760" cy="475488"/>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6E767B"/>
                </a:solidFill>
                <a:latin typeface="Calibri"/>
              </a:rPr>
              <a:t>Understandability, usefulness, prioritisation, decisions</a:t>
            </a:r>
          </a:p>
        </p:txBody>
      </p:sp>
      <p:sp>
        <p:nvSpPr>
          <p:cNvPr id="24" name="Rectangle 23"/>
          <p:cNvSpPr/>
          <p:nvPr/>
        </p:nvSpPr>
        <p:spPr>
          <a:xfrm>
            <a:off x="841248" y="4608576"/>
            <a:ext cx="6858000" cy="621792"/>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41248" y="4608576"/>
            <a:ext cx="45720" cy="621792"/>
          </a:xfrm>
          <a:prstGeom prst="rect">
            <a:avLst/>
          </a:prstGeom>
          <a:solidFill>
            <a:srgbClr val="083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60704" y="4690872"/>
            <a:ext cx="2834640" cy="475488"/>
          </a:xfrm>
          <a:prstGeom prst="rect">
            <a:avLst/>
          </a:prstGeom>
          <a:noFill/>
        </p:spPr>
        <p:txBody>
          <a:bodyPr wrap="square" anchor="t" lIns="0" rIns="0" tIns="0" bIns="0">
            <a:spAutoFit/>
          </a:bodyPr>
          <a:lstStyle/>
          <a:p>
            <a:pPr algn="l">
              <a:lnSpc>
                <a:spcPct val="115000"/>
              </a:lnSpc>
              <a:spcBef>
                <a:spcPts val="0"/>
              </a:spcBef>
              <a:spcAft>
                <a:spcPts val="0"/>
              </a:spcAft>
            </a:pPr>
            <a:r>
              <a:rPr sz="1150" b="1" i="0">
                <a:solidFill>
                  <a:srgbClr val="0C4E64"/>
                </a:solidFill>
                <a:latin typeface="Century Gothic"/>
              </a:rPr>
              <a:t>Adoption and Acceptance</a:t>
            </a:r>
          </a:p>
        </p:txBody>
      </p:sp>
      <p:sp>
        <p:nvSpPr>
          <p:cNvPr id="27" name="TextBox 26"/>
          <p:cNvSpPr txBox="1"/>
          <p:nvPr/>
        </p:nvSpPr>
        <p:spPr>
          <a:xfrm>
            <a:off x="4041648" y="4663440"/>
            <a:ext cx="822960" cy="457200"/>
          </a:xfrm>
          <a:prstGeom prst="rect">
            <a:avLst/>
          </a:prstGeom>
          <a:noFill/>
        </p:spPr>
        <p:txBody>
          <a:bodyPr wrap="square" anchor="t" lIns="0" rIns="0" tIns="0" bIns="0">
            <a:spAutoFit/>
          </a:bodyPr>
          <a:lstStyle/>
          <a:p>
            <a:pPr algn="l">
              <a:lnSpc>
                <a:spcPct val="115000"/>
              </a:lnSpc>
              <a:spcBef>
                <a:spcPts val="0"/>
              </a:spcBef>
              <a:spcAft>
                <a:spcPts val="0"/>
              </a:spcAft>
            </a:pPr>
            <a:r>
              <a:rPr sz="1050" b="1" i="0">
                <a:solidFill>
                  <a:srgbClr val="083646"/>
                </a:solidFill>
                <a:latin typeface="Century Gothic"/>
              </a:rPr>
              <a:t>Q12 – Q14</a:t>
            </a:r>
          </a:p>
        </p:txBody>
      </p:sp>
      <p:sp>
        <p:nvSpPr>
          <p:cNvPr id="28" name="TextBox 27"/>
          <p:cNvSpPr txBox="1"/>
          <p:nvPr/>
        </p:nvSpPr>
        <p:spPr>
          <a:xfrm>
            <a:off x="4956048" y="4681728"/>
            <a:ext cx="2651760" cy="475488"/>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6E767B"/>
                </a:solidFill>
                <a:latin typeface="Calibri"/>
              </a:rPr>
              <a:t>Willingness to use, benefit trade-off, recommendation</a:t>
            </a:r>
          </a:p>
        </p:txBody>
      </p:sp>
      <p:sp>
        <p:nvSpPr>
          <p:cNvPr id="29" name="Rectangle 28"/>
          <p:cNvSpPr/>
          <p:nvPr/>
        </p:nvSpPr>
        <p:spPr>
          <a:xfrm>
            <a:off x="7955279" y="2468880"/>
            <a:ext cx="3392424" cy="146304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7955279" y="2468880"/>
            <a:ext cx="45720" cy="146304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193023" y="2651760"/>
            <a:ext cx="2971800"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FF7841"/>
                </a:solidFill>
                <a:latin typeface="Century Gothic"/>
              </a:rPr>
              <a:t>QUANTITATIVE</a:t>
            </a:r>
          </a:p>
        </p:txBody>
      </p:sp>
      <p:sp>
        <p:nvSpPr>
          <p:cNvPr id="32" name="TextBox 31"/>
          <p:cNvSpPr txBox="1"/>
          <p:nvPr/>
        </p:nvSpPr>
        <p:spPr>
          <a:xfrm>
            <a:off x="8193023" y="2889504"/>
            <a:ext cx="2971800"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Likert scale</a:t>
            </a:r>
          </a:p>
        </p:txBody>
      </p:sp>
      <p:sp>
        <p:nvSpPr>
          <p:cNvPr id="33" name="TextBox 32"/>
          <p:cNvSpPr txBox="1"/>
          <p:nvPr/>
        </p:nvSpPr>
        <p:spPr>
          <a:xfrm>
            <a:off x="8193023" y="3163824"/>
            <a:ext cx="2971800" cy="658368"/>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333433"/>
                </a:solidFill>
                <a:latin typeface="Calibri"/>
              </a:rPr>
              <a:t>1 — Strongly disagree</a:t>
            </a:r>
          </a:p>
          <a:p>
            <a:pPr algn="l">
              <a:lnSpc>
                <a:spcPct val="110000"/>
              </a:lnSpc>
              <a:spcBef>
                <a:spcPts val="0"/>
              </a:spcBef>
              <a:spcAft>
                <a:spcPts val="400"/>
              </a:spcAft>
            </a:pPr>
            <a:r>
              <a:rPr sz="1000" b="0" i="0">
                <a:solidFill>
                  <a:srgbClr val="333433"/>
                </a:solidFill>
                <a:latin typeface="Calibri"/>
              </a:rPr>
              <a:t>3 — Neither agree nor disagree</a:t>
            </a:r>
          </a:p>
          <a:p>
            <a:pPr algn="l">
              <a:lnSpc>
                <a:spcPct val="110000"/>
              </a:lnSpc>
              <a:spcBef>
                <a:spcPts val="0"/>
              </a:spcBef>
              <a:spcAft>
                <a:spcPts val="400"/>
              </a:spcAft>
            </a:pPr>
            <a:r>
              <a:rPr sz="1000" b="0" i="0">
                <a:solidFill>
                  <a:srgbClr val="333433"/>
                </a:solidFill>
                <a:latin typeface="Calibri"/>
              </a:rPr>
              <a:t>5 — Strongly agree</a:t>
            </a:r>
          </a:p>
        </p:txBody>
      </p:sp>
      <p:sp>
        <p:nvSpPr>
          <p:cNvPr id="34" name="Rectangle 33"/>
          <p:cNvSpPr/>
          <p:nvPr/>
        </p:nvSpPr>
        <p:spPr>
          <a:xfrm>
            <a:off x="7955279" y="4114800"/>
            <a:ext cx="3392424" cy="1901952"/>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955279" y="4114800"/>
            <a:ext cx="45720" cy="1901952"/>
          </a:xfrm>
          <a:prstGeom prst="rect">
            <a:avLst/>
          </a:prstGeom>
          <a:solidFill>
            <a:srgbClr val="94B0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193023" y="4297680"/>
            <a:ext cx="2971800"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94B0C9"/>
                </a:solidFill>
                <a:latin typeface="Century Gothic"/>
              </a:rPr>
              <a:t>QUALITATIVE</a:t>
            </a:r>
          </a:p>
        </p:txBody>
      </p:sp>
      <p:sp>
        <p:nvSpPr>
          <p:cNvPr id="37" name="TextBox 36"/>
          <p:cNvSpPr txBox="1"/>
          <p:nvPr/>
        </p:nvSpPr>
        <p:spPr>
          <a:xfrm>
            <a:off x="8193023" y="4535424"/>
            <a:ext cx="2971800"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Open-ended questions</a:t>
            </a:r>
          </a:p>
        </p:txBody>
      </p:sp>
      <p:sp>
        <p:nvSpPr>
          <p:cNvPr id="38" name="TextBox 37"/>
          <p:cNvSpPr txBox="1"/>
          <p:nvPr/>
        </p:nvSpPr>
        <p:spPr>
          <a:xfrm>
            <a:off x="8193023" y="4809744"/>
            <a:ext cx="2971800" cy="1097280"/>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333433"/>
                </a:solidFill>
                <a:latin typeface="Calibri"/>
              </a:rPr>
              <a:t>What increases your trust in an IDS?</a:t>
            </a:r>
          </a:p>
          <a:p>
            <a:pPr algn="l">
              <a:lnSpc>
                <a:spcPct val="110000"/>
              </a:lnSpc>
              <a:spcBef>
                <a:spcPts val="0"/>
              </a:spcBef>
              <a:spcAft>
                <a:spcPts val="400"/>
              </a:spcAft>
            </a:pPr>
            <a:r>
              <a:rPr sz="1000" b="0" i="0">
                <a:solidFill>
                  <a:srgbClr val="333433"/>
                </a:solidFill>
                <a:latin typeface="Calibri"/>
              </a:rPr>
              <a:t>Which aspects of the alerts were most useful?</a:t>
            </a:r>
          </a:p>
          <a:p>
            <a:pPr algn="l">
              <a:lnSpc>
                <a:spcPct val="110000"/>
              </a:lnSpc>
              <a:spcBef>
                <a:spcPts val="0"/>
              </a:spcBef>
              <a:spcAft>
                <a:spcPts val="400"/>
              </a:spcAft>
            </a:pPr>
            <a:r>
              <a:rPr sz="1000" b="0" i="0">
                <a:solidFill>
                  <a:srgbClr val="333433"/>
                </a:solidFill>
                <a:latin typeface="Calibri"/>
              </a:rPr>
              <a:t>What challenges did you experience?</a:t>
            </a:r>
          </a:p>
          <a:p>
            <a:pPr algn="l">
              <a:lnSpc>
                <a:spcPct val="110000"/>
              </a:lnSpc>
              <a:spcBef>
                <a:spcPts val="0"/>
              </a:spcBef>
              <a:spcAft>
                <a:spcPts val="400"/>
              </a:spcAft>
            </a:pPr>
            <a:r>
              <a:rPr sz="1000" b="0" i="0">
                <a:solidFill>
                  <a:srgbClr val="333433"/>
                </a:solidFill>
                <a:latin typeface="Calibri"/>
              </a:rPr>
              <a:t>How could alerts be improved?</a:t>
            </a:r>
          </a:p>
        </p:txBody>
      </p:sp>
      <p:sp>
        <p:nvSpPr>
          <p:cNvPr id="39" name="TextBox 38"/>
          <p:cNvSpPr txBox="1"/>
          <p:nvPr/>
        </p:nvSpPr>
        <p:spPr>
          <a:xfrm>
            <a:off x="841248" y="5486400"/>
            <a:ext cx="6858000" cy="457200"/>
          </a:xfrm>
          <a:prstGeom prst="rect">
            <a:avLst/>
          </a:prstGeom>
          <a:noFill/>
        </p:spPr>
        <p:txBody>
          <a:bodyPr wrap="square" anchor="t" lIns="0" rIns="0" tIns="0" bIns="0">
            <a:spAutoFit/>
          </a:bodyPr>
          <a:lstStyle/>
          <a:p>
            <a:pPr algn="l">
              <a:lnSpc>
                <a:spcPct val="115000"/>
              </a:lnSpc>
              <a:spcBef>
                <a:spcPts val="0"/>
              </a:spcBef>
              <a:spcAft>
                <a:spcPts val="0"/>
              </a:spcAft>
            </a:pPr>
            <a:r>
              <a:rPr sz="1000" b="0" i="1">
                <a:solidFill>
                  <a:srgbClr val="C75324"/>
                </a:solidFill>
                <a:latin typeface="Calibri"/>
              </a:rPr>
              <a:t>Q4–Q7 ask for agreement with general statements about false positives, so they measure considered opinion rather than a measured change in trust.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Participants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D · METHODOLOGY</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15 participants with software development knowledge and experience</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19</a:t>
            </a:r>
          </a:p>
        </p:txBody>
      </p:sp>
      <p:sp>
        <p:nvSpPr>
          <p:cNvPr id="9" name="Rectangle 8"/>
          <p:cNvSpPr/>
          <p:nvPr/>
        </p:nvSpPr>
        <p:spPr>
          <a:xfrm>
            <a:off x="841248" y="2468880"/>
            <a:ext cx="2532888" cy="1225296"/>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41248" y="2468880"/>
            <a:ext cx="2532888"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32688" y="2596896"/>
            <a:ext cx="937168" cy="1005840"/>
          </a:xfrm>
          <a:prstGeom prst="rect">
            <a:avLst/>
          </a:prstGeom>
          <a:noFill/>
        </p:spPr>
        <p:txBody>
          <a:bodyPr wrap="square" anchor="ctr" lIns="0" rIns="0" tIns="0" bIns="0">
            <a:spAutoFit/>
          </a:bodyPr>
          <a:lstStyle/>
          <a:p>
            <a:pPr algn="ctr">
              <a:lnSpc>
                <a:spcPct val="100000"/>
              </a:lnSpc>
              <a:spcBef>
                <a:spcPts val="0"/>
              </a:spcBef>
              <a:spcAft>
                <a:spcPts val="0"/>
              </a:spcAft>
            </a:pPr>
            <a:r>
              <a:rPr sz="2400" b="1" i="0">
                <a:solidFill>
                  <a:srgbClr val="FFFFFF"/>
                </a:solidFill>
                <a:latin typeface="Century Gothic"/>
              </a:rPr>
              <a:t>15</a:t>
            </a:r>
          </a:p>
        </p:txBody>
      </p:sp>
      <p:sp>
        <p:nvSpPr>
          <p:cNvPr id="12" name="TextBox 11"/>
          <p:cNvSpPr txBox="1"/>
          <p:nvPr/>
        </p:nvSpPr>
        <p:spPr>
          <a:xfrm>
            <a:off x="1869856" y="2596896"/>
            <a:ext cx="1376264" cy="1005840"/>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PARTICIPANTS</a:t>
            </a:r>
          </a:p>
          <a:p>
            <a:pPr algn="l">
              <a:lnSpc>
                <a:spcPct val="105000"/>
              </a:lnSpc>
              <a:spcBef>
                <a:spcPts val="0"/>
              </a:spcBef>
              <a:spcAft>
                <a:spcPts val="0"/>
              </a:spcAft>
            </a:pPr>
            <a:r>
              <a:rPr sz="850" b="0" i="0">
                <a:solidFill>
                  <a:srgbClr val="94B0C9"/>
                </a:solidFill>
                <a:latin typeface="Calibri"/>
              </a:rPr>
              <a:t>All completed in full</a:t>
            </a:r>
          </a:p>
        </p:txBody>
      </p:sp>
      <p:sp>
        <p:nvSpPr>
          <p:cNvPr id="13" name="Rectangle 12"/>
          <p:cNvSpPr/>
          <p:nvPr/>
        </p:nvSpPr>
        <p:spPr>
          <a:xfrm>
            <a:off x="3456432" y="2468880"/>
            <a:ext cx="2532888" cy="1225296"/>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456432" y="2468880"/>
            <a:ext cx="2532888"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547872" y="2596896"/>
            <a:ext cx="937168" cy="1005840"/>
          </a:xfrm>
          <a:prstGeom prst="rect">
            <a:avLst/>
          </a:prstGeom>
          <a:noFill/>
        </p:spPr>
        <p:txBody>
          <a:bodyPr wrap="square" anchor="ctr" lIns="0" rIns="0" tIns="0" bIns="0">
            <a:spAutoFit/>
          </a:bodyPr>
          <a:lstStyle/>
          <a:p>
            <a:pPr algn="ctr">
              <a:lnSpc>
                <a:spcPct val="100000"/>
              </a:lnSpc>
              <a:spcBef>
                <a:spcPts val="0"/>
              </a:spcBef>
              <a:spcAft>
                <a:spcPts val="0"/>
              </a:spcAft>
            </a:pPr>
            <a:r>
              <a:rPr sz="2400" b="1" i="0">
                <a:solidFill>
                  <a:srgbClr val="FFFFFF"/>
                </a:solidFill>
                <a:latin typeface="Century Gothic"/>
              </a:rPr>
              <a:t>100%</a:t>
            </a:r>
          </a:p>
        </p:txBody>
      </p:sp>
      <p:sp>
        <p:nvSpPr>
          <p:cNvPr id="16" name="TextBox 15"/>
          <p:cNvSpPr txBox="1"/>
          <p:nvPr/>
        </p:nvSpPr>
        <p:spPr>
          <a:xfrm>
            <a:off x="4485040" y="2596896"/>
            <a:ext cx="1376264" cy="1005840"/>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FAMILIAR WITH SECURITY TOOLS</a:t>
            </a:r>
          </a:p>
          <a:p>
            <a:pPr algn="l">
              <a:lnSpc>
                <a:spcPct val="105000"/>
              </a:lnSpc>
              <a:spcBef>
                <a:spcPts val="0"/>
              </a:spcBef>
              <a:spcAft>
                <a:spcPts val="0"/>
              </a:spcAft>
            </a:pPr>
            <a:r>
              <a:rPr sz="850" b="0" i="0">
                <a:solidFill>
                  <a:srgbClr val="94B0C9"/>
                </a:solidFill>
                <a:latin typeface="Calibri"/>
              </a:rPr>
              <a:t>As asked on the form</a:t>
            </a:r>
          </a:p>
        </p:txBody>
      </p:sp>
      <p:sp>
        <p:nvSpPr>
          <p:cNvPr id="17" name="Rectangle 16"/>
          <p:cNvSpPr/>
          <p:nvPr/>
        </p:nvSpPr>
        <p:spPr>
          <a:xfrm>
            <a:off x="6071616" y="2468880"/>
            <a:ext cx="2532888" cy="1225296"/>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071616" y="2468880"/>
            <a:ext cx="2532888"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163056" y="2596896"/>
            <a:ext cx="937168" cy="1005840"/>
          </a:xfrm>
          <a:prstGeom prst="rect">
            <a:avLst/>
          </a:prstGeom>
          <a:noFill/>
        </p:spPr>
        <p:txBody>
          <a:bodyPr wrap="square" anchor="ctr" lIns="0" rIns="0" tIns="0" bIns="0">
            <a:spAutoFit/>
          </a:bodyPr>
          <a:lstStyle/>
          <a:p>
            <a:pPr algn="ctr">
              <a:lnSpc>
                <a:spcPct val="100000"/>
              </a:lnSpc>
              <a:spcBef>
                <a:spcPts val="0"/>
              </a:spcBef>
              <a:spcAft>
                <a:spcPts val="0"/>
              </a:spcAft>
            </a:pPr>
            <a:r>
              <a:rPr sz="2400" b="1" i="0">
                <a:solidFill>
                  <a:srgbClr val="FFFFFF"/>
                </a:solidFill>
                <a:latin typeface="Century Gothic"/>
              </a:rPr>
              <a:t>40%</a:t>
            </a:r>
          </a:p>
        </p:txBody>
      </p:sp>
      <p:sp>
        <p:nvSpPr>
          <p:cNvPr id="20" name="TextBox 19"/>
          <p:cNvSpPr txBox="1"/>
          <p:nvPr/>
        </p:nvSpPr>
        <p:spPr>
          <a:xfrm>
            <a:off x="7100224" y="2596896"/>
            <a:ext cx="1376264" cy="1005840"/>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4–6 YEARS EXPERIENCE</a:t>
            </a:r>
          </a:p>
          <a:p>
            <a:pPr algn="l">
              <a:lnSpc>
                <a:spcPct val="105000"/>
              </a:lnSpc>
              <a:spcBef>
                <a:spcPts val="0"/>
              </a:spcBef>
              <a:spcAft>
                <a:spcPts val="0"/>
              </a:spcAft>
            </a:pPr>
            <a:r>
              <a:rPr sz="850" b="0" i="0">
                <a:solidFill>
                  <a:srgbClr val="94B0C9"/>
                </a:solidFill>
                <a:latin typeface="Calibri"/>
              </a:rPr>
              <a:t>Largest experience group</a:t>
            </a:r>
          </a:p>
        </p:txBody>
      </p:sp>
      <p:sp>
        <p:nvSpPr>
          <p:cNvPr id="21" name="Rectangle 20"/>
          <p:cNvSpPr/>
          <p:nvPr/>
        </p:nvSpPr>
        <p:spPr>
          <a:xfrm>
            <a:off x="8686800" y="2468880"/>
            <a:ext cx="2660904" cy="1225296"/>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686800" y="2468880"/>
            <a:ext cx="2660904"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0" y="2596896"/>
            <a:ext cx="984534" cy="1005840"/>
          </a:xfrm>
          <a:prstGeom prst="rect">
            <a:avLst/>
          </a:prstGeom>
          <a:noFill/>
        </p:spPr>
        <p:txBody>
          <a:bodyPr wrap="square" anchor="ctr" lIns="0" rIns="0" tIns="0" bIns="0">
            <a:spAutoFit/>
          </a:bodyPr>
          <a:lstStyle/>
          <a:p>
            <a:pPr algn="ctr">
              <a:lnSpc>
                <a:spcPct val="100000"/>
              </a:lnSpc>
              <a:spcBef>
                <a:spcPts val="0"/>
              </a:spcBef>
              <a:spcAft>
                <a:spcPts val="0"/>
              </a:spcAft>
            </a:pPr>
            <a:r>
              <a:rPr sz="2400" b="1" i="0">
                <a:solidFill>
                  <a:srgbClr val="FFFFFF"/>
                </a:solidFill>
                <a:latin typeface="Century Gothic"/>
              </a:rPr>
              <a:t>14</a:t>
            </a:r>
          </a:p>
        </p:txBody>
      </p:sp>
      <p:sp>
        <p:nvSpPr>
          <p:cNvPr id="24" name="TextBox 23"/>
          <p:cNvSpPr txBox="1"/>
          <p:nvPr/>
        </p:nvSpPr>
        <p:spPr>
          <a:xfrm>
            <a:off x="9762774" y="2596896"/>
            <a:ext cx="1456914" cy="1005840"/>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LIKERT ITEMS</a:t>
            </a:r>
          </a:p>
          <a:p>
            <a:pPr algn="l">
              <a:lnSpc>
                <a:spcPct val="105000"/>
              </a:lnSpc>
              <a:spcBef>
                <a:spcPts val="0"/>
              </a:spcBef>
              <a:spcAft>
                <a:spcPts val="0"/>
              </a:spcAft>
            </a:pPr>
            <a:r>
              <a:rPr sz="850" b="0" i="0">
                <a:solidFill>
                  <a:srgbClr val="94B0C9"/>
                </a:solidFill>
                <a:latin typeface="Calibri"/>
              </a:rPr>
              <a:t>Plus four open questions</a:t>
            </a:r>
          </a:p>
        </p:txBody>
      </p:sp>
      <p:graphicFrame>
        <p:nvGraphicFramePr>
          <p:cNvPr id="25" name="Table 24"/>
          <p:cNvGraphicFramePr>
            <a:graphicFrameLocks noGrp="1"/>
          </p:cNvGraphicFramePr>
          <p:nvPr/>
        </p:nvGraphicFramePr>
        <p:xfrm>
          <a:off x="841248" y="3931920"/>
          <a:ext cx="3246119" cy="1828800"/>
        </p:xfrm>
        <a:graphic>
          <a:graphicData uri="http://schemas.openxmlformats.org/drawingml/2006/table">
            <a:tbl>
              <a:tblPr firstRow="1" bandRow="1">
                <a:tableStyleId>{5C22544A-7EE6-4342-B048-85BDC9FD1C3A}</a:tableStyleId>
              </a:tblPr>
              <a:tblGrid>
                <a:gridCol w="2411403"/>
                <a:gridCol w="834716"/>
              </a:tblGrid>
              <a:tr h="365760">
                <a:tc>
                  <a:txBody>
                    <a:bodyPr/>
                    <a:lstStyle/>
                    <a:p>
                      <a:pPr>
                        <a:lnSpc>
                          <a:spcPct val="100000"/>
                        </a:lnSpc>
                      </a:pPr>
                      <a:r>
                        <a:rPr sz="1050" b="1">
                          <a:solidFill>
                            <a:srgbClr val="FFFFFF"/>
                          </a:solidFill>
                          <a:latin typeface="Century Gothic"/>
                        </a:rPr>
                        <a:t>Current role</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n</a:t>
                      </a:r>
                    </a:p>
                  </a:txBody>
                  <a:tcPr anchor="ctr" marL="82296" marR="64008" marT="18288" marB="18288">
                    <a:solidFill>
                      <a:srgbClr val="0C4E64"/>
                    </a:solidFill>
                  </a:tcPr>
                </a:tc>
              </a:tr>
              <a:tr h="365760">
                <a:tc>
                  <a:txBody>
                    <a:bodyPr/>
                    <a:lstStyle/>
                    <a:p>
                      <a:pPr>
                        <a:lnSpc>
                          <a:spcPct val="100000"/>
                        </a:lnSpc>
                      </a:pPr>
                      <a:r>
                        <a:rPr sz="1050" b="0">
                          <a:solidFill>
                            <a:srgbClr val="333433"/>
                          </a:solidFill>
                          <a:latin typeface="Calibri"/>
                        </a:rPr>
                        <a:t>Student</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4</a:t>
                      </a:r>
                    </a:p>
                  </a:txBody>
                  <a:tcPr anchor="ctr" marL="82296" marR="64008" marT="18288" marB="18288">
                    <a:solidFill>
                      <a:srgbClr val="FFFFFF"/>
                    </a:solidFill>
                  </a:tcPr>
                </a:tc>
              </a:tr>
              <a:tr h="365760">
                <a:tc>
                  <a:txBody>
                    <a:bodyPr/>
                    <a:lstStyle/>
                    <a:p>
                      <a:pPr>
                        <a:lnSpc>
                          <a:spcPct val="100000"/>
                        </a:lnSpc>
                      </a:pPr>
                      <a:r>
                        <a:rPr sz="1050" b="0">
                          <a:solidFill>
                            <a:srgbClr val="333433"/>
                          </a:solidFill>
                          <a:latin typeface="Calibri"/>
                        </a:rPr>
                        <a:t>Software Developer</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4</a:t>
                      </a:r>
                    </a:p>
                  </a:txBody>
                  <a:tcPr anchor="ctr" marL="82296" marR="64008" marT="18288" marB="18288">
                    <a:solidFill>
                      <a:srgbClr val="F2E5DF"/>
                    </a:solidFill>
                  </a:tcPr>
                </a:tc>
              </a:tr>
              <a:tr h="365760">
                <a:tc>
                  <a:txBody>
                    <a:bodyPr/>
                    <a:lstStyle/>
                    <a:p>
                      <a:pPr>
                        <a:lnSpc>
                          <a:spcPct val="100000"/>
                        </a:lnSpc>
                      </a:pPr>
                      <a:r>
                        <a:rPr sz="1050" b="0">
                          <a:solidFill>
                            <a:srgbClr val="333433"/>
                          </a:solidFill>
                          <a:latin typeface="Calibri"/>
                        </a:rPr>
                        <a:t>Software Engineer</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4</a:t>
                      </a:r>
                    </a:p>
                  </a:txBody>
                  <a:tcPr anchor="ctr" marL="82296" marR="64008" marT="18288" marB="18288">
                    <a:solidFill>
                      <a:srgbClr val="FFFFFF"/>
                    </a:solidFill>
                  </a:tcPr>
                </a:tc>
              </a:tr>
              <a:tr h="365760">
                <a:tc>
                  <a:txBody>
                    <a:bodyPr/>
                    <a:lstStyle/>
                    <a:p>
                      <a:pPr>
                        <a:lnSpc>
                          <a:spcPct val="100000"/>
                        </a:lnSpc>
                      </a:pPr>
                      <a:r>
                        <a:rPr sz="1050" b="0">
                          <a:solidFill>
                            <a:srgbClr val="333433"/>
                          </a:solidFill>
                          <a:latin typeface="Calibri"/>
                        </a:rPr>
                        <a:t>Researcher</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3</a:t>
                      </a:r>
                    </a:p>
                  </a:txBody>
                  <a:tcPr anchor="ctr" marL="82296" marR="64008" marT="18288" marB="18288">
                    <a:solidFill>
                      <a:srgbClr val="F2E5DF"/>
                    </a:solidFill>
                  </a:tcPr>
                </a:tc>
              </a:tr>
            </a:tbl>
          </a:graphicData>
        </a:graphic>
      </p:graphicFrame>
      <p:graphicFrame>
        <p:nvGraphicFramePr>
          <p:cNvPr id="26" name="Table 25"/>
          <p:cNvGraphicFramePr>
            <a:graphicFrameLocks noGrp="1"/>
          </p:cNvGraphicFramePr>
          <p:nvPr/>
        </p:nvGraphicFramePr>
        <p:xfrm>
          <a:off x="4315968" y="3931920"/>
          <a:ext cx="3246119" cy="1828800"/>
        </p:xfrm>
        <a:graphic>
          <a:graphicData uri="http://schemas.openxmlformats.org/drawingml/2006/table">
            <a:tbl>
              <a:tblPr firstRow="1" bandRow="1">
                <a:tableStyleId>{5C22544A-7EE6-4342-B048-85BDC9FD1C3A}</a:tableStyleId>
              </a:tblPr>
              <a:tblGrid>
                <a:gridCol w="2411403"/>
                <a:gridCol w="834716"/>
              </a:tblGrid>
              <a:tr h="365760">
                <a:tc>
                  <a:txBody>
                    <a:bodyPr/>
                    <a:lstStyle/>
                    <a:p>
                      <a:pPr>
                        <a:lnSpc>
                          <a:spcPct val="100000"/>
                        </a:lnSpc>
                      </a:pPr>
                      <a:r>
                        <a:rPr sz="1050" b="1">
                          <a:solidFill>
                            <a:srgbClr val="FFFFFF"/>
                          </a:solidFill>
                          <a:latin typeface="Century Gothic"/>
                        </a:rPr>
                        <a:t>Development experience</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n</a:t>
                      </a:r>
                    </a:p>
                  </a:txBody>
                  <a:tcPr anchor="ctr" marL="82296" marR="64008" marT="18288" marB="18288">
                    <a:solidFill>
                      <a:srgbClr val="0C4E64"/>
                    </a:solidFill>
                  </a:tcPr>
                </a:tc>
              </a:tr>
              <a:tr h="365760">
                <a:tc>
                  <a:txBody>
                    <a:bodyPr/>
                    <a:lstStyle/>
                    <a:p>
                      <a:pPr>
                        <a:lnSpc>
                          <a:spcPct val="100000"/>
                        </a:lnSpc>
                      </a:pPr>
                      <a:r>
                        <a:rPr sz="1050" b="0">
                          <a:solidFill>
                            <a:srgbClr val="333433"/>
                          </a:solidFill>
                          <a:latin typeface="Calibri"/>
                        </a:rPr>
                        <a:t>Less than 1 year</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4</a:t>
                      </a:r>
                    </a:p>
                  </a:txBody>
                  <a:tcPr anchor="ctr" marL="82296" marR="64008" marT="18288" marB="18288">
                    <a:solidFill>
                      <a:srgbClr val="FFFFFF"/>
                    </a:solidFill>
                  </a:tcPr>
                </a:tc>
              </a:tr>
              <a:tr h="365760">
                <a:tc>
                  <a:txBody>
                    <a:bodyPr/>
                    <a:lstStyle/>
                    <a:p>
                      <a:pPr>
                        <a:lnSpc>
                          <a:spcPct val="100000"/>
                        </a:lnSpc>
                      </a:pPr>
                      <a:r>
                        <a:rPr sz="1050" b="0">
                          <a:solidFill>
                            <a:srgbClr val="333433"/>
                          </a:solidFill>
                          <a:latin typeface="Calibri"/>
                        </a:rPr>
                        <a:t>1–3 years</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3</a:t>
                      </a:r>
                    </a:p>
                  </a:txBody>
                  <a:tcPr anchor="ctr" marL="82296" marR="64008" marT="18288" marB="18288">
                    <a:solidFill>
                      <a:srgbClr val="F2E5DF"/>
                    </a:solidFill>
                  </a:tcPr>
                </a:tc>
              </a:tr>
              <a:tr h="365760">
                <a:tc>
                  <a:txBody>
                    <a:bodyPr/>
                    <a:lstStyle/>
                    <a:p>
                      <a:pPr>
                        <a:lnSpc>
                          <a:spcPct val="100000"/>
                        </a:lnSpc>
                      </a:pPr>
                      <a:r>
                        <a:rPr sz="1050" b="0">
                          <a:solidFill>
                            <a:srgbClr val="333433"/>
                          </a:solidFill>
                          <a:latin typeface="Calibri"/>
                        </a:rPr>
                        <a:t>4–6 years</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6</a:t>
                      </a:r>
                    </a:p>
                  </a:txBody>
                  <a:tcPr anchor="ctr" marL="82296" marR="64008" marT="18288" marB="18288">
                    <a:solidFill>
                      <a:srgbClr val="FFFFFF"/>
                    </a:solidFill>
                  </a:tcPr>
                </a:tc>
              </a:tr>
              <a:tr h="365760">
                <a:tc>
                  <a:txBody>
                    <a:bodyPr/>
                    <a:lstStyle/>
                    <a:p>
                      <a:pPr>
                        <a:lnSpc>
                          <a:spcPct val="100000"/>
                        </a:lnSpc>
                      </a:pPr>
                      <a:r>
                        <a:rPr sz="1050" b="0">
                          <a:solidFill>
                            <a:srgbClr val="333433"/>
                          </a:solidFill>
                          <a:latin typeface="Calibri"/>
                        </a:rPr>
                        <a:t>7–10 years</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2</a:t>
                      </a:r>
                    </a:p>
                  </a:txBody>
                  <a:tcPr anchor="ctr" marL="82296" marR="64008" marT="18288" marB="18288">
                    <a:solidFill>
                      <a:srgbClr val="F2E5DF"/>
                    </a:solidFill>
                  </a:tcPr>
                </a:tc>
              </a:tr>
            </a:tbl>
          </a:graphicData>
        </a:graphic>
      </p:graphicFrame>
      <p:sp>
        <p:nvSpPr>
          <p:cNvPr id="27" name="Rectangle 26"/>
          <p:cNvSpPr/>
          <p:nvPr/>
        </p:nvSpPr>
        <p:spPr>
          <a:xfrm>
            <a:off x="7772400" y="3931920"/>
            <a:ext cx="3575304" cy="2084831"/>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7772400" y="3931920"/>
            <a:ext cx="45720" cy="2084831"/>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010144" y="4114800"/>
            <a:ext cx="3154680"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FF7841"/>
                </a:solidFill>
                <a:latin typeface="Century Gothic"/>
              </a:rPr>
              <a:t>LIMITATION</a:t>
            </a:r>
          </a:p>
        </p:txBody>
      </p:sp>
      <p:sp>
        <p:nvSpPr>
          <p:cNvPr id="30" name="TextBox 29"/>
          <p:cNvSpPr txBox="1"/>
          <p:nvPr/>
        </p:nvSpPr>
        <p:spPr>
          <a:xfrm>
            <a:off x="8010144" y="4352544"/>
            <a:ext cx="3154680"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Sampling considerations</a:t>
            </a:r>
          </a:p>
        </p:txBody>
      </p:sp>
      <p:sp>
        <p:nvSpPr>
          <p:cNvPr id="31" name="TextBox 30"/>
          <p:cNvSpPr txBox="1"/>
          <p:nvPr/>
        </p:nvSpPr>
        <p:spPr>
          <a:xfrm>
            <a:off x="8010144" y="4626864"/>
            <a:ext cx="3154680" cy="1280159"/>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333433"/>
                </a:solidFill>
                <a:latin typeface="Calibri"/>
              </a:rPr>
              <a:t>Convenience sampling through academic and professional networks.</a:t>
            </a:r>
          </a:p>
          <a:p>
            <a:pPr algn="l">
              <a:lnSpc>
                <a:spcPct val="110000"/>
              </a:lnSpc>
              <a:spcBef>
                <a:spcPts val="0"/>
              </a:spcBef>
              <a:spcAft>
                <a:spcPts val="400"/>
              </a:spcAft>
            </a:pPr>
            <a:r>
              <a:rPr sz="1000" b="0" i="0">
                <a:solidFill>
                  <a:srgbClr val="333433"/>
                </a:solidFill>
                <a:latin typeface="Calibri"/>
              </a:rPr>
              <a:t>The form asked about familiarity with cybersecurity tools such as IDS, not hands-on IDS operation.</a:t>
            </a:r>
          </a:p>
          <a:p>
            <a:pPr algn="l">
              <a:lnSpc>
                <a:spcPct val="110000"/>
              </a:lnSpc>
              <a:spcBef>
                <a:spcPts val="0"/>
              </a:spcBef>
              <a:spcAft>
                <a:spcPts val="400"/>
              </a:spcAft>
            </a:pPr>
            <a:r>
              <a:rPr sz="1000" b="0" i="0">
                <a:solidFill>
                  <a:srgbClr val="333433"/>
                </a:solidFill>
                <a:latin typeface="Calibri"/>
              </a:rPr>
              <a:t>15 participants limits generalisability to larger developer populations.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Data Analysis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D · METHODOLOGY</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20</a:t>
            </a:r>
          </a:p>
        </p:txBody>
      </p:sp>
      <p:sp>
        <p:nvSpPr>
          <p:cNvPr id="8" name="Rectangle 7"/>
          <p:cNvSpPr/>
          <p:nvPr/>
        </p:nvSpPr>
        <p:spPr>
          <a:xfrm>
            <a:off x="841248" y="2212848"/>
            <a:ext cx="5120640" cy="192024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41248" y="2212848"/>
            <a:ext cx="45720" cy="19202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78992" y="2395728"/>
            <a:ext cx="4700016"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LIKERT RESPONSES</a:t>
            </a:r>
          </a:p>
        </p:txBody>
      </p:sp>
      <p:sp>
        <p:nvSpPr>
          <p:cNvPr id="11" name="TextBox 10"/>
          <p:cNvSpPr txBox="1"/>
          <p:nvPr/>
        </p:nvSpPr>
        <p:spPr>
          <a:xfrm>
            <a:off x="1078992" y="2633472"/>
            <a:ext cx="4700016"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Quantitative analysis</a:t>
            </a:r>
          </a:p>
        </p:txBody>
      </p:sp>
      <p:sp>
        <p:nvSpPr>
          <p:cNvPr id="12" name="TextBox 11"/>
          <p:cNvSpPr txBox="1"/>
          <p:nvPr/>
        </p:nvSpPr>
        <p:spPr>
          <a:xfrm>
            <a:off x="1078992" y="2907792"/>
            <a:ext cx="4700016" cy="1115568"/>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Descriptive statistics on the Likert responses: frequencies, percentages and item means.</a:t>
            </a:r>
          </a:p>
          <a:p>
            <a:pPr algn="l">
              <a:lnSpc>
                <a:spcPct val="110000"/>
              </a:lnSpc>
              <a:spcBef>
                <a:spcPts val="0"/>
              </a:spcBef>
              <a:spcAft>
                <a:spcPts val="400"/>
              </a:spcAft>
            </a:pPr>
            <a:r>
              <a:rPr sz="1050" b="0" i="0">
                <a:solidFill>
                  <a:srgbClr val="333433"/>
                </a:solidFill>
                <a:latin typeface="Calibri"/>
              </a:rPr>
              <a:t>Item means aggregated into the four constructs. No inferential test was performed, given n = 15.</a:t>
            </a:r>
          </a:p>
        </p:txBody>
      </p:sp>
      <p:sp>
        <p:nvSpPr>
          <p:cNvPr id="13" name="Rectangle 12"/>
          <p:cNvSpPr/>
          <p:nvPr/>
        </p:nvSpPr>
        <p:spPr>
          <a:xfrm>
            <a:off x="6227064" y="2212848"/>
            <a:ext cx="5120640" cy="192024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27064" y="2212848"/>
            <a:ext cx="45720" cy="192024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4808" y="2395728"/>
            <a:ext cx="4700016"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FF7841"/>
                </a:solidFill>
                <a:latin typeface="Century Gothic"/>
              </a:rPr>
              <a:t>OPEN-ENDED RESPONSES</a:t>
            </a:r>
          </a:p>
        </p:txBody>
      </p:sp>
      <p:sp>
        <p:nvSpPr>
          <p:cNvPr id="16" name="TextBox 15"/>
          <p:cNvSpPr txBox="1"/>
          <p:nvPr/>
        </p:nvSpPr>
        <p:spPr>
          <a:xfrm>
            <a:off x="6464808" y="2633472"/>
            <a:ext cx="4700016"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Qualitative analysis</a:t>
            </a:r>
          </a:p>
        </p:txBody>
      </p:sp>
      <p:sp>
        <p:nvSpPr>
          <p:cNvPr id="17" name="TextBox 16"/>
          <p:cNvSpPr txBox="1"/>
          <p:nvPr/>
        </p:nvSpPr>
        <p:spPr>
          <a:xfrm>
            <a:off x="6464808" y="2907792"/>
            <a:ext cx="4700016" cy="1115568"/>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Open-ended responses coded and grouped into themes.</a:t>
            </a:r>
          </a:p>
          <a:p>
            <a:pPr algn="l">
              <a:lnSpc>
                <a:spcPct val="110000"/>
              </a:lnSpc>
              <a:spcBef>
                <a:spcPts val="0"/>
              </a:spcBef>
              <a:spcAft>
                <a:spcPts val="400"/>
              </a:spcAft>
            </a:pPr>
            <a:r>
              <a:rPr sz="1050" b="0" i="0">
                <a:solidFill>
                  <a:srgbClr val="333433"/>
                </a:solidFill>
                <a:latin typeface="Calibri"/>
              </a:rPr>
              <a:t>Themes reported in Section 4.3.3 and on the results slide that follows the item means.</a:t>
            </a:r>
          </a:p>
        </p:txBody>
      </p:sp>
      <p:sp>
        <p:nvSpPr>
          <p:cNvPr id="18" name="Pentagon 17"/>
          <p:cNvSpPr/>
          <p:nvPr/>
        </p:nvSpPr>
        <p:spPr>
          <a:xfrm>
            <a:off x="841248" y="4352544"/>
            <a:ext cx="2064715" cy="731520"/>
          </a:xfrm>
          <a:prstGeom prst="homePlate">
            <a:avLst>
              <a:gd name="adj" fmla="val 20000"/>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050" b="1" i="0">
                <a:solidFill>
                  <a:srgbClr val="FFFFFF"/>
                </a:solidFill>
                <a:latin typeface="Century Gothic"/>
              </a:rPr>
              <a:t>Collect responses</a:t>
            </a:r>
            <a:br/>
            <a:r>
              <a:rPr sz="1050" b="1" i="0">
                <a:solidFill>
                  <a:srgbClr val="FFFFFF"/>
                </a:solidFill>
                <a:latin typeface="Century Gothic"/>
              </a:rPr>
              <a:t>(Google Forms)</a:t>
            </a:r>
          </a:p>
        </p:txBody>
      </p:sp>
      <p:sp>
        <p:nvSpPr>
          <p:cNvPr id="19" name="Pentagon 18"/>
          <p:cNvSpPr/>
          <p:nvPr/>
        </p:nvSpPr>
        <p:spPr>
          <a:xfrm>
            <a:off x="2951683" y="4352544"/>
            <a:ext cx="2064715" cy="731520"/>
          </a:xfrm>
          <a:prstGeom prst="homePlate">
            <a:avLst>
              <a:gd name="adj" fmla="val 20000"/>
            </a:avLst>
          </a:prstGeom>
          <a:solidFill>
            <a:srgbClr val="083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050" b="1" i="0">
                <a:solidFill>
                  <a:srgbClr val="FFFFFF"/>
                </a:solidFill>
                <a:latin typeface="Century Gothic"/>
              </a:rPr>
              <a:t>Compute item means</a:t>
            </a:r>
          </a:p>
        </p:txBody>
      </p:sp>
      <p:sp>
        <p:nvSpPr>
          <p:cNvPr id="20" name="Pentagon 19"/>
          <p:cNvSpPr/>
          <p:nvPr/>
        </p:nvSpPr>
        <p:spPr>
          <a:xfrm>
            <a:off x="5062118" y="4352544"/>
            <a:ext cx="2064715" cy="731520"/>
          </a:xfrm>
          <a:prstGeom prst="homePlate">
            <a:avLst>
              <a:gd name="adj" fmla="val 20000"/>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050" b="1" i="0">
                <a:solidFill>
                  <a:srgbClr val="FFFFFF"/>
                </a:solidFill>
                <a:latin typeface="Century Gothic"/>
              </a:rPr>
              <a:t>Aggregate into</a:t>
            </a:r>
            <a:br/>
            <a:r>
              <a:rPr sz="1050" b="1" i="0">
                <a:solidFill>
                  <a:srgbClr val="FFFFFF"/>
                </a:solidFill>
                <a:latin typeface="Century Gothic"/>
              </a:rPr>
              <a:t>four constructs</a:t>
            </a:r>
          </a:p>
        </p:txBody>
      </p:sp>
      <p:sp>
        <p:nvSpPr>
          <p:cNvPr id="21" name="Pentagon 20"/>
          <p:cNvSpPr/>
          <p:nvPr/>
        </p:nvSpPr>
        <p:spPr>
          <a:xfrm>
            <a:off x="7172553" y="4352544"/>
            <a:ext cx="2064715" cy="731520"/>
          </a:xfrm>
          <a:prstGeom prst="homePlate">
            <a:avLst>
              <a:gd name="adj" fmla="val 20000"/>
            </a:avLst>
          </a:prstGeom>
          <a:solidFill>
            <a:srgbClr val="083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050" b="1" i="0">
                <a:solidFill>
                  <a:srgbClr val="FFFFFF"/>
                </a:solidFill>
                <a:latin typeface="Century Gothic"/>
              </a:rPr>
              <a:t>Code the open</a:t>
            </a:r>
            <a:br/>
            <a:r>
              <a:rPr sz="1050" b="1" i="0">
                <a:solidFill>
                  <a:srgbClr val="FFFFFF"/>
                </a:solidFill>
                <a:latin typeface="Century Gothic"/>
              </a:rPr>
              <a:t>responses</a:t>
            </a:r>
          </a:p>
        </p:txBody>
      </p:sp>
      <p:sp>
        <p:nvSpPr>
          <p:cNvPr id="22" name="Rectangle 21"/>
          <p:cNvSpPr/>
          <p:nvPr/>
        </p:nvSpPr>
        <p:spPr>
          <a:xfrm>
            <a:off x="9282988" y="4352544"/>
            <a:ext cx="2064715" cy="73152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37160"/>
          <a:lstStyle/>
          <a:p>
            <a:pPr algn="ctr">
              <a:lnSpc>
                <a:spcPct val="105000"/>
              </a:lnSpc>
              <a:spcBef>
                <a:spcPts val="0"/>
              </a:spcBef>
              <a:spcAft>
                <a:spcPts val="0"/>
              </a:spcAft>
            </a:pPr>
            <a:r>
              <a:rPr sz="1050" b="1" i="0">
                <a:solidFill>
                  <a:srgbClr val="FFFFFF"/>
                </a:solidFill>
                <a:latin typeface="Century Gothic"/>
              </a:rPr>
              <a:t>Interpret against</a:t>
            </a:r>
            <a:br/>
            <a:r>
              <a:rPr sz="1050" b="1" i="0">
                <a:solidFill>
                  <a:srgbClr val="FFFFFF"/>
                </a:solidFill>
                <a:latin typeface="Century Gothic"/>
              </a:rPr>
              <a:t>RQ1–RQ3</a:t>
            </a:r>
          </a:p>
        </p:txBody>
      </p:sp>
      <p:sp>
        <p:nvSpPr>
          <p:cNvPr id="23" name="Rectangle 22"/>
          <p:cNvSpPr/>
          <p:nvPr/>
        </p:nvSpPr>
        <p:spPr>
          <a:xfrm>
            <a:off x="841248" y="5266944"/>
            <a:ext cx="10506456" cy="74980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41248" y="5266944"/>
            <a:ext cx="45720" cy="74980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60704" y="5413248"/>
            <a:ext cx="10085832" cy="237744"/>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INTERPRETATION SCALE</a:t>
            </a:r>
          </a:p>
        </p:txBody>
      </p:sp>
      <p:sp>
        <p:nvSpPr>
          <p:cNvPr id="26" name="TextBox 25"/>
          <p:cNvSpPr txBox="1"/>
          <p:nvPr/>
        </p:nvSpPr>
        <p:spPr>
          <a:xfrm>
            <a:off x="1060704" y="5669280"/>
            <a:ext cx="10085832" cy="201168"/>
          </a:xfrm>
          <a:prstGeom prst="rect">
            <a:avLst/>
          </a:prstGeom>
          <a:noFill/>
        </p:spPr>
        <p:txBody>
          <a:bodyPr wrap="square" anchor="t" lIns="0" rIns="0" tIns="0" bIns="0">
            <a:spAutoFit/>
          </a:bodyPr>
          <a:lstStyle/>
          <a:p>
            <a:pPr algn="l">
              <a:lnSpc>
                <a:spcPct val="116000"/>
              </a:lnSpc>
              <a:spcBef>
                <a:spcPts val="0"/>
              </a:spcBef>
              <a:spcAft>
                <a:spcPts val="0"/>
              </a:spcAft>
            </a:pPr>
            <a:r>
              <a:rPr sz="1100" b="0" i="1">
                <a:solidFill>
                  <a:srgbClr val="0C4E64"/>
                </a:solidFill>
                <a:latin typeface="Calibri"/>
              </a:rPr>
              <a:t>Five-point Likert scale where 1 = Strongly Disagree and 5 = Strongly Agree; construct means are reported descriptively and no significance is claimed.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Results — Phase 1: Model Performance</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E · RESULTS PHASE 1</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Evaluated on the official UNSW-NB15 testing subset (82,332 records)</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21</a:t>
            </a:r>
          </a:p>
        </p:txBody>
      </p:sp>
      <p:graphicFrame>
        <p:nvGraphicFramePr>
          <p:cNvPr id="9" name="Table 8"/>
          <p:cNvGraphicFramePr>
            <a:graphicFrameLocks noGrp="1"/>
          </p:cNvGraphicFramePr>
          <p:nvPr/>
        </p:nvGraphicFramePr>
        <p:xfrm>
          <a:off x="841248" y="2468880"/>
          <a:ext cx="10506455" cy="2688336"/>
        </p:xfrm>
        <a:graphic>
          <a:graphicData uri="http://schemas.openxmlformats.org/drawingml/2006/table">
            <a:tbl>
              <a:tblPr firstRow="1" bandRow="1">
                <a:tableStyleId>{5C22544A-7EE6-4342-B048-85BDC9FD1C3A}</a:tableStyleId>
              </a:tblPr>
              <a:tblGrid>
                <a:gridCol w="3331315"/>
                <a:gridCol w="2562550"/>
                <a:gridCol w="2562550"/>
                <a:gridCol w="2050040"/>
              </a:tblGrid>
              <a:tr h="384048">
                <a:tc>
                  <a:txBody>
                    <a:bodyPr/>
                    <a:lstStyle/>
                    <a:p>
                      <a:pPr>
                        <a:lnSpc>
                          <a:spcPct val="100000"/>
                        </a:lnSpc>
                      </a:pPr>
                      <a:r>
                        <a:rPr sz="1050" b="1">
                          <a:solidFill>
                            <a:srgbClr val="FFFFFF"/>
                          </a:solidFill>
                          <a:latin typeface="Century Gothic"/>
                        </a:rPr>
                        <a:t>Metric</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Logistic Regression</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Random Forest</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Difference</a:t>
                      </a:r>
                    </a:p>
                  </a:txBody>
                  <a:tcPr anchor="ctr" marL="82296" marR="64008" marT="18288" marB="18288">
                    <a:solidFill>
                      <a:srgbClr val="0C4E64"/>
                    </a:solidFill>
                  </a:tcPr>
                </a:tc>
              </a:tr>
              <a:tr h="329184">
                <a:tc>
                  <a:txBody>
                    <a:bodyPr/>
                    <a:lstStyle/>
                    <a:p>
                      <a:pPr>
                        <a:lnSpc>
                          <a:spcPct val="100000"/>
                        </a:lnSpc>
                      </a:pPr>
                      <a:r>
                        <a:rPr sz="1050" b="0">
                          <a:solidFill>
                            <a:srgbClr val="333433"/>
                          </a:solidFill>
                          <a:latin typeface="Calibri"/>
                        </a:rPr>
                        <a:t>Accuracy</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83.55%</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87.05%</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+3.50 pp</a:t>
                      </a:r>
                    </a:p>
                  </a:txBody>
                  <a:tcPr anchor="ctr" marL="82296" marR="64008" marT="18288" marB="18288">
                    <a:solidFill>
                      <a:srgbClr val="FFFFFF"/>
                    </a:solidFill>
                  </a:tcPr>
                </a:tc>
              </a:tr>
              <a:tr h="329184">
                <a:tc>
                  <a:txBody>
                    <a:bodyPr/>
                    <a:lstStyle/>
                    <a:p>
                      <a:pPr>
                        <a:lnSpc>
                          <a:spcPct val="100000"/>
                        </a:lnSpc>
                      </a:pPr>
                      <a:r>
                        <a:rPr sz="1050" b="0">
                          <a:solidFill>
                            <a:srgbClr val="333433"/>
                          </a:solidFill>
                          <a:latin typeface="Calibri"/>
                        </a:rPr>
                        <a:t>Precision</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80.19%</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81.66%</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+1.47 pp</a:t>
                      </a:r>
                    </a:p>
                  </a:txBody>
                  <a:tcPr anchor="ctr" marL="82296" marR="64008" marT="18288" marB="18288">
                    <a:solidFill>
                      <a:srgbClr val="F2E5DF"/>
                    </a:solidFill>
                  </a:tcPr>
                </a:tc>
              </a:tr>
              <a:tr h="329184">
                <a:tc>
                  <a:txBody>
                    <a:bodyPr/>
                    <a:lstStyle/>
                    <a:p>
                      <a:pPr>
                        <a:lnSpc>
                          <a:spcPct val="100000"/>
                        </a:lnSpc>
                      </a:pPr>
                      <a:r>
                        <a:rPr sz="1050" b="0">
                          <a:solidFill>
                            <a:srgbClr val="333433"/>
                          </a:solidFill>
                          <a:latin typeface="Calibri"/>
                        </a:rPr>
                        <a:t>Recall</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93.13%</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98.62%</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+5.49 pp</a:t>
                      </a:r>
                    </a:p>
                  </a:txBody>
                  <a:tcPr anchor="ctr" marL="82296" marR="64008" marT="18288" marB="18288">
                    <a:solidFill>
                      <a:srgbClr val="FFFFFF"/>
                    </a:solidFill>
                  </a:tcPr>
                </a:tc>
              </a:tr>
              <a:tr h="329184">
                <a:tc>
                  <a:txBody>
                    <a:bodyPr/>
                    <a:lstStyle/>
                    <a:p>
                      <a:pPr>
                        <a:lnSpc>
                          <a:spcPct val="100000"/>
                        </a:lnSpc>
                      </a:pPr>
                      <a:r>
                        <a:rPr sz="1050" b="0">
                          <a:solidFill>
                            <a:srgbClr val="333433"/>
                          </a:solidFill>
                          <a:latin typeface="Calibri"/>
                        </a:rPr>
                        <a:t>F1-score</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86.18%</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89.34%</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+3.16 pp</a:t>
                      </a:r>
                    </a:p>
                  </a:txBody>
                  <a:tcPr anchor="ctr" marL="82296" marR="64008" marT="18288" marB="18288">
                    <a:solidFill>
                      <a:srgbClr val="F2E5DF"/>
                    </a:solidFill>
                  </a:tcPr>
                </a:tc>
              </a:tr>
              <a:tr h="329184">
                <a:tc>
                  <a:txBody>
                    <a:bodyPr/>
                    <a:lstStyle/>
                    <a:p>
                      <a:pPr>
                        <a:lnSpc>
                          <a:spcPct val="100000"/>
                        </a:lnSpc>
                      </a:pPr>
                      <a:r>
                        <a:rPr sz="1050" b="0">
                          <a:solidFill>
                            <a:srgbClr val="333433"/>
                          </a:solidFill>
                          <a:latin typeface="Calibri"/>
                        </a:rPr>
                        <a:t>False positive rate</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28.19%</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27.14%</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−1.05 pp</a:t>
                      </a:r>
                    </a:p>
                  </a:txBody>
                  <a:tcPr anchor="ctr" marL="82296" marR="64008" marT="18288" marB="18288">
                    <a:solidFill>
                      <a:srgbClr val="FFFFFF"/>
                    </a:solidFill>
                  </a:tcPr>
                </a:tc>
              </a:tr>
              <a:tr h="329184">
                <a:tc>
                  <a:txBody>
                    <a:bodyPr/>
                    <a:lstStyle/>
                    <a:p>
                      <a:pPr>
                        <a:lnSpc>
                          <a:spcPct val="100000"/>
                        </a:lnSpc>
                      </a:pPr>
                      <a:r>
                        <a:rPr sz="1050" b="0">
                          <a:solidFill>
                            <a:srgbClr val="333433"/>
                          </a:solidFill>
                          <a:latin typeface="Calibri"/>
                        </a:rPr>
                        <a:t>False positives</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10,429</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10,040</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−389</a:t>
                      </a:r>
                    </a:p>
                  </a:txBody>
                  <a:tcPr anchor="ctr" marL="82296" marR="64008" marT="18288" marB="18288">
                    <a:solidFill>
                      <a:srgbClr val="F2E5DF"/>
                    </a:solidFill>
                  </a:tcPr>
                </a:tc>
              </a:tr>
              <a:tr h="329184">
                <a:tc>
                  <a:txBody>
                    <a:bodyPr/>
                    <a:lstStyle/>
                    <a:p>
                      <a:pPr>
                        <a:lnSpc>
                          <a:spcPct val="100000"/>
                        </a:lnSpc>
                      </a:pPr>
                      <a:r>
                        <a:rPr sz="1050" b="0">
                          <a:solidFill>
                            <a:srgbClr val="333433"/>
                          </a:solidFill>
                          <a:latin typeface="Calibri"/>
                        </a:rPr>
                        <a:t>False negatives</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3,115</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626</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−2,489</a:t>
                      </a:r>
                    </a:p>
                  </a:txBody>
                  <a:tcPr anchor="ctr" marL="82296" marR="64008" marT="18288" marB="18288">
                    <a:solidFill>
                      <a:srgbClr val="FFFFFF"/>
                    </a:solidFill>
                  </a:tcPr>
                </a:tc>
              </a:tr>
            </a:tbl>
          </a:graphicData>
        </a:graphic>
      </p:graphicFrame>
      <p:sp>
        <p:nvSpPr>
          <p:cNvPr id="10" name="Rectangle 9"/>
          <p:cNvSpPr/>
          <p:nvPr/>
        </p:nvSpPr>
        <p:spPr>
          <a:xfrm>
            <a:off x="841248" y="5266944"/>
            <a:ext cx="3319272" cy="78638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841248" y="5266944"/>
            <a:ext cx="3319272"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32688" y="5394960"/>
            <a:ext cx="1228130" cy="566928"/>
          </a:xfrm>
          <a:prstGeom prst="rect">
            <a:avLst/>
          </a:prstGeom>
          <a:noFill/>
        </p:spPr>
        <p:txBody>
          <a:bodyPr wrap="square" anchor="ctr" lIns="0" rIns="0" tIns="0" bIns="0">
            <a:spAutoFit/>
          </a:bodyPr>
          <a:lstStyle/>
          <a:p>
            <a:pPr algn="ctr">
              <a:lnSpc>
                <a:spcPct val="100000"/>
              </a:lnSpc>
              <a:spcBef>
                <a:spcPts val="0"/>
              </a:spcBef>
              <a:spcAft>
                <a:spcPts val="0"/>
              </a:spcAft>
            </a:pPr>
            <a:r>
              <a:rPr sz="1600" b="1" i="0">
                <a:solidFill>
                  <a:srgbClr val="FFFFFF"/>
                </a:solidFill>
                <a:latin typeface="Century Gothic"/>
              </a:rPr>
              <a:t>87.05%</a:t>
            </a:r>
          </a:p>
        </p:txBody>
      </p:sp>
      <p:sp>
        <p:nvSpPr>
          <p:cNvPr id="13" name="TextBox 12"/>
          <p:cNvSpPr txBox="1"/>
          <p:nvPr/>
        </p:nvSpPr>
        <p:spPr>
          <a:xfrm>
            <a:off x="2160818" y="5394960"/>
            <a:ext cx="1871686" cy="566928"/>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RANDOM FOREST ACCURACY</a:t>
            </a:r>
          </a:p>
          <a:p>
            <a:pPr algn="l">
              <a:lnSpc>
                <a:spcPct val="105000"/>
              </a:lnSpc>
              <a:spcBef>
                <a:spcPts val="0"/>
              </a:spcBef>
              <a:spcAft>
                <a:spcPts val="0"/>
              </a:spcAft>
            </a:pPr>
            <a:r>
              <a:rPr sz="850" b="0" i="0">
                <a:solidFill>
                  <a:srgbClr val="94B0C9"/>
                </a:solidFill>
                <a:latin typeface="Calibri"/>
              </a:rPr>
              <a:t>Selected as the primary IDS</a:t>
            </a:r>
          </a:p>
        </p:txBody>
      </p:sp>
      <p:sp>
        <p:nvSpPr>
          <p:cNvPr id="14" name="Rectangle 13"/>
          <p:cNvSpPr/>
          <p:nvPr/>
        </p:nvSpPr>
        <p:spPr>
          <a:xfrm>
            <a:off x="4434840" y="5266944"/>
            <a:ext cx="3319272" cy="78638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34840" y="5266944"/>
            <a:ext cx="3319272"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26280" y="5394960"/>
            <a:ext cx="1228130" cy="566928"/>
          </a:xfrm>
          <a:prstGeom prst="rect">
            <a:avLst/>
          </a:prstGeom>
          <a:noFill/>
        </p:spPr>
        <p:txBody>
          <a:bodyPr wrap="square" anchor="ctr" lIns="0" rIns="0" tIns="0" bIns="0">
            <a:spAutoFit/>
          </a:bodyPr>
          <a:lstStyle/>
          <a:p>
            <a:pPr algn="ctr">
              <a:lnSpc>
                <a:spcPct val="100000"/>
              </a:lnSpc>
              <a:spcBef>
                <a:spcPts val="0"/>
              </a:spcBef>
              <a:spcAft>
                <a:spcPts val="0"/>
              </a:spcAft>
            </a:pPr>
            <a:r>
              <a:rPr sz="1600" b="1" i="0">
                <a:solidFill>
                  <a:srgbClr val="FFFFFF"/>
                </a:solidFill>
                <a:latin typeface="Century Gothic"/>
              </a:rPr>
              <a:t>98.62%</a:t>
            </a:r>
          </a:p>
        </p:txBody>
      </p:sp>
      <p:sp>
        <p:nvSpPr>
          <p:cNvPr id="17" name="TextBox 16"/>
          <p:cNvSpPr txBox="1"/>
          <p:nvPr/>
        </p:nvSpPr>
        <p:spPr>
          <a:xfrm>
            <a:off x="5754410" y="5394960"/>
            <a:ext cx="1871686" cy="566928"/>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RECALL</a:t>
            </a:r>
          </a:p>
          <a:p>
            <a:pPr algn="l">
              <a:lnSpc>
                <a:spcPct val="105000"/>
              </a:lnSpc>
              <a:spcBef>
                <a:spcPts val="0"/>
              </a:spcBef>
              <a:spcAft>
                <a:spcPts val="0"/>
              </a:spcAft>
            </a:pPr>
            <a:r>
              <a:rPr sz="850" b="0" i="0">
                <a:solidFill>
                  <a:srgbClr val="94B0C9"/>
                </a:solidFill>
                <a:latin typeface="Calibri"/>
              </a:rPr>
              <a:t>Most malicious traffic detected</a:t>
            </a:r>
          </a:p>
        </p:txBody>
      </p:sp>
      <p:sp>
        <p:nvSpPr>
          <p:cNvPr id="18" name="Rectangle 17"/>
          <p:cNvSpPr/>
          <p:nvPr/>
        </p:nvSpPr>
        <p:spPr>
          <a:xfrm>
            <a:off x="8028431" y="5266944"/>
            <a:ext cx="3319272" cy="78638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28431" y="5266944"/>
            <a:ext cx="3319272"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119871" y="5394960"/>
            <a:ext cx="1228130" cy="566928"/>
          </a:xfrm>
          <a:prstGeom prst="rect">
            <a:avLst/>
          </a:prstGeom>
          <a:noFill/>
        </p:spPr>
        <p:txBody>
          <a:bodyPr wrap="square" anchor="ctr" lIns="0" rIns="0" tIns="0" bIns="0">
            <a:spAutoFit/>
          </a:bodyPr>
          <a:lstStyle/>
          <a:p>
            <a:pPr algn="ctr">
              <a:lnSpc>
                <a:spcPct val="100000"/>
              </a:lnSpc>
              <a:spcBef>
                <a:spcPts val="0"/>
              </a:spcBef>
              <a:spcAft>
                <a:spcPts val="0"/>
              </a:spcAft>
            </a:pPr>
            <a:r>
              <a:rPr sz="1600" b="1" i="0">
                <a:solidFill>
                  <a:srgbClr val="FFFFFF"/>
                </a:solidFill>
                <a:latin typeface="Century Gothic"/>
              </a:rPr>
              <a:t>−2,489</a:t>
            </a:r>
          </a:p>
        </p:txBody>
      </p:sp>
      <p:sp>
        <p:nvSpPr>
          <p:cNvPr id="21" name="TextBox 20"/>
          <p:cNvSpPr txBox="1"/>
          <p:nvPr/>
        </p:nvSpPr>
        <p:spPr>
          <a:xfrm>
            <a:off x="9348001" y="5394960"/>
            <a:ext cx="1871686" cy="566928"/>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FEWER FALSE NEGATIVES</a:t>
            </a:r>
          </a:p>
          <a:p>
            <a:pPr algn="l">
              <a:lnSpc>
                <a:spcPct val="105000"/>
              </a:lnSpc>
              <a:spcBef>
                <a:spcPts val="0"/>
              </a:spcBef>
              <a:spcAft>
                <a:spcPts val="0"/>
              </a:spcAft>
            </a:pPr>
            <a:r>
              <a:rPr sz="850" b="0" i="0">
                <a:solidFill>
                  <a:srgbClr val="94B0C9"/>
                </a:solidFill>
                <a:latin typeface="Calibri"/>
              </a:rPr>
              <a:t>3,115 → 626 missed attacks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Results — Model Comparison</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E · RESULTS PHASE 1</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Random Forest outperformed the baseline on every metric</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22</a:t>
            </a:r>
          </a:p>
        </p:txBody>
      </p:sp>
      <p:graphicFrame>
        <p:nvGraphicFramePr>
          <p:cNvPr id="9" name="Chart 8"/>
          <p:cNvGraphicFramePr>
            <a:graphicFrameLocks noGrp="1"/>
          </p:cNvGraphicFramePr>
          <p:nvPr/>
        </p:nvGraphicFramePr>
        <p:xfrm>
          <a:off x="841248" y="2432304"/>
          <a:ext cx="7589520" cy="3584448"/>
        </p:xfrm>
        <a:graphic>
          <a:graphicData uri="http://schemas.openxmlformats.org/drawingml/2006/chart">
            <c:chart xmlns:c="http://schemas.openxmlformats.org/drawingml/2006/chart" r:id="rId2"/>
          </a:graphicData>
        </a:graphic>
      </p:graphicFrame>
      <p:sp>
        <p:nvSpPr>
          <p:cNvPr id="10" name="Rectangle 9"/>
          <p:cNvSpPr/>
          <p:nvPr/>
        </p:nvSpPr>
        <p:spPr>
          <a:xfrm>
            <a:off x="8631936" y="2432304"/>
            <a:ext cx="2715768" cy="170078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8631936" y="2432304"/>
            <a:ext cx="45720" cy="170078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869680" y="2615184"/>
            <a:ext cx="2295144"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INTERPRETATION</a:t>
            </a:r>
          </a:p>
        </p:txBody>
      </p:sp>
      <p:sp>
        <p:nvSpPr>
          <p:cNvPr id="13" name="TextBox 12"/>
          <p:cNvSpPr txBox="1"/>
          <p:nvPr/>
        </p:nvSpPr>
        <p:spPr>
          <a:xfrm>
            <a:off x="8869680" y="2852928"/>
            <a:ext cx="2295144"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Why Random Forest</a:t>
            </a:r>
          </a:p>
        </p:txBody>
      </p:sp>
      <p:sp>
        <p:nvSpPr>
          <p:cNvPr id="14" name="TextBox 13"/>
          <p:cNvSpPr txBox="1"/>
          <p:nvPr/>
        </p:nvSpPr>
        <p:spPr>
          <a:xfrm>
            <a:off x="8869680" y="3127248"/>
            <a:ext cx="2295144" cy="896112"/>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333433"/>
                </a:solidFill>
                <a:latin typeface="Calibri"/>
              </a:rPr>
              <a:t>Ensemble learning models complex, non-linear relationships in traffic.</a:t>
            </a:r>
          </a:p>
          <a:p>
            <a:pPr algn="l">
              <a:lnSpc>
                <a:spcPct val="110000"/>
              </a:lnSpc>
              <a:spcBef>
                <a:spcPts val="0"/>
              </a:spcBef>
              <a:spcAft>
                <a:spcPts val="400"/>
              </a:spcAft>
            </a:pPr>
            <a:r>
              <a:rPr sz="1000" b="0" i="0">
                <a:solidFill>
                  <a:srgbClr val="333433"/>
                </a:solidFill>
                <a:latin typeface="Calibri"/>
              </a:rPr>
              <a:t>Robust against overfitting on high-dimensional data.</a:t>
            </a:r>
          </a:p>
        </p:txBody>
      </p:sp>
      <p:sp>
        <p:nvSpPr>
          <p:cNvPr id="15" name="Rectangle 14"/>
          <p:cNvSpPr/>
          <p:nvPr/>
        </p:nvSpPr>
        <p:spPr>
          <a:xfrm>
            <a:off x="8631936" y="4315968"/>
            <a:ext cx="2715768" cy="170078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631936" y="4315968"/>
            <a:ext cx="45720" cy="1700784"/>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869680" y="4498848"/>
            <a:ext cx="2295144"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FF7841"/>
                </a:solidFill>
                <a:latin typeface="Century Gothic"/>
              </a:rPr>
              <a:t>CAVEAT</a:t>
            </a:r>
          </a:p>
        </p:txBody>
      </p:sp>
      <p:sp>
        <p:nvSpPr>
          <p:cNvPr id="18" name="TextBox 17"/>
          <p:cNvSpPr txBox="1"/>
          <p:nvPr/>
        </p:nvSpPr>
        <p:spPr>
          <a:xfrm>
            <a:off x="8869680" y="4736592"/>
            <a:ext cx="2295144"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The stubborn metric</a:t>
            </a:r>
          </a:p>
        </p:txBody>
      </p:sp>
      <p:sp>
        <p:nvSpPr>
          <p:cNvPr id="19" name="TextBox 18"/>
          <p:cNvSpPr txBox="1"/>
          <p:nvPr/>
        </p:nvSpPr>
        <p:spPr>
          <a:xfrm>
            <a:off x="8869680" y="5010912"/>
            <a:ext cx="2295144" cy="896112"/>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333433"/>
                </a:solidFill>
                <a:latin typeface="Calibri"/>
              </a:rPr>
              <a:t>FPR improved only 1.05 pp (28.19% → 27.14%).</a:t>
            </a:r>
          </a:p>
          <a:p>
            <a:pPr algn="l">
              <a:lnSpc>
                <a:spcPct val="110000"/>
              </a:lnSpc>
              <a:spcBef>
                <a:spcPts val="0"/>
              </a:spcBef>
              <a:spcAft>
                <a:spcPts val="400"/>
              </a:spcAft>
            </a:pPr>
            <a:r>
              <a:rPr sz="1000" b="0" i="0">
                <a:solidFill>
                  <a:srgbClr val="333433"/>
                </a:solidFill>
                <a:latin typeface="Calibri"/>
              </a:rPr>
              <a:t>Better accuracy did not solve the false positive problem.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Results — The False Positive / False Negative Trade-off</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E · RESULTS PHASE 1</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Same model, same test set, three decision thresholds</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23</a:t>
            </a:r>
          </a:p>
        </p:txBody>
      </p:sp>
      <p:graphicFrame>
        <p:nvGraphicFramePr>
          <p:cNvPr id="9" name="Table 8"/>
          <p:cNvGraphicFramePr>
            <a:graphicFrameLocks noGrp="1"/>
          </p:cNvGraphicFramePr>
          <p:nvPr/>
        </p:nvGraphicFramePr>
        <p:xfrm>
          <a:off x="841248" y="2468880"/>
          <a:ext cx="10506454" cy="1609344"/>
        </p:xfrm>
        <a:graphic>
          <a:graphicData uri="http://schemas.openxmlformats.org/drawingml/2006/table">
            <a:tbl>
              <a:tblPr firstRow="1" bandRow="1">
                <a:tableStyleId>{5C22544A-7EE6-4342-B048-85BDC9FD1C3A}</a:tableStyleId>
              </a:tblPr>
              <a:tblGrid>
                <a:gridCol w="1552090"/>
                <a:gridCol w="1552090"/>
                <a:gridCol w="2149047"/>
                <a:gridCol w="2149047"/>
                <a:gridCol w="1552090"/>
                <a:gridCol w="1552090"/>
              </a:tblGrid>
              <a:tr h="402336">
                <a:tc>
                  <a:txBody>
                    <a:bodyPr/>
                    <a:lstStyle/>
                    <a:p>
                      <a:pPr>
                        <a:lnSpc>
                          <a:spcPct val="100000"/>
                        </a:lnSpc>
                      </a:pPr>
                      <a:r>
                        <a:rPr sz="1050" b="1">
                          <a:solidFill>
                            <a:srgbClr val="FFFFFF"/>
                          </a:solidFill>
                          <a:latin typeface="Century Gothic"/>
                        </a:rPr>
                        <a:t>Threshold</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FPR</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False positives</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False negatives</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Recall</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Accuracy</a:t>
                      </a:r>
                    </a:p>
                  </a:txBody>
                  <a:tcPr anchor="ctr" marL="82296" marR="64008" marT="18288" marB="18288">
                    <a:solidFill>
                      <a:srgbClr val="0C4E64"/>
                    </a:solidFill>
                  </a:tcPr>
                </a:tc>
              </a:tr>
              <a:tr h="402336">
                <a:tc>
                  <a:txBody>
                    <a:bodyPr/>
                    <a:lstStyle/>
                    <a:p>
                      <a:pPr>
                        <a:lnSpc>
                          <a:spcPct val="100000"/>
                        </a:lnSpc>
                      </a:pPr>
                      <a:r>
                        <a:rPr sz="1100" b="0">
                          <a:solidFill>
                            <a:srgbClr val="333433"/>
                          </a:solidFill>
                          <a:latin typeface="Calibri"/>
                        </a:rPr>
                        <a:t>0.70</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14.60%</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5,403</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2,063</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95.45%</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90.93%</a:t>
                      </a:r>
                    </a:p>
                  </a:txBody>
                  <a:tcPr anchor="ctr" marL="82296" marR="64008" marT="18288" marB="18288">
                    <a:solidFill>
                      <a:srgbClr val="FFFFFF"/>
                    </a:solidFill>
                  </a:tcPr>
                </a:tc>
              </a:tr>
              <a:tr h="402336">
                <a:tc>
                  <a:txBody>
                    <a:bodyPr/>
                    <a:lstStyle/>
                    <a:p>
                      <a:pPr>
                        <a:lnSpc>
                          <a:spcPct val="100000"/>
                        </a:lnSpc>
                      </a:pPr>
                      <a:r>
                        <a:rPr sz="1100" b="0">
                          <a:solidFill>
                            <a:srgbClr val="333433"/>
                          </a:solidFill>
                          <a:latin typeface="Calibri"/>
                        </a:rPr>
                        <a:t>0.50</a:t>
                      </a:r>
                    </a:p>
                  </a:txBody>
                  <a:tcPr anchor="ctr" marL="82296" marR="64008" marT="18288" marB="18288">
                    <a:solidFill>
                      <a:srgbClr val="F2E5DF"/>
                    </a:solidFill>
                  </a:tcPr>
                </a:tc>
                <a:tc>
                  <a:txBody>
                    <a:bodyPr/>
                    <a:lstStyle/>
                    <a:p>
                      <a:pPr algn="ctr">
                        <a:lnSpc>
                          <a:spcPct val="100000"/>
                        </a:lnSpc>
                      </a:pPr>
                      <a:r>
                        <a:rPr sz="1100" b="0">
                          <a:solidFill>
                            <a:srgbClr val="333433"/>
                          </a:solidFill>
                          <a:latin typeface="Calibri"/>
                        </a:rPr>
                        <a:t>27.72%</a:t>
                      </a:r>
                    </a:p>
                  </a:txBody>
                  <a:tcPr anchor="ctr" marL="82296" marR="64008" marT="18288" marB="18288">
                    <a:solidFill>
                      <a:srgbClr val="F2E5DF"/>
                    </a:solidFill>
                  </a:tcPr>
                </a:tc>
                <a:tc>
                  <a:txBody>
                    <a:bodyPr/>
                    <a:lstStyle/>
                    <a:p>
                      <a:pPr algn="ctr">
                        <a:lnSpc>
                          <a:spcPct val="100000"/>
                        </a:lnSpc>
                      </a:pPr>
                      <a:r>
                        <a:rPr sz="1100" b="0">
                          <a:solidFill>
                            <a:srgbClr val="333433"/>
                          </a:solidFill>
                          <a:latin typeface="Calibri"/>
                        </a:rPr>
                        <a:t>10,256</a:t>
                      </a:r>
                    </a:p>
                  </a:txBody>
                  <a:tcPr anchor="ctr" marL="82296" marR="64008" marT="18288" marB="18288">
                    <a:solidFill>
                      <a:srgbClr val="F2E5DF"/>
                    </a:solidFill>
                  </a:tcPr>
                </a:tc>
                <a:tc>
                  <a:txBody>
                    <a:bodyPr/>
                    <a:lstStyle/>
                    <a:p>
                      <a:pPr algn="ctr">
                        <a:lnSpc>
                          <a:spcPct val="100000"/>
                        </a:lnSpc>
                      </a:pPr>
                      <a:r>
                        <a:rPr sz="1100" b="0">
                          <a:solidFill>
                            <a:srgbClr val="333433"/>
                          </a:solidFill>
                          <a:latin typeface="Calibri"/>
                        </a:rPr>
                        <a:t>589</a:t>
                      </a:r>
                    </a:p>
                  </a:txBody>
                  <a:tcPr anchor="ctr" marL="82296" marR="64008" marT="18288" marB="18288">
                    <a:solidFill>
                      <a:srgbClr val="F2E5DF"/>
                    </a:solidFill>
                  </a:tcPr>
                </a:tc>
                <a:tc>
                  <a:txBody>
                    <a:bodyPr/>
                    <a:lstStyle/>
                    <a:p>
                      <a:pPr algn="ctr">
                        <a:lnSpc>
                          <a:spcPct val="100000"/>
                        </a:lnSpc>
                      </a:pPr>
                      <a:r>
                        <a:rPr sz="1100" b="0">
                          <a:solidFill>
                            <a:srgbClr val="333433"/>
                          </a:solidFill>
                          <a:latin typeface="Calibri"/>
                        </a:rPr>
                        <a:t>98.70%</a:t>
                      </a:r>
                    </a:p>
                  </a:txBody>
                  <a:tcPr anchor="ctr" marL="82296" marR="64008" marT="18288" marB="18288">
                    <a:solidFill>
                      <a:srgbClr val="F2E5DF"/>
                    </a:solidFill>
                  </a:tcPr>
                </a:tc>
                <a:tc>
                  <a:txBody>
                    <a:bodyPr/>
                    <a:lstStyle/>
                    <a:p>
                      <a:pPr algn="ctr">
                        <a:lnSpc>
                          <a:spcPct val="100000"/>
                        </a:lnSpc>
                      </a:pPr>
                      <a:r>
                        <a:rPr sz="1100" b="0">
                          <a:solidFill>
                            <a:srgbClr val="333433"/>
                          </a:solidFill>
                          <a:latin typeface="Calibri"/>
                        </a:rPr>
                        <a:t>86.83%</a:t>
                      </a:r>
                    </a:p>
                  </a:txBody>
                  <a:tcPr anchor="ctr" marL="82296" marR="64008" marT="18288" marB="18288">
                    <a:solidFill>
                      <a:srgbClr val="F2E5DF"/>
                    </a:solidFill>
                  </a:tcPr>
                </a:tc>
              </a:tr>
              <a:tr h="402336">
                <a:tc>
                  <a:txBody>
                    <a:bodyPr/>
                    <a:lstStyle/>
                    <a:p>
                      <a:pPr>
                        <a:lnSpc>
                          <a:spcPct val="100000"/>
                        </a:lnSpc>
                      </a:pPr>
                      <a:r>
                        <a:rPr sz="1100" b="0">
                          <a:solidFill>
                            <a:srgbClr val="333433"/>
                          </a:solidFill>
                          <a:latin typeface="Calibri"/>
                        </a:rPr>
                        <a:t>0.30</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38.28%</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14,162</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98</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99.78%</a:t>
                      </a:r>
                    </a:p>
                  </a:txBody>
                  <a:tcPr anchor="ctr" marL="82296" marR="64008" marT="18288" marB="18288">
                    <a:solidFill>
                      <a:srgbClr val="FFFFFF"/>
                    </a:solidFill>
                  </a:tcPr>
                </a:tc>
                <a:tc>
                  <a:txBody>
                    <a:bodyPr/>
                    <a:lstStyle/>
                    <a:p>
                      <a:pPr algn="ctr">
                        <a:lnSpc>
                          <a:spcPct val="100000"/>
                        </a:lnSpc>
                      </a:pPr>
                      <a:r>
                        <a:rPr sz="1100" b="0">
                          <a:solidFill>
                            <a:srgbClr val="333433"/>
                          </a:solidFill>
                          <a:latin typeface="Calibri"/>
                        </a:rPr>
                        <a:t>82.68%</a:t>
                      </a:r>
                    </a:p>
                  </a:txBody>
                  <a:tcPr anchor="ctr" marL="82296" marR="64008" marT="18288" marB="18288">
                    <a:solidFill>
                      <a:srgbClr val="FFFFFF"/>
                    </a:solidFill>
                  </a:tcPr>
                </a:tc>
              </a:tr>
            </a:tbl>
          </a:graphicData>
        </a:graphic>
      </p:graphicFrame>
      <p:sp>
        <p:nvSpPr>
          <p:cNvPr id="10" name="Rectangle 9"/>
          <p:cNvSpPr/>
          <p:nvPr/>
        </p:nvSpPr>
        <p:spPr>
          <a:xfrm>
            <a:off x="841248" y="4224528"/>
            <a:ext cx="3319272" cy="91440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841248" y="4224528"/>
            <a:ext cx="3319272"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32688" y="4352544"/>
            <a:ext cx="1228130" cy="694944"/>
          </a:xfrm>
          <a:prstGeom prst="rect">
            <a:avLst/>
          </a:prstGeom>
          <a:noFill/>
        </p:spPr>
        <p:txBody>
          <a:bodyPr wrap="square" anchor="ctr" lIns="0" rIns="0" tIns="0" bIns="0">
            <a:spAutoFit/>
          </a:bodyPr>
          <a:lstStyle/>
          <a:p>
            <a:pPr algn="ctr">
              <a:lnSpc>
                <a:spcPct val="100000"/>
              </a:lnSpc>
              <a:spcBef>
                <a:spcPts val="0"/>
              </a:spcBef>
              <a:spcAft>
                <a:spcPts val="0"/>
              </a:spcAft>
            </a:pPr>
            <a:r>
              <a:rPr sz="2000" b="1" i="0">
                <a:solidFill>
                  <a:srgbClr val="FFFFFF"/>
                </a:solidFill>
                <a:latin typeface="Century Gothic"/>
              </a:rPr>
              <a:t>2.6×</a:t>
            </a:r>
          </a:p>
        </p:txBody>
      </p:sp>
      <p:sp>
        <p:nvSpPr>
          <p:cNvPr id="13" name="TextBox 12"/>
          <p:cNvSpPr txBox="1"/>
          <p:nvPr/>
        </p:nvSpPr>
        <p:spPr>
          <a:xfrm>
            <a:off x="2160818" y="4352544"/>
            <a:ext cx="1871686" cy="694944"/>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FPR RANGE</a:t>
            </a:r>
          </a:p>
          <a:p>
            <a:pPr algn="l">
              <a:lnSpc>
                <a:spcPct val="105000"/>
              </a:lnSpc>
              <a:spcBef>
                <a:spcPts val="0"/>
              </a:spcBef>
              <a:spcAft>
                <a:spcPts val="0"/>
              </a:spcAft>
            </a:pPr>
            <a:r>
              <a:rPr sz="850" b="0" i="0">
                <a:solidFill>
                  <a:srgbClr val="94B0C9"/>
                </a:solidFill>
                <a:latin typeface="Calibri"/>
              </a:rPr>
              <a:t>14.60% to 38.28% across conditions</a:t>
            </a:r>
          </a:p>
        </p:txBody>
      </p:sp>
      <p:sp>
        <p:nvSpPr>
          <p:cNvPr id="14" name="Rectangle 13"/>
          <p:cNvSpPr/>
          <p:nvPr/>
        </p:nvSpPr>
        <p:spPr>
          <a:xfrm>
            <a:off x="4434840" y="4224528"/>
            <a:ext cx="3319272" cy="91440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34840" y="4224528"/>
            <a:ext cx="3319272"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26280" y="4352544"/>
            <a:ext cx="1228130" cy="694944"/>
          </a:xfrm>
          <a:prstGeom prst="rect">
            <a:avLst/>
          </a:prstGeom>
          <a:noFill/>
        </p:spPr>
        <p:txBody>
          <a:bodyPr wrap="square" anchor="ctr" lIns="0" rIns="0" tIns="0" bIns="0">
            <a:spAutoFit/>
          </a:bodyPr>
          <a:lstStyle/>
          <a:p>
            <a:pPr algn="ctr">
              <a:lnSpc>
                <a:spcPct val="100000"/>
              </a:lnSpc>
              <a:spcBef>
                <a:spcPts val="0"/>
              </a:spcBef>
              <a:spcAft>
                <a:spcPts val="0"/>
              </a:spcAft>
            </a:pPr>
            <a:r>
              <a:rPr sz="2000" b="1" i="0">
                <a:solidFill>
                  <a:srgbClr val="FFFFFF"/>
                </a:solidFill>
                <a:latin typeface="Century Gothic"/>
              </a:rPr>
              <a:t>21×</a:t>
            </a:r>
          </a:p>
        </p:txBody>
      </p:sp>
      <p:sp>
        <p:nvSpPr>
          <p:cNvPr id="17" name="TextBox 16"/>
          <p:cNvSpPr txBox="1"/>
          <p:nvPr/>
        </p:nvSpPr>
        <p:spPr>
          <a:xfrm>
            <a:off x="5754410" y="4352544"/>
            <a:ext cx="1871686" cy="694944"/>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FALSE NEGATIVE RANGE</a:t>
            </a:r>
          </a:p>
          <a:p>
            <a:pPr algn="l">
              <a:lnSpc>
                <a:spcPct val="105000"/>
              </a:lnSpc>
              <a:spcBef>
                <a:spcPts val="0"/>
              </a:spcBef>
              <a:spcAft>
                <a:spcPts val="0"/>
              </a:spcAft>
            </a:pPr>
            <a:r>
              <a:rPr sz="850" b="0" i="0">
                <a:solidFill>
                  <a:srgbClr val="94B0C9"/>
                </a:solidFill>
                <a:latin typeface="Calibri"/>
              </a:rPr>
              <a:t>2,063 down to 98 missed attacks</a:t>
            </a:r>
          </a:p>
        </p:txBody>
      </p:sp>
      <p:sp>
        <p:nvSpPr>
          <p:cNvPr id="18" name="Rectangle 17"/>
          <p:cNvSpPr/>
          <p:nvPr/>
        </p:nvSpPr>
        <p:spPr>
          <a:xfrm>
            <a:off x="8028431" y="4224528"/>
            <a:ext cx="3319272" cy="91440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28431" y="4224528"/>
            <a:ext cx="3319272" cy="50292"/>
          </a:xfrm>
          <a:prstGeom prst="rect">
            <a:avLst/>
          </a:prstGeom>
          <a:solidFill>
            <a:srgbClr val="94B0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119871" y="4352544"/>
            <a:ext cx="1228130" cy="694944"/>
          </a:xfrm>
          <a:prstGeom prst="rect">
            <a:avLst/>
          </a:prstGeom>
          <a:noFill/>
        </p:spPr>
        <p:txBody>
          <a:bodyPr wrap="square" anchor="ctr" lIns="0" rIns="0" tIns="0" bIns="0">
            <a:spAutoFit/>
          </a:bodyPr>
          <a:lstStyle/>
          <a:p>
            <a:pPr algn="ctr">
              <a:lnSpc>
                <a:spcPct val="100000"/>
              </a:lnSpc>
              <a:spcBef>
                <a:spcPts val="0"/>
              </a:spcBef>
              <a:spcAft>
                <a:spcPts val="0"/>
              </a:spcAft>
            </a:pPr>
            <a:r>
              <a:rPr sz="2000" b="1" i="0">
                <a:solidFill>
                  <a:srgbClr val="FFFFFF"/>
                </a:solidFill>
                <a:latin typeface="Century Gothic"/>
              </a:rPr>
              <a:t>27.14%</a:t>
            </a:r>
          </a:p>
        </p:txBody>
      </p:sp>
      <p:sp>
        <p:nvSpPr>
          <p:cNvPr id="21" name="TextBox 20"/>
          <p:cNvSpPr txBox="1"/>
          <p:nvPr/>
        </p:nvSpPr>
        <p:spPr>
          <a:xfrm>
            <a:off x="9348001" y="4352544"/>
            <a:ext cx="1871686" cy="694944"/>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94B0C9"/>
                </a:solidFill>
                <a:latin typeface="Century Gothic"/>
              </a:rPr>
              <a:t>VS 27.72% AT 0.50</a:t>
            </a:r>
          </a:p>
          <a:p>
            <a:pPr algn="l">
              <a:lnSpc>
                <a:spcPct val="105000"/>
              </a:lnSpc>
              <a:spcBef>
                <a:spcPts val="0"/>
              </a:spcBef>
              <a:spcAft>
                <a:spcPts val="0"/>
              </a:spcAft>
            </a:pPr>
            <a:r>
              <a:rPr sz="850" b="0" i="0">
                <a:solidFill>
                  <a:srgbClr val="94B0C9"/>
                </a:solidFill>
                <a:latin typeface="Calibri"/>
              </a:rPr>
              <a:t>predict() vs explicit ≥0.50 cut</a:t>
            </a:r>
          </a:p>
        </p:txBody>
      </p:sp>
      <p:sp>
        <p:nvSpPr>
          <p:cNvPr id="22" name="Rectangle 21"/>
          <p:cNvSpPr/>
          <p:nvPr/>
        </p:nvSpPr>
        <p:spPr>
          <a:xfrm>
            <a:off x="841248" y="5285232"/>
            <a:ext cx="10506456" cy="731520"/>
          </a:xfrm>
          <a:prstGeom prst="rect">
            <a:avLst/>
          </a:prstGeom>
          <a:solidFill>
            <a:srgbClr val="F2E5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41248" y="5285232"/>
            <a:ext cx="45720" cy="7315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60704" y="5431536"/>
            <a:ext cx="10085832" cy="237744"/>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C75324"/>
                </a:solidFill>
                <a:latin typeface="Century Gothic"/>
              </a:rPr>
              <a:t>TWO POINTS TO NOTE</a:t>
            </a:r>
          </a:p>
        </p:txBody>
      </p:sp>
      <p:sp>
        <p:nvSpPr>
          <p:cNvPr id="25" name="TextBox 24"/>
          <p:cNvSpPr txBox="1"/>
          <p:nvPr/>
        </p:nvSpPr>
        <p:spPr>
          <a:xfrm>
            <a:off x="1060704" y="5687568"/>
            <a:ext cx="10085832" cy="201168"/>
          </a:xfrm>
          <a:prstGeom prst="rect">
            <a:avLst/>
          </a:prstGeom>
          <a:noFill/>
        </p:spPr>
        <p:txBody>
          <a:bodyPr wrap="square" anchor="t" lIns="0" rIns="0" tIns="0" bIns="0">
            <a:spAutoFit/>
          </a:bodyPr>
          <a:lstStyle/>
          <a:p>
            <a:pPr algn="l">
              <a:lnSpc>
                <a:spcPct val="116000"/>
              </a:lnSpc>
              <a:spcBef>
                <a:spcPts val="0"/>
              </a:spcBef>
              <a:spcAft>
                <a:spcPts val="0"/>
              </a:spcAft>
            </a:pPr>
            <a:r>
              <a:rPr sz="1100" b="0" i="1">
                <a:solidFill>
                  <a:srgbClr val="0C4E64"/>
                </a:solidFill>
                <a:latin typeface="Calibri"/>
              </a:rPr>
              <a:t>Even the strictest threshold leaves a 14.60% false positive rate, so no configuration tested is operationally clean. The 27.72% figure differs from the 27.14% in the main results because the classifier's default prediction and an explicit 0.50 cut treat roughly 200 records at exactly 0.50 differently.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Results — Phase 2: Survey Constructs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F · RESULTS PHASE 2</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Mean scores on a five-point Likert scale (n = 15, descriptive only)</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24</a:t>
            </a:r>
          </a:p>
        </p:txBody>
      </p:sp>
      <p:graphicFrame>
        <p:nvGraphicFramePr>
          <p:cNvPr id="9" name="Chart 8"/>
          <p:cNvGraphicFramePr>
            <a:graphicFrameLocks noGrp="1"/>
          </p:cNvGraphicFramePr>
          <p:nvPr/>
        </p:nvGraphicFramePr>
        <p:xfrm>
          <a:off x="841248" y="2468880"/>
          <a:ext cx="5852160" cy="3529584"/>
        </p:xfrm>
        <a:graphic>
          <a:graphicData uri="http://schemas.openxmlformats.org/drawingml/2006/chart">
            <c:chart xmlns:c="http://schemas.openxmlformats.org/drawingml/2006/chart" r:id="rId2"/>
          </a:graphicData>
        </a:graphic>
      </p:graphicFrame>
      <p:graphicFrame>
        <p:nvGraphicFramePr>
          <p:cNvPr id="10" name="Table 9"/>
          <p:cNvGraphicFramePr>
            <a:graphicFrameLocks noGrp="1"/>
          </p:cNvGraphicFramePr>
          <p:nvPr/>
        </p:nvGraphicFramePr>
        <p:xfrm>
          <a:off x="6858000" y="2468880"/>
          <a:ext cx="4489703" cy="1920240"/>
        </p:xfrm>
        <a:graphic>
          <a:graphicData uri="http://schemas.openxmlformats.org/drawingml/2006/table">
            <a:tbl>
              <a:tblPr firstRow="1" bandRow="1">
                <a:tableStyleId>{5C22544A-7EE6-4342-B048-85BDC9FD1C3A}</a:tableStyleId>
              </a:tblPr>
              <a:tblGrid>
                <a:gridCol w="2748798"/>
                <a:gridCol w="916266"/>
                <a:gridCol w="824639"/>
              </a:tblGrid>
              <a:tr h="384048">
                <a:tc>
                  <a:txBody>
                    <a:bodyPr/>
                    <a:lstStyle/>
                    <a:p>
                      <a:pPr>
                        <a:lnSpc>
                          <a:spcPct val="100000"/>
                        </a:lnSpc>
                      </a:pPr>
                      <a:r>
                        <a:rPr sz="1050" b="1">
                          <a:solidFill>
                            <a:srgbClr val="FFFFFF"/>
                          </a:solidFill>
                          <a:latin typeface="Century Gothic"/>
                        </a:rPr>
                        <a:t>Construct</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Items</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Mean</a:t>
                      </a:r>
                    </a:p>
                  </a:txBody>
                  <a:tcPr anchor="ctr" marL="82296" marR="64008" marT="18288" marB="18288">
                    <a:solidFill>
                      <a:srgbClr val="0C4E64"/>
                    </a:solidFill>
                  </a:tcPr>
                </a:tc>
              </a:tr>
              <a:tr h="384048">
                <a:tc>
                  <a:txBody>
                    <a:bodyPr/>
                    <a:lstStyle/>
                    <a:p>
                      <a:pPr>
                        <a:lnSpc>
                          <a:spcPct val="100000"/>
                        </a:lnSpc>
                      </a:pPr>
                      <a:r>
                        <a:rPr sz="1050" b="0">
                          <a:solidFill>
                            <a:srgbClr val="333433"/>
                          </a:solidFill>
                          <a:latin typeface="Calibri"/>
                        </a:rPr>
                        <a:t>Trust in IDS alerts</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Q1–Q3</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4.07</a:t>
                      </a:r>
                    </a:p>
                  </a:txBody>
                  <a:tcPr anchor="ctr" marL="82296" marR="64008" marT="18288" marB="18288">
                    <a:solidFill>
                      <a:srgbClr val="FFFFFF"/>
                    </a:solidFill>
                  </a:tcPr>
                </a:tc>
              </a:tr>
              <a:tr h="384048">
                <a:tc>
                  <a:txBody>
                    <a:bodyPr/>
                    <a:lstStyle/>
                    <a:p>
                      <a:pPr>
                        <a:lnSpc>
                          <a:spcPct val="100000"/>
                        </a:lnSpc>
                      </a:pPr>
                      <a:r>
                        <a:rPr sz="1050" b="0">
                          <a:solidFill>
                            <a:srgbClr val="333433"/>
                          </a:solidFill>
                          <a:latin typeface="Calibri"/>
                        </a:rPr>
                        <a:t>Impact of false positives</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Q4–Q7</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4.17</a:t>
                      </a:r>
                    </a:p>
                  </a:txBody>
                  <a:tcPr anchor="ctr" marL="82296" marR="64008" marT="18288" marB="18288">
                    <a:solidFill>
                      <a:srgbClr val="F2E5DF"/>
                    </a:solidFill>
                  </a:tcPr>
                </a:tc>
              </a:tr>
              <a:tr h="384048">
                <a:tc>
                  <a:txBody>
                    <a:bodyPr/>
                    <a:lstStyle/>
                    <a:p>
                      <a:pPr>
                        <a:lnSpc>
                          <a:spcPct val="100000"/>
                        </a:lnSpc>
                      </a:pPr>
                      <a:r>
                        <a:rPr sz="1050" b="0">
                          <a:solidFill>
                            <a:srgbClr val="333433"/>
                          </a:solidFill>
                          <a:latin typeface="Calibri"/>
                        </a:rPr>
                        <a:t>Alert usefulness and clarity</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Q8–Q11</a:t>
                      </a:r>
                    </a:p>
                  </a:txBody>
                  <a:tcPr anchor="ctr" marL="82296" marR="64008" marT="18288" marB="18288">
                    <a:solidFill>
                      <a:srgbClr val="FFFFFF"/>
                    </a:solidFill>
                  </a:tcPr>
                </a:tc>
                <a:tc>
                  <a:txBody>
                    <a:bodyPr/>
                    <a:lstStyle/>
                    <a:p>
                      <a:pPr algn="ctr">
                        <a:lnSpc>
                          <a:spcPct val="100000"/>
                        </a:lnSpc>
                      </a:pPr>
                      <a:r>
                        <a:rPr sz="1050" b="0">
                          <a:solidFill>
                            <a:srgbClr val="333433"/>
                          </a:solidFill>
                          <a:latin typeface="Calibri"/>
                        </a:rPr>
                        <a:t>3.85</a:t>
                      </a:r>
                    </a:p>
                  </a:txBody>
                  <a:tcPr anchor="ctr" marL="82296" marR="64008" marT="18288" marB="18288">
                    <a:solidFill>
                      <a:srgbClr val="FFFFFF"/>
                    </a:solidFill>
                  </a:tcPr>
                </a:tc>
              </a:tr>
              <a:tr h="384048">
                <a:tc>
                  <a:txBody>
                    <a:bodyPr/>
                    <a:lstStyle/>
                    <a:p>
                      <a:pPr>
                        <a:lnSpc>
                          <a:spcPct val="100000"/>
                        </a:lnSpc>
                      </a:pPr>
                      <a:r>
                        <a:rPr sz="1050" b="0">
                          <a:solidFill>
                            <a:srgbClr val="333433"/>
                          </a:solidFill>
                          <a:latin typeface="Calibri"/>
                        </a:rPr>
                        <a:t>Adoption and acceptance</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Q12–Q14</a:t>
                      </a:r>
                    </a:p>
                  </a:txBody>
                  <a:tcPr anchor="ctr" marL="82296" marR="64008" marT="18288" marB="18288">
                    <a:solidFill>
                      <a:srgbClr val="F2E5DF"/>
                    </a:solidFill>
                  </a:tcPr>
                </a:tc>
                <a:tc>
                  <a:txBody>
                    <a:bodyPr/>
                    <a:lstStyle/>
                    <a:p>
                      <a:pPr algn="ctr">
                        <a:lnSpc>
                          <a:spcPct val="100000"/>
                        </a:lnSpc>
                      </a:pPr>
                      <a:r>
                        <a:rPr sz="1050" b="0">
                          <a:solidFill>
                            <a:srgbClr val="333433"/>
                          </a:solidFill>
                          <a:latin typeface="Calibri"/>
                        </a:rPr>
                        <a:t>3.82</a:t>
                      </a:r>
                    </a:p>
                  </a:txBody>
                  <a:tcPr anchor="ctr" marL="82296" marR="64008" marT="18288" marB="18288">
                    <a:solidFill>
                      <a:srgbClr val="F2E5DF"/>
                    </a:solidFill>
                  </a:tcPr>
                </a:tc>
              </a:tr>
            </a:tbl>
          </a:graphicData>
        </a:graphic>
      </p:graphicFrame>
      <p:sp>
        <p:nvSpPr>
          <p:cNvPr id="11" name="Rectangle 10"/>
          <p:cNvSpPr/>
          <p:nvPr/>
        </p:nvSpPr>
        <p:spPr>
          <a:xfrm>
            <a:off x="6858000" y="4443984"/>
            <a:ext cx="4489704" cy="157276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858000" y="4443984"/>
            <a:ext cx="45720" cy="1572768"/>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095744" y="4626864"/>
            <a:ext cx="4069080"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FF7841"/>
                </a:solidFill>
                <a:latin typeface="Century Gothic"/>
              </a:rPr>
              <a:t>DESCRIPTIVE</a:t>
            </a:r>
          </a:p>
        </p:txBody>
      </p:sp>
      <p:sp>
        <p:nvSpPr>
          <p:cNvPr id="14" name="TextBox 13"/>
          <p:cNvSpPr txBox="1"/>
          <p:nvPr/>
        </p:nvSpPr>
        <p:spPr>
          <a:xfrm>
            <a:off x="7095744" y="4864608"/>
            <a:ext cx="4069080"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How to read these</a:t>
            </a:r>
          </a:p>
        </p:txBody>
      </p:sp>
      <p:sp>
        <p:nvSpPr>
          <p:cNvPr id="15" name="TextBox 14"/>
          <p:cNvSpPr txBox="1"/>
          <p:nvPr/>
        </p:nvSpPr>
        <p:spPr>
          <a:xfrm>
            <a:off x="7095744" y="5138928"/>
            <a:ext cx="4069080" cy="768096"/>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333433"/>
                </a:solidFill>
                <a:latin typeface="Calibri"/>
              </a:rPr>
              <a:t>All four constructs above 3.80 — overall agreement with the statements.</a:t>
            </a:r>
          </a:p>
          <a:p>
            <a:pPr algn="l">
              <a:lnSpc>
                <a:spcPct val="110000"/>
              </a:lnSpc>
              <a:spcBef>
                <a:spcPts val="0"/>
              </a:spcBef>
              <a:spcAft>
                <a:spcPts val="400"/>
              </a:spcAft>
            </a:pPr>
            <a:r>
              <a:rPr sz="1000" b="0" i="0">
                <a:solidFill>
                  <a:srgbClr val="333433"/>
                </a:solidFill>
                <a:latin typeface="Calibri"/>
              </a:rPr>
              <a:t>Impact of false positives is highest (4.17), but these items ask for agreement with a general statement.</a:t>
            </a:r>
          </a:p>
          <a:p>
            <a:pPr algn="l">
              <a:lnSpc>
                <a:spcPct val="110000"/>
              </a:lnSpc>
              <a:spcBef>
                <a:spcPts val="0"/>
              </a:spcBef>
              <a:spcAft>
                <a:spcPts val="400"/>
              </a:spcAft>
            </a:pPr>
            <a:r>
              <a:rPr sz="1000" b="0" i="0">
                <a:solidFill>
                  <a:srgbClr val="333433"/>
                </a:solidFill>
                <a:latin typeface="Calibri"/>
              </a:rPr>
              <a:t>They do not show that any participant's trust changed.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Results — Individual Question Means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F · RESULTS PHASE 2</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Fourteen Likert items, five-point scale (n = 15)</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25</a:t>
            </a:r>
          </a:p>
        </p:txBody>
      </p:sp>
      <p:graphicFrame>
        <p:nvGraphicFramePr>
          <p:cNvPr id="9" name="Table 8"/>
          <p:cNvGraphicFramePr>
            <a:graphicFrameLocks noGrp="1"/>
          </p:cNvGraphicFramePr>
          <p:nvPr/>
        </p:nvGraphicFramePr>
        <p:xfrm>
          <a:off x="841248" y="2468880"/>
          <a:ext cx="10506452" cy="2688336"/>
        </p:xfrm>
        <a:graphic>
          <a:graphicData uri="http://schemas.openxmlformats.org/drawingml/2006/table">
            <a:tbl>
              <a:tblPr firstRow="1" bandRow="1">
                <a:tableStyleId>{5C22544A-7EE6-4342-B048-85BDC9FD1C3A}</a:tableStyleId>
              </a:tblPr>
              <a:tblGrid>
                <a:gridCol w="537261"/>
                <a:gridCol w="3820529"/>
                <a:gridCol w="895436"/>
                <a:gridCol w="537261"/>
                <a:gridCol w="3820529"/>
                <a:gridCol w="895436"/>
              </a:tblGrid>
              <a:tr h="384048">
                <a:tc>
                  <a:txBody>
                    <a:bodyPr/>
                    <a:lstStyle/>
                    <a:p>
                      <a:pPr>
                        <a:lnSpc>
                          <a:spcPct val="100000"/>
                        </a:lnSpc>
                      </a:pPr>
                      <a:r>
                        <a:rPr sz="1050" b="1">
                          <a:solidFill>
                            <a:srgbClr val="FFFFFF"/>
                          </a:solidFill>
                          <a:latin typeface="Century Gothic"/>
                        </a:rPr>
                        <a:t>#</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Question summary</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Mean</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Question summary</a:t>
                      </a:r>
                    </a:p>
                  </a:txBody>
                  <a:tcPr anchor="ctr" marL="82296" marR="64008" marT="18288" marB="18288">
                    <a:solidFill>
                      <a:srgbClr val="0C4E64"/>
                    </a:solidFill>
                  </a:tcPr>
                </a:tc>
                <a:tc>
                  <a:txBody>
                    <a:bodyPr/>
                    <a:lstStyle/>
                    <a:p>
                      <a:pPr algn="ctr">
                        <a:lnSpc>
                          <a:spcPct val="100000"/>
                        </a:lnSpc>
                      </a:pPr>
                      <a:r>
                        <a:rPr sz="1050" b="1">
                          <a:solidFill>
                            <a:srgbClr val="FFFFFF"/>
                          </a:solidFill>
                          <a:latin typeface="Century Gothic"/>
                        </a:rPr>
                        <a:t>Mean</a:t>
                      </a:r>
                    </a:p>
                  </a:txBody>
                  <a:tcPr anchor="ctr" marL="82296" marR="64008" marT="18288" marB="18288">
                    <a:solidFill>
                      <a:srgbClr val="0C4E64"/>
                    </a:solidFill>
                  </a:tcPr>
                </a:tc>
              </a:tr>
              <a:tr h="329184">
                <a:tc>
                  <a:txBody>
                    <a:bodyPr/>
                    <a:lstStyle/>
                    <a:p>
                      <a:pPr>
                        <a:lnSpc>
                          <a:spcPct val="100000"/>
                        </a:lnSpc>
                      </a:pPr>
                      <a:r>
                        <a:rPr sz="950" b="0">
                          <a:solidFill>
                            <a:srgbClr val="333433"/>
                          </a:solidFill>
                          <a:latin typeface="Calibri"/>
                        </a:rPr>
                        <a:t>Q1</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Trust in IDS alerts</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4.13</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Q8</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Alerts are easy to understand</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4.33</a:t>
                      </a:r>
                    </a:p>
                  </a:txBody>
                  <a:tcPr anchor="ctr" marL="82296" marR="64008" marT="18288" marB="18288">
                    <a:solidFill>
                      <a:srgbClr val="FFFFFF"/>
                    </a:solidFill>
                  </a:tcPr>
                </a:tc>
              </a:tr>
              <a:tr h="329184">
                <a:tc>
                  <a:txBody>
                    <a:bodyPr/>
                    <a:lstStyle/>
                    <a:p>
                      <a:pPr>
                        <a:lnSpc>
                          <a:spcPct val="100000"/>
                        </a:lnSpc>
                      </a:pPr>
                      <a:r>
                        <a:rPr sz="950" b="0">
                          <a:solidFill>
                            <a:srgbClr val="333433"/>
                          </a:solidFill>
                          <a:latin typeface="Calibri"/>
                        </a:rPr>
                        <a:t>Q2</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IDS reliability</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4.07</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Q9</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Alerts provide useful information</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3.80</a:t>
                      </a:r>
                    </a:p>
                  </a:txBody>
                  <a:tcPr anchor="ctr" marL="82296" marR="64008" marT="18288" marB="18288">
                    <a:solidFill>
                      <a:srgbClr val="F2E5DF"/>
                    </a:solidFill>
                  </a:tcPr>
                </a:tc>
              </a:tr>
              <a:tr h="329184">
                <a:tc>
                  <a:txBody>
                    <a:bodyPr/>
                    <a:lstStyle/>
                    <a:p>
                      <a:pPr>
                        <a:lnSpc>
                          <a:spcPct val="100000"/>
                        </a:lnSpc>
                      </a:pPr>
                      <a:r>
                        <a:rPr sz="950" b="0">
                          <a:solidFill>
                            <a:srgbClr val="333433"/>
                          </a:solidFill>
                          <a:latin typeface="Calibri"/>
                        </a:rPr>
                        <a:t>Q3</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Supports maintenance decisions</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4.00</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Q10</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Alerts help prioritise issues</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3.67</a:t>
                      </a:r>
                    </a:p>
                  </a:txBody>
                  <a:tcPr anchor="ctr" marL="82296" marR="64008" marT="18288" marB="18288">
                    <a:solidFill>
                      <a:srgbClr val="FFFFFF"/>
                    </a:solidFill>
                  </a:tcPr>
                </a:tc>
              </a:tr>
              <a:tr h="329184">
                <a:tc>
                  <a:txBody>
                    <a:bodyPr/>
                    <a:lstStyle/>
                    <a:p>
                      <a:pPr>
                        <a:lnSpc>
                          <a:spcPct val="100000"/>
                        </a:lnSpc>
                      </a:pPr>
                      <a:r>
                        <a:rPr sz="950" b="0">
                          <a:solidFill>
                            <a:srgbClr val="333433"/>
                          </a:solidFill>
                          <a:latin typeface="Calibri"/>
                        </a:rPr>
                        <a:t>Q4</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False positives reduce trust</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4.27</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Q11</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Alerts support decision-making</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3.60</a:t>
                      </a:r>
                    </a:p>
                  </a:txBody>
                  <a:tcPr anchor="ctr" marL="82296" marR="64008" marT="18288" marB="18288">
                    <a:solidFill>
                      <a:srgbClr val="F2E5DF"/>
                    </a:solidFill>
                  </a:tcPr>
                </a:tc>
              </a:tr>
              <a:tr h="329184">
                <a:tc>
                  <a:txBody>
                    <a:bodyPr/>
                    <a:lstStyle/>
                    <a:p>
                      <a:pPr>
                        <a:lnSpc>
                          <a:spcPct val="100000"/>
                        </a:lnSpc>
                      </a:pPr>
                      <a:r>
                        <a:rPr sz="950" b="0">
                          <a:solidFill>
                            <a:srgbClr val="333433"/>
                          </a:solidFill>
                          <a:latin typeface="Calibri"/>
                        </a:rPr>
                        <a:t>Q5</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Too many false alarms reduce reliance</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4.00</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Q12</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Willingness to use the IDS</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3.73</a:t>
                      </a:r>
                    </a:p>
                  </a:txBody>
                  <a:tcPr anchor="ctr" marL="82296" marR="64008" marT="18288" marB="18288">
                    <a:solidFill>
                      <a:srgbClr val="FFFFFF"/>
                    </a:solidFill>
                  </a:tcPr>
                </a:tc>
              </a:tr>
              <a:tr h="329184">
                <a:tc>
                  <a:txBody>
                    <a:bodyPr/>
                    <a:lstStyle/>
                    <a:p>
                      <a:pPr>
                        <a:lnSpc>
                          <a:spcPct val="100000"/>
                        </a:lnSpc>
                      </a:pPr>
                      <a:r>
                        <a:rPr sz="950" b="0">
                          <a:solidFill>
                            <a:srgbClr val="333433"/>
                          </a:solidFill>
                          <a:latin typeface="Calibri"/>
                        </a:rPr>
                        <a:t>Q6</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False positives make alerts hard to assess</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4.33</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Q13</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Benefits outweigh false positives</a:t>
                      </a:r>
                    </a:p>
                  </a:txBody>
                  <a:tcPr anchor="ctr" marL="82296" marR="64008" marT="18288" marB="18288">
                    <a:solidFill>
                      <a:srgbClr val="F2E5DF"/>
                    </a:solidFill>
                  </a:tcPr>
                </a:tc>
                <a:tc>
                  <a:txBody>
                    <a:bodyPr/>
                    <a:lstStyle/>
                    <a:p>
                      <a:pPr algn="ctr">
                        <a:lnSpc>
                          <a:spcPct val="100000"/>
                        </a:lnSpc>
                      </a:pPr>
                      <a:r>
                        <a:rPr sz="950" b="0">
                          <a:solidFill>
                            <a:srgbClr val="333433"/>
                          </a:solidFill>
                          <a:latin typeface="Calibri"/>
                        </a:rPr>
                        <a:t>3.93</a:t>
                      </a:r>
                    </a:p>
                  </a:txBody>
                  <a:tcPr anchor="ctr" marL="82296" marR="64008" marT="18288" marB="18288">
                    <a:solidFill>
                      <a:srgbClr val="F2E5DF"/>
                    </a:solidFill>
                  </a:tcPr>
                </a:tc>
              </a:tr>
              <a:tr h="329184">
                <a:tc>
                  <a:txBody>
                    <a:bodyPr/>
                    <a:lstStyle/>
                    <a:p>
                      <a:pPr>
                        <a:lnSpc>
                          <a:spcPct val="100000"/>
                        </a:lnSpc>
                      </a:pPr>
                      <a:r>
                        <a:rPr sz="950" b="0">
                          <a:solidFill>
                            <a:srgbClr val="333433"/>
                          </a:solidFill>
                          <a:latin typeface="Calibri"/>
                        </a:rPr>
                        <a:t>Q7</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False positives reduce confidence</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4.07</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Q14</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Would recommend the IDS</a:t>
                      </a:r>
                    </a:p>
                  </a:txBody>
                  <a:tcPr anchor="ctr" marL="82296" marR="64008" marT="18288" marB="18288">
                    <a:solidFill>
                      <a:srgbClr val="FFFFFF"/>
                    </a:solidFill>
                  </a:tcPr>
                </a:tc>
                <a:tc>
                  <a:txBody>
                    <a:bodyPr/>
                    <a:lstStyle/>
                    <a:p>
                      <a:pPr algn="ctr">
                        <a:lnSpc>
                          <a:spcPct val="100000"/>
                        </a:lnSpc>
                      </a:pPr>
                      <a:r>
                        <a:rPr sz="950" b="0">
                          <a:solidFill>
                            <a:srgbClr val="333433"/>
                          </a:solidFill>
                          <a:latin typeface="Calibri"/>
                        </a:rPr>
                        <a:t>3.80</a:t>
                      </a:r>
                    </a:p>
                  </a:txBody>
                  <a:tcPr anchor="ctr" marL="82296" marR="64008" marT="18288" marB="18288">
                    <a:solidFill>
                      <a:srgbClr val="FFFFFF"/>
                    </a:solidFill>
                  </a:tcPr>
                </a:tc>
              </a:tr>
            </a:tbl>
          </a:graphicData>
        </a:graphic>
      </p:graphicFrame>
      <p:sp>
        <p:nvSpPr>
          <p:cNvPr id="10" name="Rectangle 9"/>
          <p:cNvSpPr/>
          <p:nvPr/>
        </p:nvSpPr>
        <p:spPr>
          <a:xfrm>
            <a:off x="841248" y="5266944"/>
            <a:ext cx="3319272" cy="78638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841248" y="5266944"/>
            <a:ext cx="3319272"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32688" y="5394960"/>
            <a:ext cx="1228130" cy="566928"/>
          </a:xfrm>
          <a:prstGeom prst="rect">
            <a:avLst/>
          </a:prstGeom>
          <a:noFill/>
        </p:spPr>
        <p:txBody>
          <a:bodyPr wrap="square" anchor="ctr" lIns="0" rIns="0" tIns="0" bIns="0">
            <a:spAutoFit/>
          </a:bodyPr>
          <a:lstStyle/>
          <a:p>
            <a:pPr algn="ctr">
              <a:lnSpc>
                <a:spcPct val="100000"/>
              </a:lnSpc>
              <a:spcBef>
                <a:spcPts val="0"/>
              </a:spcBef>
              <a:spcAft>
                <a:spcPts val="0"/>
              </a:spcAft>
            </a:pPr>
            <a:r>
              <a:rPr sz="1600" b="1" i="0">
                <a:solidFill>
                  <a:srgbClr val="FFFFFF"/>
                </a:solidFill>
                <a:latin typeface="Century Gothic"/>
              </a:rPr>
              <a:t>4.33</a:t>
            </a:r>
          </a:p>
        </p:txBody>
      </p:sp>
      <p:sp>
        <p:nvSpPr>
          <p:cNvPr id="13" name="TextBox 12"/>
          <p:cNvSpPr txBox="1"/>
          <p:nvPr/>
        </p:nvSpPr>
        <p:spPr>
          <a:xfrm>
            <a:off x="2160818" y="5394960"/>
            <a:ext cx="1871686" cy="566928"/>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JOINT HIGHEST</a:t>
            </a:r>
          </a:p>
          <a:p>
            <a:pPr algn="l">
              <a:lnSpc>
                <a:spcPct val="105000"/>
              </a:lnSpc>
              <a:spcBef>
                <a:spcPts val="0"/>
              </a:spcBef>
              <a:spcAft>
                <a:spcPts val="0"/>
              </a:spcAft>
            </a:pPr>
            <a:r>
              <a:rPr sz="850" b="0" i="0">
                <a:solidFill>
                  <a:srgbClr val="94B0C9"/>
                </a:solidFill>
                <a:latin typeface="Calibri"/>
              </a:rPr>
              <a:t>Q8 alerts easy to understand; Q6 false positives hinder assessment</a:t>
            </a:r>
          </a:p>
        </p:txBody>
      </p:sp>
      <p:sp>
        <p:nvSpPr>
          <p:cNvPr id="14" name="Rectangle 13"/>
          <p:cNvSpPr/>
          <p:nvPr/>
        </p:nvSpPr>
        <p:spPr>
          <a:xfrm>
            <a:off x="4434840" y="5266944"/>
            <a:ext cx="3319272" cy="78638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34840" y="5266944"/>
            <a:ext cx="3319272"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26280" y="5394960"/>
            <a:ext cx="1228130" cy="566928"/>
          </a:xfrm>
          <a:prstGeom prst="rect">
            <a:avLst/>
          </a:prstGeom>
          <a:noFill/>
        </p:spPr>
        <p:txBody>
          <a:bodyPr wrap="square" anchor="ctr" lIns="0" rIns="0" tIns="0" bIns="0">
            <a:spAutoFit/>
          </a:bodyPr>
          <a:lstStyle/>
          <a:p>
            <a:pPr algn="ctr">
              <a:lnSpc>
                <a:spcPct val="100000"/>
              </a:lnSpc>
              <a:spcBef>
                <a:spcPts val="0"/>
              </a:spcBef>
              <a:spcAft>
                <a:spcPts val="0"/>
              </a:spcAft>
            </a:pPr>
            <a:r>
              <a:rPr sz="1600" b="1" i="0">
                <a:solidFill>
                  <a:srgbClr val="FFFFFF"/>
                </a:solidFill>
                <a:latin typeface="Century Gothic"/>
              </a:rPr>
              <a:t>3.60</a:t>
            </a:r>
          </a:p>
        </p:txBody>
      </p:sp>
      <p:sp>
        <p:nvSpPr>
          <p:cNvPr id="17" name="TextBox 16"/>
          <p:cNvSpPr txBox="1"/>
          <p:nvPr/>
        </p:nvSpPr>
        <p:spPr>
          <a:xfrm>
            <a:off x="5754410" y="5394960"/>
            <a:ext cx="1871686" cy="566928"/>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LOWEST SCORE</a:t>
            </a:r>
          </a:p>
          <a:p>
            <a:pPr algn="l">
              <a:lnSpc>
                <a:spcPct val="105000"/>
              </a:lnSpc>
              <a:spcBef>
                <a:spcPts val="0"/>
              </a:spcBef>
              <a:spcAft>
                <a:spcPts val="0"/>
              </a:spcAft>
            </a:pPr>
            <a:r>
              <a:rPr sz="850" b="0" i="0">
                <a:solidFill>
                  <a:srgbClr val="94B0C9"/>
                </a:solidFill>
                <a:latin typeface="Calibri"/>
              </a:rPr>
              <a:t>Q11 alerts support decision-making</a:t>
            </a:r>
          </a:p>
        </p:txBody>
      </p:sp>
      <p:sp>
        <p:nvSpPr>
          <p:cNvPr id="18" name="Rectangle 17"/>
          <p:cNvSpPr/>
          <p:nvPr/>
        </p:nvSpPr>
        <p:spPr>
          <a:xfrm>
            <a:off x="8028431" y="5266944"/>
            <a:ext cx="3319272" cy="78638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28431" y="5266944"/>
            <a:ext cx="3319272" cy="50292"/>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119871" y="5394960"/>
            <a:ext cx="1228130" cy="566928"/>
          </a:xfrm>
          <a:prstGeom prst="rect">
            <a:avLst/>
          </a:prstGeom>
          <a:noFill/>
        </p:spPr>
        <p:txBody>
          <a:bodyPr wrap="square" anchor="ctr" lIns="0" rIns="0" tIns="0" bIns="0">
            <a:spAutoFit/>
          </a:bodyPr>
          <a:lstStyle/>
          <a:p>
            <a:pPr algn="ctr">
              <a:lnSpc>
                <a:spcPct val="100000"/>
              </a:lnSpc>
              <a:spcBef>
                <a:spcPts val="0"/>
              </a:spcBef>
              <a:spcAft>
                <a:spcPts val="0"/>
              </a:spcAft>
            </a:pPr>
            <a:r>
              <a:rPr sz="1600" b="1" i="0">
                <a:solidFill>
                  <a:srgbClr val="FFFFFF"/>
                </a:solidFill>
                <a:latin typeface="Century Gothic"/>
              </a:rPr>
              <a:t>Q8 + Q6</a:t>
            </a:r>
          </a:p>
        </p:txBody>
      </p:sp>
      <p:sp>
        <p:nvSpPr>
          <p:cNvPr id="21" name="TextBox 20"/>
          <p:cNvSpPr txBox="1"/>
          <p:nvPr/>
        </p:nvSpPr>
        <p:spPr>
          <a:xfrm>
            <a:off x="9348001" y="5394960"/>
            <a:ext cx="1871686" cy="566928"/>
          </a:xfrm>
          <a:prstGeom prst="rect">
            <a:avLst/>
          </a:prstGeom>
          <a:noFill/>
        </p:spPr>
        <p:txBody>
          <a:bodyPr wrap="square" anchor="ctr" lIns="0" rIns="0" tIns="0" bIns="0">
            <a:spAutoFit/>
          </a:bodyPr>
          <a:lstStyle/>
          <a:p>
            <a:pPr algn="l">
              <a:lnSpc>
                <a:spcPct val="105000"/>
              </a:lnSpc>
              <a:spcBef>
                <a:spcPts val="0"/>
              </a:spcBef>
              <a:spcAft>
                <a:spcPts val="300"/>
              </a:spcAft>
            </a:pPr>
            <a:r>
              <a:rPr sz="900" b="1" i="0">
                <a:solidFill>
                  <a:srgbClr val="FF7841"/>
                </a:solidFill>
                <a:latin typeface="Century Gothic"/>
              </a:rPr>
              <a:t>KEY PAIRING</a:t>
            </a:r>
          </a:p>
          <a:p>
            <a:pPr algn="l">
              <a:lnSpc>
                <a:spcPct val="105000"/>
              </a:lnSpc>
              <a:spcBef>
                <a:spcPts val="0"/>
              </a:spcBef>
              <a:spcAft>
                <a:spcPts val="0"/>
              </a:spcAft>
            </a:pPr>
            <a:r>
              <a:rPr sz="850" b="0" i="0">
                <a:solidFill>
                  <a:srgbClr val="94B0C9"/>
                </a:solidFill>
                <a:latin typeface="Calibri"/>
              </a:rPr>
              <a:t>Clarity did not compensate for unreliability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Results — Qualitative Themes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F · RESULTS PHASE 2</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a:solidFill>
                  <a:srgbClr val="6E767B"/>
                </a:solidFill>
                <a:latin typeface="Calibri"/>
              </a:rPr>
              <a:t>Four themes from the open-ended responses, one per question (n = 15)</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26</a:t>
            </a:r>
          </a:p>
        </p:txBody>
      </p:sp>
      <p:sp>
        <p:nvSpPr>
          <p:cNvPr id="9" name="Rectangle 8"/>
          <p:cNvSpPr/>
          <p:nvPr/>
        </p:nvSpPr>
        <p:spPr>
          <a:xfrm>
            <a:off x="841248" y="2468880"/>
            <a:ext cx="5001768" cy="1225296"/>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41248" y="2468880"/>
            <a:ext cx="45720" cy="1225296"/>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78992" y="2596896"/>
            <a:ext cx="4526280" cy="1005840"/>
          </a:xfrm>
          <a:prstGeom prst="rect">
            <a:avLst/>
          </a:prstGeom>
          <a:noFill/>
        </p:spPr>
        <p:txBody>
          <a:bodyPr wrap="square" anchor="t" lIns="0" rIns="0" tIns="0" bIns="0">
            <a:spAutoFit/>
          </a:bodyPr>
          <a:lstStyle/>
          <a:p>
            <a:pPr algn="l">
              <a:lnSpc>
                <a:spcPct val="100000"/>
              </a:lnSpc>
              <a:spcBef>
                <a:spcPts val="0"/>
              </a:spcBef>
              <a:spcAft>
                <a:spcPts val="300"/>
              </a:spcAft>
            </a:pPr>
            <a:r>
              <a:rPr sz="850" b="1" i="0">
                <a:solidFill>
                  <a:srgbClr val="0C4E64"/>
                </a:solidFill>
                <a:latin typeface="Century Gothic"/>
              </a:rPr>
              <a:t>THEME 1  ·  Q1</a:t>
            </a:r>
          </a:p>
          <a:p>
            <a:pPr>
              <a:lnSpc>
                <a:spcPct val="100000"/>
              </a:lnSpc>
              <a:spcBef>
                <a:spcPts val="0"/>
              </a:spcBef>
              <a:spcAft>
                <a:spcPts val="300"/>
              </a:spcAft>
            </a:pPr>
            <a:r>
              <a:rPr sz="1150" b="1" i="0">
                <a:solidFill>
                  <a:srgbClr val="0C4E64"/>
                </a:solidFill>
                <a:latin typeface="Century Gothic"/>
              </a:rPr>
              <a:t>Accuracy and supporting evidence drive trust</a:t>
            </a:r>
          </a:p>
          <a:p>
            <a:pPr>
              <a:lnSpc>
                <a:spcPct val="105000"/>
              </a:lnSpc>
              <a:spcBef>
                <a:spcPts val="0"/>
              </a:spcBef>
              <a:spcAft>
                <a:spcPts val="400"/>
              </a:spcAft>
            </a:pPr>
            <a:r>
              <a:rPr sz="950" b="0" i="0">
                <a:solidFill>
                  <a:srgbClr val="333433"/>
                </a:solidFill>
                <a:latin typeface="Calibri"/>
              </a:rPr>
              <a:t>Participants tied trust to alert accuracy, to evidence backing an alert, and to explanation of the threat.</a:t>
            </a:r>
          </a:p>
          <a:p>
            <a:pPr>
              <a:lnSpc>
                <a:spcPct val="105000"/>
              </a:lnSpc>
              <a:spcBef>
                <a:spcPts val="0"/>
              </a:spcBef>
              <a:spcAft>
                <a:spcPts val="0"/>
              </a:spcAft>
            </a:pPr>
            <a:r>
              <a:rPr sz="950" b="0" i="1">
                <a:solidFill>
                  <a:srgbClr val="6E767B"/>
                </a:solidFill>
                <a:latin typeface="Calibri"/>
              </a:rPr>
              <a:t>“I would trust the system more if its alerts were supported by evidence or detailed information.”</a:t>
            </a:r>
          </a:p>
        </p:txBody>
      </p:sp>
      <p:sp>
        <p:nvSpPr>
          <p:cNvPr id="12" name="Rectangle 11"/>
          <p:cNvSpPr/>
          <p:nvPr/>
        </p:nvSpPr>
        <p:spPr>
          <a:xfrm>
            <a:off x="6272784" y="2468880"/>
            <a:ext cx="5001768" cy="1225296"/>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72784" y="2468880"/>
            <a:ext cx="45720" cy="1225296"/>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10528" y="2596896"/>
            <a:ext cx="4526280" cy="1005840"/>
          </a:xfrm>
          <a:prstGeom prst="rect">
            <a:avLst/>
          </a:prstGeom>
          <a:noFill/>
        </p:spPr>
        <p:txBody>
          <a:bodyPr wrap="square" anchor="t" lIns="0" rIns="0" tIns="0" bIns="0">
            <a:spAutoFit/>
          </a:bodyPr>
          <a:lstStyle/>
          <a:p>
            <a:pPr algn="l">
              <a:lnSpc>
                <a:spcPct val="100000"/>
              </a:lnSpc>
              <a:spcBef>
                <a:spcPts val="0"/>
              </a:spcBef>
              <a:spcAft>
                <a:spcPts val="300"/>
              </a:spcAft>
            </a:pPr>
            <a:r>
              <a:rPr sz="850" b="1" i="0">
                <a:solidFill>
                  <a:srgbClr val="FF7841"/>
                </a:solidFill>
                <a:latin typeface="Century Gothic"/>
              </a:rPr>
              <a:t>THEME 2  ·  Q2</a:t>
            </a:r>
          </a:p>
          <a:p>
            <a:pPr>
              <a:lnSpc>
                <a:spcPct val="100000"/>
              </a:lnSpc>
              <a:spcBef>
                <a:spcPts val="0"/>
              </a:spcBef>
              <a:spcAft>
                <a:spcPts val="300"/>
              </a:spcAft>
            </a:pPr>
            <a:r>
              <a:rPr sz="1150" b="1" i="0">
                <a:solidFill>
                  <a:srgbClr val="0C4E64"/>
                </a:solidFill>
                <a:latin typeface="Century Gothic"/>
              </a:rPr>
              <a:t>Severity, scope and recommended action were most useful</a:t>
            </a:r>
          </a:p>
          <a:p>
            <a:pPr>
              <a:lnSpc>
                <a:spcPct val="105000"/>
              </a:lnSpc>
              <a:spcBef>
                <a:spcPts val="0"/>
              </a:spcBef>
              <a:spcAft>
                <a:spcPts val="400"/>
              </a:spcAft>
            </a:pPr>
            <a:r>
              <a:rPr sz="950" b="0" i="0">
                <a:solidFill>
                  <a:srgbClr val="333433"/>
                </a:solidFill>
                <a:latin typeface="Calibri"/>
              </a:rPr>
              <a:t>The valued elements were severity level, the affected system, what happened, and what to do next.</a:t>
            </a:r>
          </a:p>
          <a:p>
            <a:pPr>
              <a:lnSpc>
                <a:spcPct val="105000"/>
              </a:lnSpc>
              <a:spcBef>
                <a:spcPts val="0"/>
              </a:spcBef>
              <a:spcAft>
                <a:spcPts val="0"/>
              </a:spcAft>
            </a:pPr>
            <a:r>
              <a:rPr sz="950" b="0" i="1">
                <a:solidFill>
                  <a:srgbClr val="6E767B"/>
                </a:solidFill>
                <a:latin typeface="Calibri"/>
              </a:rPr>
              <a:t>“The recommended actions helped me understand how to respond to the alert.”</a:t>
            </a:r>
          </a:p>
        </p:txBody>
      </p:sp>
      <p:sp>
        <p:nvSpPr>
          <p:cNvPr id="15" name="Rectangle 14"/>
          <p:cNvSpPr/>
          <p:nvPr/>
        </p:nvSpPr>
        <p:spPr>
          <a:xfrm>
            <a:off x="841248" y="3840480"/>
            <a:ext cx="5001768" cy="1225296"/>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41248" y="3840480"/>
            <a:ext cx="45720" cy="1225296"/>
          </a:xfrm>
          <a:prstGeom prst="rect">
            <a:avLst/>
          </a:prstGeom>
          <a:solidFill>
            <a:srgbClr val="94B0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78992" y="3968496"/>
            <a:ext cx="4526280" cy="1005840"/>
          </a:xfrm>
          <a:prstGeom prst="rect">
            <a:avLst/>
          </a:prstGeom>
          <a:noFill/>
        </p:spPr>
        <p:txBody>
          <a:bodyPr wrap="square" anchor="t" lIns="0" rIns="0" tIns="0" bIns="0">
            <a:spAutoFit/>
          </a:bodyPr>
          <a:lstStyle/>
          <a:p>
            <a:pPr algn="l">
              <a:lnSpc>
                <a:spcPct val="100000"/>
              </a:lnSpc>
              <a:spcBef>
                <a:spcPts val="0"/>
              </a:spcBef>
              <a:spcAft>
                <a:spcPts val="300"/>
              </a:spcAft>
            </a:pPr>
            <a:r>
              <a:rPr sz="850" b="1" i="0">
                <a:solidFill>
                  <a:srgbClr val="94B0C9"/>
                </a:solidFill>
                <a:latin typeface="Century Gothic"/>
              </a:rPr>
              <a:t>THEME 3  ·  Q3</a:t>
            </a:r>
          </a:p>
          <a:p>
            <a:pPr>
              <a:lnSpc>
                <a:spcPct val="100000"/>
              </a:lnSpc>
              <a:spcBef>
                <a:spcPts val="0"/>
              </a:spcBef>
              <a:spcAft>
                <a:spcPts val="300"/>
              </a:spcAft>
            </a:pPr>
            <a:r>
              <a:rPr sz="1150" b="1" i="0">
                <a:solidFill>
                  <a:srgbClr val="0C4E64"/>
                </a:solidFill>
                <a:latin typeface="Century Gothic"/>
              </a:rPr>
              <a:t>Alert volume and unverifiability were the obstacles</a:t>
            </a:r>
          </a:p>
          <a:p>
            <a:pPr>
              <a:lnSpc>
                <a:spcPct val="105000"/>
              </a:lnSpc>
              <a:spcBef>
                <a:spcPts val="0"/>
              </a:spcBef>
              <a:spcAft>
                <a:spcPts val="400"/>
              </a:spcAft>
            </a:pPr>
            <a:r>
              <a:rPr sz="950" b="0" i="0">
                <a:solidFill>
                  <a:srgbClr val="333433"/>
                </a:solidFill>
                <a:latin typeface="Calibri"/>
              </a:rPr>
              <a:t>Two distinct problems: too many alerts to triage, and no way to tell a genuine threat from a false positive.</a:t>
            </a:r>
          </a:p>
          <a:p>
            <a:pPr>
              <a:lnSpc>
                <a:spcPct val="105000"/>
              </a:lnSpc>
              <a:spcBef>
                <a:spcPts val="0"/>
              </a:spcBef>
              <a:spcAft>
                <a:spcPts val="0"/>
              </a:spcAft>
            </a:pPr>
            <a:r>
              <a:rPr sz="950" b="0" i="1">
                <a:solidFill>
                  <a:srgbClr val="6E767B"/>
                </a:solidFill>
                <a:latin typeface="Calibri"/>
              </a:rPr>
              <a:t>“It was sometimes difficult to determine whether an alert was a genuine threat or a false positive.”</a:t>
            </a:r>
          </a:p>
        </p:txBody>
      </p:sp>
      <p:sp>
        <p:nvSpPr>
          <p:cNvPr id="18" name="Rectangle 17"/>
          <p:cNvSpPr/>
          <p:nvPr/>
        </p:nvSpPr>
        <p:spPr>
          <a:xfrm>
            <a:off x="6272784" y="3840480"/>
            <a:ext cx="5001768" cy="1225296"/>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72784" y="3840480"/>
            <a:ext cx="45720" cy="1225296"/>
          </a:xfrm>
          <a:prstGeom prst="rect">
            <a:avLst/>
          </a:prstGeom>
          <a:solidFill>
            <a:srgbClr val="083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10528" y="3968496"/>
            <a:ext cx="4526280" cy="1005840"/>
          </a:xfrm>
          <a:prstGeom prst="rect">
            <a:avLst/>
          </a:prstGeom>
          <a:noFill/>
        </p:spPr>
        <p:txBody>
          <a:bodyPr wrap="square" anchor="t" lIns="0" rIns="0" tIns="0" bIns="0">
            <a:spAutoFit/>
          </a:bodyPr>
          <a:lstStyle/>
          <a:p>
            <a:pPr algn="l">
              <a:lnSpc>
                <a:spcPct val="100000"/>
              </a:lnSpc>
              <a:spcBef>
                <a:spcPts val="0"/>
              </a:spcBef>
              <a:spcAft>
                <a:spcPts val="300"/>
              </a:spcAft>
            </a:pPr>
            <a:r>
              <a:rPr sz="850" b="1" i="0">
                <a:solidFill>
                  <a:srgbClr val="083646"/>
                </a:solidFill>
                <a:latin typeface="Century Gothic"/>
              </a:rPr>
              <a:t>THEME 4  ·  Q4</a:t>
            </a:r>
          </a:p>
          <a:p>
            <a:pPr>
              <a:lnSpc>
                <a:spcPct val="100000"/>
              </a:lnSpc>
              <a:spcBef>
                <a:spcPts val="0"/>
              </a:spcBef>
              <a:spcAft>
                <a:spcPts val="300"/>
              </a:spcAft>
            </a:pPr>
            <a:r>
              <a:rPr sz="1150" b="1" i="0">
                <a:solidFill>
                  <a:srgbClr val="0C4E64"/>
                </a:solidFill>
                <a:latin typeface="Century Gothic"/>
              </a:rPr>
              <a:t>Fewer false positives, ranking, guided resolution</a:t>
            </a:r>
          </a:p>
          <a:p>
            <a:pPr>
              <a:lnSpc>
                <a:spcPct val="105000"/>
              </a:lnSpc>
              <a:spcBef>
                <a:spcPts val="0"/>
              </a:spcBef>
              <a:spcAft>
                <a:spcPts val="400"/>
              </a:spcAft>
            </a:pPr>
            <a:r>
              <a:rPr sz="950" b="0" i="0">
                <a:solidFill>
                  <a:srgbClr val="333433"/>
                </a:solidFill>
                <a:latin typeface="Calibri"/>
              </a:rPr>
              <a:t>Requested improvements were reducing false positives, priority ranking, and suggestions for resolving the issue.</a:t>
            </a:r>
          </a:p>
          <a:p>
            <a:pPr>
              <a:lnSpc>
                <a:spcPct val="105000"/>
              </a:lnSpc>
              <a:spcBef>
                <a:spcPts val="0"/>
              </a:spcBef>
              <a:spcAft>
                <a:spcPts val="0"/>
              </a:spcAft>
            </a:pPr>
            <a:r>
              <a:rPr sz="950" b="0" i="1">
                <a:solidFill>
                  <a:srgbClr val="6E767B"/>
                </a:solidFill>
                <a:latin typeface="Calibri"/>
              </a:rPr>
              <a:t>“The system could use a priority ranking so that serious threats are easier to identify.”</a:t>
            </a:r>
          </a:p>
        </p:txBody>
      </p:sp>
      <p:sp>
        <p:nvSpPr>
          <p:cNvPr id="21" name="Rectangle 20"/>
          <p:cNvSpPr/>
          <p:nvPr/>
        </p:nvSpPr>
        <p:spPr>
          <a:xfrm>
            <a:off x="841248" y="5285232"/>
            <a:ext cx="10506456" cy="73152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41248" y="5285232"/>
            <a:ext cx="45720" cy="73152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60704" y="5431536"/>
            <a:ext cx="10085832" cy="237744"/>
          </a:xfrm>
          <a:prstGeom prst="rect">
            <a:avLst/>
          </a:prstGeom>
          <a:noFill/>
        </p:spPr>
        <p:txBody>
          <a:bodyPr wrap="square" anchor="t" lIns="0" rIns="0" tIns="0" bIns="0">
            <a:spAutoFit/>
          </a:bodyPr>
          <a:lstStyle/>
          <a:p>
            <a:pPr algn="l">
              <a:lnSpc>
                <a:spcPct val="115000"/>
              </a:lnSpc>
              <a:spcBef>
                <a:spcPts val="0"/>
              </a:spcBef>
              <a:spcAft>
                <a:spcPts val="0"/>
              </a:spcAft>
            </a:pPr>
            <a:r>
              <a:rPr sz="900" b="1">
                <a:solidFill>
                  <a:srgbClr val="0C4E64"/>
                </a:solidFill>
                <a:latin typeface="Century Gothic"/>
              </a:rPr>
              <a:t>HOW THIS RELATES TO THE LIKERT DATA</a:t>
            </a:r>
          </a:p>
        </p:txBody>
      </p:sp>
      <p:sp>
        <p:nvSpPr>
          <p:cNvPr id="24" name="TextBox 23"/>
          <p:cNvSpPr txBox="1"/>
          <p:nvPr/>
        </p:nvSpPr>
        <p:spPr>
          <a:xfrm>
            <a:off x="1060704" y="5687568"/>
            <a:ext cx="10085832" cy="201168"/>
          </a:xfrm>
          <a:prstGeom prst="rect">
            <a:avLst/>
          </a:prstGeom>
          <a:noFill/>
        </p:spPr>
        <p:txBody>
          <a:bodyPr wrap="square" anchor="t" lIns="0" rIns="0" tIns="0" bIns="0">
            <a:spAutoFit/>
          </a:bodyPr>
          <a:lstStyle/>
          <a:p>
            <a:pPr algn="l">
              <a:lnSpc>
                <a:spcPct val="114000"/>
              </a:lnSpc>
              <a:spcBef>
                <a:spcPts val="0"/>
              </a:spcBef>
              <a:spcAft>
                <a:spcPts val="0"/>
              </a:spcAft>
            </a:pPr>
            <a:r>
              <a:rPr sz="1100" i="1">
                <a:solidFill>
                  <a:srgbClr val="0C4E64"/>
                </a:solidFill>
                <a:latin typeface="Calibri"/>
              </a:rPr>
              <a:t>The qualitative responses corroborate the quantitative pattern: difficulty separating genuine threats from false positives matches Q6 (4.33), while requests for ranking and resolution guidance match the two lowest items, Q10 (3.67) and Q11 (3.60).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Discussion — RQ1: Detection Performance</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G · DISCUSSION</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27</a:t>
            </a:r>
          </a:p>
        </p:txBody>
      </p:sp>
      <p:sp>
        <p:nvSpPr>
          <p:cNvPr id="8" name="Rectangle 7"/>
          <p:cNvSpPr/>
          <p:nvPr/>
        </p:nvSpPr>
        <p:spPr>
          <a:xfrm>
            <a:off x="841248" y="228142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78992" y="221284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Random Forest achieved 87.05% accuracy and 98.62% recall, outperforming Logistic Regression on every metric.</a:t>
            </a:r>
          </a:p>
        </p:txBody>
      </p:sp>
      <p:sp>
        <p:nvSpPr>
          <p:cNvPr id="10" name="Rectangle 9"/>
          <p:cNvSpPr/>
          <p:nvPr/>
        </p:nvSpPr>
        <p:spPr>
          <a:xfrm>
            <a:off x="841248" y="2702052"/>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78992" y="2633472"/>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Ensemble learning suits intrusion detection because it models complex, non-linear relationships in traffic.</a:t>
            </a:r>
          </a:p>
        </p:txBody>
      </p:sp>
      <p:sp>
        <p:nvSpPr>
          <p:cNvPr id="12" name="Rectangle 11"/>
          <p:cNvSpPr/>
          <p:nvPr/>
        </p:nvSpPr>
        <p:spPr>
          <a:xfrm>
            <a:off x="841248" y="3122676"/>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78992" y="3054096"/>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This is consistent with prior work reporting strong Random Forest performance on UNSW-NB15.</a:t>
            </a:r>
          </a:p>
        </p:txBody>
      </p:sp>
      <p:sp>
        <p:nvSpPr>
          <p:cNvPr id="14" name="Rectangle 13"/>
          <p:cNvSpPr/>
          <p:nvPr/>
        </p:nvSpPr>
        <p:spPr>
          <a:xfrm>
            <a:off x="841248" y="3602736"/>
            <a:ext cx="5120640" cy="137160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41248" y="3602736"/>
            <a:ext cx="45720" cy="137160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78992" y="3785616"/>
            <a:ext cx="4700016"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STRENGTH</a:t>
            </a:r>
          </a:p>
        </p:txBody>
      </p:sp>
      <p:sp>
        <p:nvSpPr>
          <p:cNvPr id="17" name="TextBox 16"/>
          <p:cNvSpPr txBox="1"/>
          <p:nvPr/>
        </p:nvSpPr>
        <p:spPr>
          <a:xfrm>
            <a:off x="1078992" y="4023360"/>
            <a:ext cx="4700016"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What the model achieved</a:t>
            </a:r>
          </a:p>
        </p:txBody>
      </p:sp>
      <p:sp>
        <p:nvSpPr>
          <p:cNvPr id="18" name="TextBox 17"/>
          <p:cNvSpPr txBox="1"/>
          <p:nvPr/>
        </p:nvSpPr>
        <p:spPr>
          <a:xfrm>
            <a:off x="1078992" y="4297680"/>
            <a:ext cx="4700016" cy="566928"/>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High recall means most malicious traffic was identified, with only 626 missed attacks at the default threshold.</a:t>
            </a:r>
          </a:p>
        </p:txBody>
      </p:sp>
      <p:sp>
        <p:nvSpPr>
          <p:cNvPr id="19" name="Rectangle 18"/>
          <p:cNvSpPr/>
          <p:nvPr/>
        </p:nvSpPr>
        <p:spPr>
          <a:xfrm>
            <a:off x="6227064" y="3602736"/>
            <a:ext cx="5120640" cy="137160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27064" y="3602736"/>
            <a:ext cx="45720" cy="137160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64808" y="3785616"/>
            <a:ext cx="4700016" cy="256032"/>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FF7841"/>
                </a:solidFill>
                <a:latin typeface="Century Gothic"/>
              </a:rPr>
              <a:t>PERSISTENT PROBLEM</a:t>
            </a:r>
          </a:p>
        </p:txBody>
      </p:sp>
      <p:sp>
        <p:nvSpPr>
          <p:cNvPr id="22" name="TextBox 21"/>
          <p:cNvSpPr txBox="1"/>
          <p:nvPr/>
        </p:nvSpPr>
        <p:spPr>
          <a:xfrm>
            <a:off x="6464808" y="4023360"/>
            <a:ext cx="4700016" cy="329184"/>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C4E64"/>
                </a:solidFill>
                <a:latin typeface="Century Gothic"/>
              </a:rPr>
              <a:t>What it did not achieve</a:t>
            </a:r>
          </a:p>
        </p:txBody>
      </p:sp>
      <p:sp>
        <p:nvSpPr>
          <p:cNvPr id="23" name="TextBox 22"/>
          <p:cNvSpPr txBox="1"/>
          <p:nvPr/>
        </p:nvSpPr>
        <p:spPr>
          <a:xfrm>
            <a:off x="6464808" y="4297680"/>
            <a:ext cx="4700016" cy="566928"/>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333433"/>
                </a:solidFill>
                <a:latin typeface="Calibri"/>
              </a:rPr>
              <a:t>Even the best model left a 27% false positive rate, and the strictest threshold still gave 14.60%.</a:t>
            </a:r>
          </a:p>
        </p:txBody>
      </p:sp>
      <p:sp>
        <p:nvSpPr>
          <p:cNvPr id="24" name="Rectangle 23"/>
          <p:cNvSpPr/>
          <p:nvPr/>
        </p:nvSpPr>
        <p:spPr>
          <a:xfrm>
            <a:off x="841248" y="5157216"/>
            <a:ext cx="10506456" cy="859536"/>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41248" y="5157216"/>
            <a:ext cx="54864" cy="859536"/>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152144" y="5303520"/>
            <a:ext cx="9784080" cy="603504"/>
          </a:xfrm>
          <a:prstGeom prst="rect">
            <a:avLst/>
          </a:prstGeom>
          <a:noFill/>
        </p:spPr>
        <p:txBody>
          <a:bodyPr wrap="square" anchor="t" lIns="0" rIns="0" tIns="0" bIns="0">
            <a:spAutoFit/>
          </a:bodyPr>
          <a:lstStyle/>
          <a:p>
            <a:pPr algn="l">
              <a:lnSpc>
                <a:spcPct val="115000"/>
              </a:lnSpc>
              <a:spcBef>
                <a:spcPts val="0"/>
              </a:spcBef>
              <a:spcAft>
                <a:spcPts val="0"/>
              </a:spcAft>
            </a:pPr>
            <a:r>
              <a:rPr sz="1250" b="1" i="0">
                <a:solidFill>
                  <a:srgbClr val="FFFFFF"/>
                </a:solidFill>
                <a:latin typeface="Century Gothic"/>
              </a:rPr>
              <a:t>Improving accuracy alone does not remove the false positive burden developers carry — which is consistent with the base-rate argument of Axelsson (2000).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Discussion — RQ2 and RQ3</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G · DISCUSSION</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28</a:t>
            </a:r>
          </a:p>
        </p:txBody>
      </p:sp>
      <p:sp>
        <p:nvSpPr>
          <p:cNvPr id="8" name="Rectangle 7"/>
          <p:cNvSpPr/>
          <p:nvPr/>
        </p:nvSpPr>
        <p:spPr>
          <a:xfrm>
            <a:off x="841248" y="2212848"/>
            <a:ext cx="5120640" cy="380390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41248" y="2212848"/>
            <a:ext cx="5120640" cy="402336"/>
          </a:xfrm>
          <a:prstGeom prst="rect">
            <a:avLst/>
          </a:prstGeom>
          <a:solidFill>
            <a:srgbClr val="083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60704" y="2313432"/>
            <a:ext cx="4663440" cy="256032"/>
          </a:xfrm>
          <a:prstGeom prst="rect">
            <a:avLst/>
          </a:prstGeom>
          <a:noFill/>
        </p:spPr>
        <p:txBody>
          <a:bodyPr wrap="square" anchor="t" lIns="0" rIns="0" tIns="0" bIns="0">
            <a:spAutoFit/>
          </a:bodyPr>
          <a:lstStyle/>
          <a:p>
            <a:pPr algn="l">
              <a:lnSpc>
                <a:spcPct val="115000"/>
              </a:lnSpc>
              <a:spcBef>
                <a:spcPts val="0"/>
              </a:spcBef>
              <a:spcAft>
                <a:spcPts val="0"/>
              </a:spcAft>
            </a:pPr>
            <a:r>
              <a:rPr sz="1050" b="1" i="0">
                <a:solidFill>
                  <a:srgbClr val="FFFFFF"/>
                </a:solidFill>
                <a:latin typeface="Century Gothic"/>
              </a:rPr>
              <a:t>RQ2 · CLARITY AND USEFULNESS</a:t>
            </a:r>
          </a:p>
        </p:txBody>
      </p:sp>
      <p:sp>
        <p:nvSpPr>
          <p:cNvPr id="11" name="Rectangle 10"/>
          <p:cNvSpPr/>
          <p:nvPr/>
        </p:nvSpPr>
        <p:spPr>
          <a:xfrm>
            <a:off x="1060704" y="2866644"/>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298448" y="2798064"/>
            <a:ext cx="4480560" cy="329184"/>
          </a:xfrm>
          <a:prstGeom prst="rect">
            <a:avLst/>
          </a:prstGeom>
          <a:noFill/>
        </p:spPr>
        <p:txBody>
          <a:bodyPr wrap="square" anchor="t" lIns="0" rIns="0" tIns="0" bIns="0">
            <a:spAutoFit/>
          </a:bodyPr>
          <a:lstStyle/>
          <a:p>
            <a:pPr algn="l">
              <a:lnSpc>
                <a:spcPct val="112000"/>
              </a:lnSpc>
              <a:spcBef>
                <a:spcPts val="0"/>
              </a:spcBef>
              <a:spcAft>
                <a:spcPts val="0"/>
              </a:spcAft>
            </a:pPr>
            <a:r>
              <a:rPr sz="1050" b="0" i="0">
                <a:solidFill>
                  <a:srgbClr val="333433"/>
                </a:solidFill>
                <a:latin typeface="Calibri"/>
              </a:rPr>
              <a:t>Construct mean 3.85 — participants agreed the alerts were understandable and useful.</a:t>
            </a:r>
          </a:p>
        </p:txBody>
      </p:sp>
      <p:sp>
        <p:nvSpPr>
          <p:cNvPr id="13" name="Rectangle 12"/>
          <p:cNvSpPr/>
          <p:nvPr/>
        </p:nvSpPr>
        <p:spPr>
          <a:xfrm>
            <a:off x="1060704" y="376229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298448" y="3693718"/>
            <a:ext cx="4480560" cy="329184"/>
          </a:xfrm>
          <a:prstGeom prst="rect">
            <a:avLst/>
          </a:prstGeom>
          <a:noFill/>
        </p:spPr>
        <p:txBody>
          <a:bodyPr wrap="square" anchor="t" lIns="0" rIns="0" tIns="0" bIns="0">
            <a:spAutoFit/>
          </a:bodyPr>
          <a:lstStyle/>
          <a:p>
            <a:pPr algn="l">
              <a:lnSpc>
                <a:spcPct val="112000"/>
              </a:lnSpc>
              <a:spcBef>
                <a:spcPts val="0"/>
              </a:spcBef>
              <a:spcAft>
                <a:spcPts val="0"/>
              </a:spcAft>
            </a:pPr>
            <a:r>
              <a:rPr sz="1050" b="0" i="0">
                <a:solidFill>
                  <a:srgbClr val="333433"/>
                </a:solidFill>
                <a:latin typeface="Calibri"/>
              </a:rPr>
              <a:t>Clarity scored highest (Q8 = 4.33): the interface communicated the information effectively.</a:t>
            </a:r>
          </a:p>
        </p:txBody>
      </p:sp>
      <p:sp>
        <p:nvSpPr>
          <p:cNvPr id="15" name="Rectangle 14"/>
          <p:cNvSpPr/>
          <p:nvPr/>
        </p:nvSpPr>
        <p:spPr>
          <a:xfrm>
            <a:off x="1060704" y="4657952"/>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298448" y="4589372"/>
            <a:ext cx="4480560" cy="329184"/>
          </a:xfrm>
          <a:prstGeom prst="rect">
            <a:avLst/>
          </a:prstGeom>
          <a:noFill/>
        </p:spPr>
        <p:txBody>
          <a:bodyPr wrap="square" anchor="t" lIns="0" rIns="0" tIns="0" bIns="0">
            <a:spAutoFit/>
          </a:bodyPr>
          <a:lstStyle/>
          <a:p>
            <a:pPr algn="l">
              <a:lnSpc>
                <a:spcPct val="112000"/>
              </a:lnSpc>
              <a:spcBef>
                <a:spcPts val="0"/>
              </a:spcBef>
              <a:spcAft>
                <a:spcPts val="0"/>
              </a:spcAft>
            </a:pPr>
            <a:r>
              <a:rPr sz="1050" b="0" i="0">
                <a:solidFill>
                  <a:srgbClr val="333433"/>
                </a:solidFill>
                <a:latin typeface="Calibri"/>
              </a:rPr>
              <a:t>But support for maintenance decisions scored lowest (Q11 = 3.60).</a:t>
            </a:r>
          </a:p>
        </p:txBody>
      </p:sp>
      <p:sp>
        <p:nvSpPr>
          <p:cNvPr id="17" name="Rectangle 16"/>
          <p:cNvSpPr/>
          <p:nvPr/>
        </p:nvSpPr>
        <p:spPr>
          <a:xfrm>
            <a:off x="1060704" y="5371184"/>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298448" y="5302604"/>
            <a:ext cx="4480560" cy="329184"/>
          </a:xfrm>
          <a:prstGeom prst="rect">
            <a:avLst/>
          </a:prstGeom>
          <a:noFill/>
        </p:spPr>
        <p:txBody>
          <a:bodyPr wrap="square" anchor="t" lIns="0" rIns="0" tIns="0" bIns="0">
            <a:spAutoFit/>
          </a:bodyPr>
          <a:lstStyle/>
          <a:p>
            <a:pPr algn="l">
              <a:lnSpc>
                <a:spcPct val="112000"/>
              </a:lnSpc>
              <a:spcBef>
                <a:spcPts val="0"/>
              </a:spcBef>
              <a:spcAft>
                <a:spcPts val="0"/>
              </a:spcAft>
            </a:pPr>
            <a:r>
              <a:rPr sz="1050" b="0" i="0">
                <a:solidFill>
                  <a:srgbClr val="333433"/>
                </a:solidFill>
                <a:latin typeface="Calibri"/>
              </a:rPr>
              <a:t>Developers appear to need severity, history and recommended actions before acting.</a:t>
            </a:r>
          </a:p>
        </p:txBody>
      </p:sp>
      <p:sp>
        <p:nvSpPr>
          <p:cNvPr id="19" name="Rectangle 18"/>
          <p:cNvSpPr/>
          <p:nvPr/>
        </p:nvSpPr>
        <p:spPr>
          <a:xfrm>
            <a:off x="6227064" y="2212848"/>
            <a:ext cx="5120640" cy="3803904"/>
          </a:xfrm>
          <a:prstGeom prst="rect">
            <a:avLst/>
          </a:prstGeom>
          <a:solidFill>
            <a:srgbClr val="F2E5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27064" y="2212848"/>
            <a:ext cx="5120640" cy="402336"/>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46520" y="2313432"/>
            <a:ext cx="4663440" cy="256032"/>
          </a:xfrm>
          <a:prstGeom prst="rect">
            <a:avLst/>
          </a:prstGeom>
          <a:noFill/>
        </p:spPr>
        <p:txBody>
          <a:bodyPr wrap="square" anchor="t" lIns="0" rIns="0" tIns="0" bIns="0">
            <a:spAutoFit/>
          </a:bodyPr>
          <a:lstStyle/>
          <a:p>
            <a:pPr algn="l">
              <a:lnSpc>
                <a:spcPct val="115000"/>
              </a:lnSpc>
              <a:spcBef>
                <a:spcPts val="0"/>
              </a:spcBef>
              <a:spcAft>
                <a:spcPts val="0"/>
              </a:spcAft>
            </a:pPr>
            <a:r>
              <a:rPr sz="1050" b="1" i="0">
                <a:solidFill>
                  <a:srgbClr val="FFFFFF"/>
                </a:solidFill>
                <a:latin typeface="Century Gothic"/>
              </a:rPr>
              <a:t>RQ3 · PERCEIVED EFFECT ON TRUST</a:t>
            </a:r>
          </a:p>
        </p:txBody>
      </p:sp>
      <p:sp>
        <p:nvSpPr>
          <p:cNvPr id="22" name="Rectangle 21"/>
          <p:cNvSpPr/>
          <p:nvPr/>
        </p:nvSpPr>
        <p:spPr>
          <a:xfrm>
            <a:off x="6446520" y="2866644"/>
            <a:ext cx="91440" cy="9144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684264" y="2798064"/>
            <a:ext cx="4443984" cy="329184"/>
          </a:xfrm>
          <a:prstGeom prst="rect">
            <a:avLst/>
          </a:prstGeom>
          <a:noFill/>
        </p:spPr>
        <p:txBody>
          <a:bodyPr wrap="square" anchor="t" lIns="0" rIns="0" tIns="0" bIns="0">
            <a:spAutoFit/>
          </a:bodyPr>
          <a:lstStyle/>
          <a:p>
            <a:pPr algn="l">
              <a:lnSpc>
                <a:spcPct val="112000"/>
              </a:lnSpc>
              <a:spcBef>
                <a:spcPts val="0"/>
              </a:spcBef>
              <a:spcAft>
                <a:spcPts val="0"/>
              </a:spcAft>
            </a:pPr>
            <a:r>
              <a:rPr sz="1050" b="0" i="0">
                <a:solidFill>
                  <a:srgbClr val="333433"/>
                </a:solidFill>
                <a:latin typeface="Calibri"/>
              </a:rPr>
              <a:t>Impact of false positives was the highest-scoring construct (4.17).</a:t>
            </a:r>
          </a:p>
        </p:txBody>
      </p:sp>
      <p:sp>
        <p:nvSpPr>
          <p:cNvPr id="24" name="Rectangle 23"/>
          <p:cNvSpPr/>
          <p:nvPr/>
        </p:nvSpPr>
        <p:spPr>
          <a:xfrm>
            <a:off x="6446520" y="3579876"/>
            <a:ext cx="91440" cy="9144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684264" y="3511296"/>
            <a:ext cx="4443984" cy="329184"/>
          </a:xfrm>
          <a:prstGeom prst="rect">
            <a:avLst/>
          </a:prstGeom>
          <a:noFill/>
        </p:spPr>
        <p:txBody>
          <a:bodyPr wrap="square" anchor="t" lIns="0" rIns="0" tIns="0" bIns="0">
            <a:spAutoFit/>
          </a:bodyPr>
          <a:lstStyle/>
          <a:p>
            <a:pPr algn="l">
              <a:lnSpc>
                <a:spcPct val="112000"/>
              </a:lnSpc>
              <a:spcBef>
                <a:spcPts val="0"/>
              </a:spcBef>
              <a:spcAft>
                <a:spcPts val="0"/>
              </a:spcAft>
            </a:pPr>
            <a:r>
              <a:rPr sz="1050" b="0" i="0">
                <a:solidFill>
                  <a:srgbClr val="333433"/>
                </a:solidFill>
                <a:latin typeface="Calibri"/>
              </a:rPr>
              <a:t>Participants consistently agreed that frequent false alarms would reduce their reliance.</a:t>
            </a:r>
          </a:p>
        </p:txBody>
      </p:sp>
      <p:sp>
        <p:nvSpPr>
          <p:cNvPr id="26" name="Rectangle 25"/>
          <p:cNvSpPr/>
          <p:nvPr/>
        </p:nvSpPr>
        <p:spPr>
          <a:xfrm>
            <a:off x="6446520" y="4475530"/>
            <a:ext cx="91440" cy="9144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684264" y="4406950"/>
            <a:ext cx="4443984" cy="329184"/>
          </a:xfrm>
          <a:prstGeom prst="rect">
            <a:avLst/>
          </a:prstGeom>
          <a:noFill/>
        </p:spPr>
        <p:txBody>
          <a:bodyPr wrap="square" anchor="t" lIns="0" rIns="0" tIns="0" bIns="0">
            <a:spAutoFit/>
          </a:bodyPr>
          <a:lstStyle/>
          <a:p>
            <a:pPr algn="l">
              <a:lnSpc>
                <a:spcPct val="112000"/>
              </a:lnSpc>
              <a:spcBef>
                <a:spcPts val="0"/>
              </a:spcBef>
              <a:spcAft>
                <a:spcPts val="0"/>
              </a:spcAft>
            </a:pPr>
            <a:r>
              <a:rPr sz="1050" b="0" i="0">
                <a:solidFill>
                  <a:srgbClr val="333433"/>
                </a:solidFill>
                <a:latin typeface="Calibri"/>
              </a:rPr>
              <a:t>These items measure considered opinion, not a measured change in trust; no test was performed.</a:t>
            </a:r>
          </a:p>
        </p:txBody>
      </p:sp>
      <p:sp>
        <p:nvSpPr>
          <p:cNvPr id="28" name="Rectangle 27"/>
          <p:cNvSpPr/>
          <p:nvPr/>
        </p:nvSpPr>
        <p:spPr>
          <a:xfrm>
            <a:off x="6446520" y="5371184"/>
            <a:ext cx="91440" cy="9144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84264" y="5302604"/>
            <a:ext cx="4443984" cy="329184"/>
          </a:xfrm>
          <a:prstGeom prst="rect">
            <a:avLst/>
          </a:prstGeom>
          <a:noFill/>
        </p:spPr>
        <p:txBody>
          <a:bodyPr wrap="square" anchor="t" lIns="0" rIns="0" tIns="0" bIns="0">
            <a:spAutoFit/>
          </a:bodyPr>
          <a:lstStyle/>
          <a:p>
            <a:pPr algn="l">
              <a:lnSpc>
                <a:spcPct val="112000"/>
              </a:lnSpc>
              <a:spcBef>
                <a:spcPts val="0"/>
              </a:spcBef>
              <a:spcAft>
                <a:spcPts val="0"/>
              </a:spcAft>
            </a:pPr>
            <a:r>
              <a:rPr sz="1050" b="0" i="0">
                <a:solidFill>
                  <a:srgbClr val="333433"/>
                </a:solidFill>
                <a:latin typeface="Calibri"/>
              </a:rPr>
              <a:t>The claim is therefore descriptive: developers treat false positives as consequential.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Comparison with Previous Studies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G · DISCUSSION</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29</a:t>
            </a:r>
          </a:p>
        </p:txBody>
      </p:sp>
      <p:graphicFrame>
        <p:nvGraphicFramePr>
          <p:cNvPr id="8" name="Table 7"/>
          <p:cNvGraphicFramePr>
            <a:graphicFrameLocks noGrp="1"/>
          </p:cNvGraphicFramePr>
          <p:nvPr/>
        </p:nvGraphicFramePr>
        <p:xfrm>
          <a:off x="841248" y="2212848"/>
          <a:ext cx="10506455" cy="3090672"/>
        </p:xfrm>
        <a:graphic>
          <a:graphicData uri="http://schemas.openxmlformats.org/drawingml/2006/table">
            <a:tbl>
              <a:tblPr firstRow="1" bandRow="1">
                <a:tableStyleId>{5C22544A-7EE6-4342-B048-85BDC9FD1C3A}</a:tableStyleId>
              </a:tblPr>
              <a:tblGrid>
                <a:gridCol w="2495283"/>
                <a:gridCol w="3808590"/>
                <a:gridCol w="4202582"/>
              </a:tblGrid>
              <a:tr h="384048">
                <a:tc>
                  <a:txBody>
                    <a:bodyPr/>
                    <a:lstStyle/>
                    <a:p>
                      <a:pPr>
                        <a:lnSpc>
                          <a:spcPct val="100000"/>
                        </a:lnSpc>
                      </a:pPr>
                      <a:r>
                        <a:rPr sz="1050" b="1">
                          <a:solidFill>
                            <a:srgbClr val="FFFFFF"/>
                          </a:solidFill>
                          <a:latin typeface="Century Gothic"/>
                        </a:rPr>
                        <a:t>Study</a:t>
                      </a:r>
                    </a:p>
                  </a:txBody>
                  <a:tcPr anchor="ctr" marL="82296" marR="64008" marT="18288" marB="18288">
                    <a:solidFill>
                      <a:srgbClr val="0C4E64"/>
                    </a:solidFill>
                  </a:tcPr>
                </a:tc>
                <a:tc>
                  <a:txBody>
                    <a:bodyPr/>
                    <a:lstStyle/>
                    <a:p>
                      <a:pPr>
                        <a:lnSpc>
                          <a:spcPct val="100000"/>
                        </a:lnSpc>
                      </a:pPr>
                      <a:r>
                        <a:rPr sz="1050" b="1">
                          <a:solidFill>
                            <a:srgbClr val="FFFFFF"/>
                          </a:solidFill>
                          <a:latin typeface="Century Gothic"/>
                        </a:rPr>
                        <a:t>Their focus</a:t>
                      </a:r>
                    </a:p>
                  </a:txBody>
                  <a:tcPr anchor="ctr" marL="82296" marR="64008" marT="18288" marB="18288">
                    <a:solidFill>
                      <a:srgbClr val="0C4E64"/>
                    </a:solidFill>
                  </a:tcPr>
                </a:tc>
                <a:tc>
                  <a:txBody>
                    <a:bodyPr/>
                    <a:lstStyle/>
                    <a:p>
                      <a:pPr>
                        <a:lnSpc>
                          <a:spcPct val="100000"/>
                        </a:lnSpc>
                      </a:pPr>
                      <a:r>
                        <a:rPr sz="1050" b="1">
                          <a:solidFill>
                            <a:srgbClr val="FFFFFF"/>
                          </a:solidFill>
                          <a:latin typeface="Century Gothic"/>
                        </a:rPr>
                        <a:t>How this thesis differs</a:t>
                      </a:r>
                    </a:p>
                  </a:txBody>
                  <a:tcPr anchor="ctr" marL="82296" marR="64008" marT="18288" marB="18288">
                    <a:solidFill>
                      <a:srgbClr val="0C4E64"/>
                    </a:solidFill>
                  </a:tcPr>
                </a:tc>
              </a:tr>
              <a:tr h="676656">
                <a:tc>
                  <a:txBody>
                    <a:bodyPr/>
                    <a:lstStyle/>
                    <a:p>
                      <a:pPr>
                        <a:lnSpc>
                          <a:spcPct val="100000"/>
                        </a:lnSpc>
                      </a:pPr>
                      <a:r>
                        <a:rPr sz="1000" b="0">
                          <a:solidFill>
                            <a:srgbClr val="333433"/>
                          </a:solidFill>
                          <a:latin typeface="Calibri"/>
                        </a:rPr>
                        <a:t>Christy et al.; Sun et al.; Waghmode et al.</a:t>
                      </a:r>
                    </a:p>
                  </a:txBody>
                  <a:tcPr anchor="ctr" marL="82296" marR="64008" marT="18288" marB="18288">
                    <a:solidFill>
                      <a:srgbClr val="FFFFFF"/>
                    </a:solidFill>
                  </a:tcPr>
                </a:tc>
                <a:tc>
                  <a:txBody>
                    <a:bodyPr/>
                    <a:lstStyle/>
                    <a:p>
                      <a:pPr>
                        <a:lnSpc>
                          <a:spcPct val="100000"/>
                        </a:lnSpc>
                      </a:pPr>
                      <a:r>
                        <a:rPr sz="1000" b="0">
                          <a:solidFill>
                            <a:srgbClr val="333433"/>
                          </a:solidFill>
                          <a:latin typeface="Calibri"/>
                        </a:rPr>
                        <a:t>Detection performance on benchmark datasets.</a:t>
                      </a:r>
                    </a:p>
                  </a:txBody>
                  <a:tcPr anchor="ctr" marL="82296" marR="64008" marT="18288" marB="18288">
                    <a:solidFill>
                      <a:srgbClr val="FFFFFF"/>
                    </a:solidFill>
                  </a:tcPr>
                </a:tc>
                <a:tc>
                  <a:txBody>
                    <a:bodyPr/>
                    <a:lstStyle/>
                    <a:p>
                      <a:pPr>
                        <a:lnSpc>
                          <a:spcPct val="100000"/>
                        </a:lnSpc>
                      </a:pPr>
                      <a:r>
                        <a:rPr sz="1000" b="0">
                          <a:solidFill>
                            <a:srgbClr val="333433"/>
                          </a:solidFill>
                          <a:latin typeface="Calibri"/>
                        </a:rPr>
                        <a:t>Confirms ensemble suitability, then asks what the remaining false positives mean for developers.</a:t>
                      </a:r>
                    </a:p>
                  </a:txBody>
                  <a:tcPr anchor="ctr" marL="82296" marR="64008" marT="18288" marB="18288">
                    <a:solidFill>
                      <a:srgbClr val="FFFFFF"/>
                    </a:solidFill>
                  </a:tcPr>
                </a:tc>
              </a:tr>
              <a:tr h="676656">
                <a:tc>
                  <a:txBody>
                    <a:bodyPr/>
                    <a:lstStyle/>
                    <a:p>
                      <a:pPr>
                        <a:lnSpc>
                          <a:spcPct val="100000"/>
                        </a:lnSpc>
                      </a:pPr>
                      <a:r>
                        <a:rPr sz="1000" b="0">
                          <a:solidFill>
                            <a:srgbClr val="333433"/>
                          </a:solidFill>
                          <a:latin typeface="Calibri"/>
                        </a:rPr>
                        <a:t>Ahmad et al.</a:t>
                      </a:r>
                    </a:p>
                  </a:txBody>
                  <a:tcPr anchor="ctr" marL="82296" marR="64008" marT="18288" marB="18288">
                    <a:solidFill>
                      <a:srgbClr val="F2E5DF"/>
                    </a:solidFill>
                  </a:tcPr>
                </a:tc>
                <a:tc>
                  <a:txBody>
                    <a:bodyPr/>
                    <a:lstStyle/>
                    <a:p>
                      <a:pPr>
                        <a:lnSpc>
                          <a:spcPct val="100000"/>
                        </a:lnSpc>
                      </a:pPr>
                      <a:r>
                        <a:rPr sz="1000" b="0">
                          <a:solidFill>
                            <a:srgbClr val="333433"/>
                          </a:solidFill>
                          <a:latin typeface="Calibri"/>
                        </a:rPr>
                        <a:t>Review identifying false alarms as a major challenge.</a:t>
                      </a:r>
                    </a:p>
                  </a:txBody>
                  <a:tcPr anchor="ctr" marL="82296" marR="64008" marT="18288" marB="18288">
                    <a:solidFill>
                      <a:srgbClr val="F2E5DF"/>
                    </a:solidFill>
                  </a:tcPr>
                </a:tc>
                <a:tc>
                  <a:txBody>
                    <a:bodyPr/>
                    <a:lstStyle/>
                    <a:p>
                      <a:pPr>
                        <a:lnSpc>
                          <a:spcPct val="100000"/>
                        </a:lnSpc>
                      </a:pPr>
                      <a:r>
                        <a:rPr sz="1000" b="0">
                          <a:solidFill>
                            <a:srgbClr val="333433"/>
                          </a:solidFill>
                          <a:latin typeface="Calibri"/>
                        </a:rPr>
                        <a:t>Treats false positives as a determinant of trust rather than only a metric.</a:t>
                      </a:r>
                    </a:p>
                  </a:txBody>
                  <a:tcPr anchor="ctr" marL="82296" marR="64008" marT="18288" marB="18288">
                    <a:solidFill>
                      <a:srgbClr val="F2E5DF"/>
                    </a:solidFill>
                  </a:tcPr>
                </a:tc>
              </a:tr>
              <a:tr h="676656">
                <a:tc>
                  <a:txBody>
                    <a:bodyPr/>
                    <a:lstStyle/>
                    <a:p>
                      <a:pPr>
                        <a:lnSpc>
                          <a:spcPct val="100000"/>
                        </a:lnSpc>
                      </a:pPr>
                      <a:r>
                        <a:rPr sz="1000" b="0">
                          <a:solidFill>
                            <a:srgbClr val="333433"/>
                          </a:solidFill>
                          <a:latin typeface="Calibri"/>
                        </a:rPr>
                        <a:t>Axelsson; Sommer and Paxson</a:t>
                      </a:r>
                    </a:p>
                  </a:txBody>
                  <a:tcPr anchor="ctr" marL="82296" marR="64008" marT="18288" marB="18288">
                    <a:solidFill>
                      <a:srgbClr val="FFFFFF"/>
                    </a:solidFill>
                  </a:tcPr>
                </a:tc>
                <a:tc>
                  <a:txBody>
                    <a:bodyPr/>
                    <a:lstStyle/>
                    <a:p>
                      <a:pPr>
                        <a:lnSpc>
                          <a:spcPct val="100000"/>
                        </a:lnSpc>
                      </a:pPr>
                      <a:r>
                        <a:rPr sz="1000" b="0">
                          <a:solidFill>
                            <a:srgbClr val="333433"/>
                          </a:solidFill>
                          <a:latin typeface="Calibri"/>
                        </a:rPr>
                        <a:t>Why detection output is hard to use operationally.</a:t>
                      </a:r>
                    </a:p>
                  </a:txBody>
                  <a:tcPr anchor="ctr" marL="82296" marR="64008" marT="18288" marB="18288">
                    <a:solidFill>
                      <a:srgbClr val="FFFFFF"/>
                    </a:solidFill>
                  </a:tcPr>
                </a:tc>
                <a:tc>
                  <a:txBody>
                    <a:bodyPr/>
                    <a:lstStyle/>
                    <a:p>
                      <a:pPr>
                        <a:lnSpc>
                          <a:spcPct val="100000"/>
                        </a:lnSpc>
                      </a:pPr>
                      <a:r>
                        <a:rPr sz="1000" b="0">
                          <a:solidFill>
                            <a:srgbClr val="333433"/>
                          </a:solidFill>
                          <a:latin typeface="Calibri"/>
                        </a:rPr>
                        <a:t>Supplies the base-rate and semantic-gap explanation for the measured 27% FPR.</a:t>
                      </a:r>
                    </a:p>
                  </a:txBody>
                  <a:tcPr anchor="ctr" marL="82296" marR="64008" marT="18288" marB="18288">
                    <a:solidFill>
                      <a:srgbClr val="FFFFFF"/>
                    </a:solidFill>
                  </a:tcPr>
                </a:tc>
              </a:tr>
              <a:tr h="676656">
                <a:tc>
                  <a:txBody>
                    <a:bodyPr/>
                    <a:lstStyle/>
                    <a:p>
                      <a:pPr>
                        <a:lnSpc>
                          <a:spcPct val="100000"/>
                        </a:lnSpc>
                      </a:pPr>
                      <a:r>
                        <a:rPr sz="1000" b="0">
                          <a:solidFill>
                            <a:srgbClr val="333433"/>
                          </a:solidFill>
                          <a:latin typeface="Calibri"/>
                        </a:rPr>
                        <a:t>Lee and See; Alahmadi et al.</a:t>
                      </a:r>
                    </a:p>
                  </a:txBody>
                  <a:tcPr anchor="ctr" marL="82296" marR="64008" marT="18288" marB="18288">
                    <a:solidFill>
                      <a:srgbClr val="F2E5DF"/>
                    </a:solidFill>
                  </a:tcPr>
                </a:tc>
                <a:tc>
                  <a:txBody>
                    <a:bodyPr/>
                    <a:lstStyle/>
                    <a:p>
                      <a:pPr>
                        <a:lnSpc>
                          <a:spcPct val="100000"/>
                        </a:lnSpc>
                      </a:pPr>
                      <a:r>
                        <a:rPr sz="1000" b="0">
                          <a:solidFill>
                            <a:srgbClr val="333433"/>
                          </a:solidFill>
                          <a:latin typeface="Calibri"/>
                        </a:rPr>
                        <a:t>Trust in automation; SOC analysts living with false positives.</a:t>
                      </a:r>
                    </a:p>
                  </a:txBody>
                  <a:tcPr anchor="ctr" marL="82296" marR="64008" marT="18288" marB="18288">
                    <a:solidFill>
                      <a:srgbClr val="F2E5DF"/>
                    </a:solidFill>
                  </a:tcPr>
                </a:tc>
                <a:tc>
                  <a:txBody>
                    <a:bodyPr/>
                    <a:lstStyle/>
                    <a:p>
                      <a:pPr>
                        <a:lnSpc>
                          <a:spcPct val="100000"/>
                        </a:lnSpc>
                      </a:pPr>
                      <a:r>
                        <a:rPr sz="1000" b="0">
                          <a:solidFill>
                            <a:srgbClr val="333433"/>
                          </a:solidFill>
                          <a:latin typeface="Calibri"/>
                        </a:rPr>
                        <a:t>Provides the trust framing; this study applies it to developers rather than analysts.</a:t>
                      </a:r>
                    </a:p>
                  </a:txBody>
                  <a:tcPr anchor="ctr" marL="82296" marR="64008" marT="18288" marB="18288">
                    <a:solidFill>
                      <a:srgbClr val="F2E5DF"/>
                    </a:solidFill>
                  </a:tcPr>
                </a:tc>
              </a:tr>
            </a:tbl>
          </a:graphicData>
        </a:graphic>
      </p:graphicFrame>
      <p:sp>
        <p:nvSpPr>
          <p:cNvPr id="9" name="Rectangle 8"/>
          <p:cNvSpPr/>
          <p:nvPr/>
        </p:nvSpPr>
        <p:spPr>
          <a:xfrm>
            <a:off x="841248" y="5376672"/>
            <a:ext cx="10506456" cy="640080"/>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41248" y="5376672"/>
            <a:ext cx="45720" cy="64008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0704" y="5522976"/>
            <a:ext cx="10085832" cy="237744"/>
          </a:xfrm>
          <a:prstGeom prst="rect">
            <a:avLst/>
          </a:prstGeom>
          <a:noFill/>
        </p:spPr>
        <p:txBody>
          <a:bodyPr wrap="square" anchor="t" lIns="0" rIns="0" tIns="0" bIns="0">
            <a:spAutoFit/>
          </a:bodyPr>
          <a:lstStyle/>
          <a:p>
            <a:pPr algn="l">
              <a:lnSpc>
                <a:spcPct val="115000"/>
              </a:lnSpc>
              <a:spcBef>
                <a:spcPts val="0"/>
              </a:spcBef>
              <a:spcAft>
                <a:spcPts val="0"/>
              </a:spcAft>
            </a:pPr>
            <a:r>
              <a:rPr sz="900" b="1" i="0">
                <a:solidFill>
                  <a:srgbClr val="0C4E64"/>
                </a:solidFill>
                <a:latin typeface="Century Gothic"/>
              </a:rPr>
              <a:t>RESEARCH CONTRIBUTION</a:t>
            </a:r>
          </a:p>
        </p:txBody>
      </p:sp>
      <p:sp>
        <p:nvSpPr>
          <p:cNvPr id="12" name="TextBox 11"/>
          <p:cNvSpPr txBox="1"/>
          <p:nvPr/>
        </p:nvSpPr>
        <p:spPr>
          <a:xfrm>
            <a:off x="1060704" y="5779008"/>
            <a:ext cx="10085832" cy="201168"/>
          </a:xfrm>
          <a:prstGeom prst="rect">
            <a:avLst/>
          </a:prstGeom>
          <a:noFill/>
        </p:spPr>
        <p:txBody>
          <a:bodyPr wrap="square" anchor="t" lIns="0" rIns="0" tIns="0" bIns="0">
            <a:spAutoFit/>
          </a:bodyPr>
          <a:lstStyle/>
          <a:p>
            <a:pPr algn="l">
              <a:lnSpc>
                <a:spcPct val="116000"/>
              </a:lnSpc>
              <a:spcBef>
                <a:spcPts val="0"/>
              </a:spcBef>
              <a:spcAft>
                <a:spcPts val="0"/>
              </a:spcAft>
            </a:pPr>
            <a:r>
              <a:rPr sz="1100" b="0" i="1">
                <a:solidFill>
                  <a:srgbClr val="0C4E64"/>
                </a:solidFill>
                <a:latin typeface="Calibri"/>
              </a:rPr>
              <a:t>Combining a measured technical evaluation with developer perception, anchored in the trust and usable-security literature rather than treating trust as an undefined quantity.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Limitations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G · DISCUSSION</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30</a:t>
            </a:r>
          </a:p>
        </p:txBody>
      </p:sp>
      <p:sp>
        <p:nvSpPr>
          <p:cNvPr id="8" name="Rectangle 7"/>
          <p:cNvSpPr/>
          <p:nvPr/>
        </p:nvSpPr>
        <p:spPr>
          <a:xfrm>
            <a:off x="841248" y="2212848"/>
            <a:ext cx="5001768" cy="115214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41248" y="2212848"/>
            <a:ext cx="45720" cy="115214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78992" y="2340864"/>
            <a:ext cx="4553712" cy="914400"/>
          </a:xfrm>
          <a:prstGeom prst="rect">
            <a:avLst/>
          </a:prstGeom>
          <a:noFill/>
        </p:spPr>
        <p:txBody>
          <a:bodyPr wrap="square" anchor="t" lIns="0" rIns="0" tIns="0" bIns="0">
            <a:spAutoFit/>
          </a:bodyPr>
          <a:lstStyle/>
          <a:p>
            <a:pPr algn="l">
              <a:lnSpc>
                <a:spcPct val="115000"/>
              </a:lnSpc>
              <a:spcBef>
                <a:spcPts val="0"/>
              </a:spcBef>
              <a:spcAft>
                <a:spcPts val="300"/>
              </a:spcAft>
            </a:pPr>
            <a:r>
              <a:rPr sz="1200" b="1" i="0">
                <a:solidFill>
                  <a:srgbClr val="0C4E64"/>
                </a:solidFill>
                <a:latin typeface="Century Gothic"/>
              </a:rPr>
              <a:t>RQ3 measurement design</a:t>
            </a:r>
          </a:p>
          <a:p>
            <a:pPr algn="l">
              <a:lnSpc>
                <a:spcPct val="110000"/>
              </a:lnSpc>
              <a:spcBef>
                <a:spcPts val="0"/>
              </a:spcBef>
              <a:spcAft>
                <a:spcPts val="0"/>
              </a:spcAft>
            </a:pPr>
            <a:r>
              <a:rPr sz="1000" b="0" i="0">
                <a:solidFill>
                  <a:srgbClr val="333433"/>
                </a:solidFill>
                <a:latin typeface="Calibri"/>
              </a:rPr>
              <a:t>Ratings were collected once after all scenarios, so trust was not measured per condition. Q4–Q7 capture opinion about false positives, not a measured change in trust.</a:t>
            </a:r>
          </a:p>
        </p:txBody>
      </p:sp>
      <p:sp>
        <p:nvSpPr>
          <p:cNvPr id="11" name="Rectangle 10"/>
          <p:cNvSpPr/>
          <p:nvPr/>
        </p:nvSpPr>
        <p:spPr>
          <a:xfrm>
            <a:off x="6272784" y="2212848"/>
            <a:ext cx="5001768" cy="115214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72784" y="2212848"/>
            <a:ext cx="45720" cy="115214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10528" y="2340864"/>
            <a:ext cx="4553712" cy="914400"/>
          </a:xfrm>
          <a:prstGeom prst="rect">
            <a:avLst/>
          </a:prstGeom>
          <a:noFill/>
        </p:spPr>
        <p:txBody>
          <a:bodyPr wrap="square" anchor="t" lIns="0" rIns="0" tIns="0" bIns="0">
            <a:spAutoFit/>
          </a:bodyPr>
          <a:lstStyle/>
          <a:p>
            <a:pPr algn="l">
              <a:lnSpc>
                <a:spcPct val="115000"/>
              </a:lnSpc>
              <a:spcBef>
                <a:spcPts val="0"/>
              </a:spcBef>
              <a:spcAft>
                <a:spcPts val="300"/>
              </a:spcAft>
            </a:pPr>
            <a:r>
              <a:rPr sz="1200" b="1" i="0">
                <a:solidFill>
                  <a:srgbClr val="0C4E64"/>
                </a:solidFill>
                <a:latin typeface="Century Gothic"/>
              </a:rPr>
              <a:t>No inferential testing</a:t>
            </a:r>
          </a:p>
          <a:p>
            <a:pPr algn="l">
              <a:lnSpc>
                <a:spcPct val="110000"/>
              </a:lnSpc>
              <a:spcBef>
                <a:spcPts val="0"/>
              </a:spcBef>
              <a:spcAft>
                <a:spcPts val="0"/>
              </a:spcAft>
            </a:pPr>
            <a:r>
              <a:rPr sz="1000" b="0" i="0">
                <a:solidFill>
                  <a:srgbClr val="333433"/>
                </a:solidFill>
                <a:latin typeface="Calibri"/>
              </a:rPr>
              <a:t>With n = 15 and descriptive statistics only, no significance is claimed anywhere.</a:t>
            </a:r>
          </a:p>
        </p:txBody>
      </p:sp>
      <p:sp>
        <p:nvSpPr>
          <p:cNvPr id="14" name="Rectangle 13"/>
          <p:cNvSpPr/>
          <p:nvPr/>
        </p:nvSpPr>
        <p:spPr>
          <a:xfrm>
            <a:off x="841248" y="3511296"/>
            <a:ext cx="5001768" cy="115214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41248" y="3511296"/>
            <a:ext cx="45720" cy="1152144"/>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78992" y="3639312"/>
            <a:ext cx="4553712" cy="914400"/>
          </a:xfrm>
          <a:prstGeom prst="rect">
            <a:avLst/>
          </a:prstGeom>
          <a:noFill/>
        </p:spPr>
        <p:txBody>
          <a:bodyPr wrap="square" anchor="t" lIns="0" rIns="0" tIns="0" bIns="0">
            <a:spAutoFit/>
          </a:bodyPr>
          <a:lstStyle/>
          <a:p>
            <a:pPr algn="l">
              <a:lnSpc>
                <a:spcPct val="115000"/>
              </a:lnSpc>
              <a:spcBef>
                <a:spcPts val="0"/>
              </a:spcBef>
              <a:spcAft>
                <a:spcPts val="300"/>
              </a:spcAft>
            </a:pPr>
            <a:r>
              <a:rPr sz="1200" b="1" i="0">
                <a:solidFill>
                  <a:srgbClr val="0C4E64"/>
                </a:solidFill>
                <a:latin typeface="Century Gothic"/>
              </a:rPr>
              <a:t>Small, non-random sample</a:t>
            </a:r>
          </a:p>
          <a:p>
            <a:pPr algn="l">
              <a:lnSpc>
                <a:spcPct val="110000"/>
              </a:lnSpc>
              <a:spcBef>
                <a:spcPts val="0"/>
              </a:spcBef>
              <a:spcAft>
                <a:spcPts val="0"/>
              </a:spcAft>
            </a:pPr>
            <a:r>
              <a:rPr sz="1000" b="0" i="0">
                <a:solidFill>
                  <a:srgbClr val="333433"/>
                </a:solidFill>
                <a:latin typeface="Calibri"/>
              </a:rPr>
              <a:t>15 participants recruited by convenience sampling; students and researchers alongside practitioners.</a:t>
            </a:r>
          </a:p>
        </p:txBody>
      </p:sp>
      <p:sp>
        <p:nvSpPr>
          <p:cNvPr id="17" name="Rectangle 16"/>
          <p:cNvSpPr/>
          <p:nvPr/>
        </p:nvSpPr>
        <p:spPr>
          <a:xfrm>
            <a:off x="6272784" y="3511296"/>
            <a:ext cx="5001768" cy="115214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72784" y="3511296"/>
            <a:ext cx="45720" cy="1152144"/>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10528" y="3639312"/>
            <a:ext cx="4553712" cy="914400"/>
          </a:xfrm>
          <a:prstGeom prst="rect">
            <a:avLst/>
          </a:prstGeom>
          <a:noFill/>
        </p:spPr>
        <p:txBody>
          <a:bodyPr wrap="square" anchor="t" lIns="0" rIns="0" tIns="0" bIns="0">
            <a:spAutoFit/>
          </a:bodyPr>
          <a:lstStyle/>
          <a:p>
            <a:pPr algn="l">
              <a:lnSpc>
                <a:spcPct val="115000"/>
              </a:lnSpc>
              <a:spcBef>
                <a:spcPts val="0"/>
              </a:spcBef>
              <a:spcAft>
                <a:spcPts val="300"/>
              </a:spcAft>
            </a:pPr>
            <a:r>
              <a:rPr sz="1200" b="1" i="0">
                <a:solidFill>
                  <a:srgbClr val="0C4E64"/>
                </a:solidFill>
                <a:latin typeface="Century Gothic"/>
              </a:rPr>
              <a:t>Simulated alert review</a:t>
            </a:r>
          </a:p>
          <a:p>
            <a:pPr algn="l">
              <a:lnSpc>
                <a:spcPct val="110000"/>
              </a:lnSpc>
              <a:spcBef>
                <a:spcPts val="0"/>
              </a:spcBef>
              <a:spcAft>
                <a:spcPts val="0"/>
              </a:spcAft>
            </a:pPr>
            <a:r>
              <a:rPr sz="1000" b="0" i="0">
                <a:solidFill>
                  <a:srgbClr val="333433"/>
                </a:solidFill>
                <a:latin typeface="Calibri"/>
              </a:rPr>
              <a:t>Participants reviewed generated alert material rather than operating a deployed IDS over time.</a:t>
            </a:r>
          </a:p>
        </p:txBody>
      </p:sp>
      <p:sp>
        <p:nvSpPr>
          <p:cNvPr id="20" name="Rectangle 19"/>
          <p:cNvSpPr/>
          <p:nvPr/>
        </p:nvSpPr>
        <p:spPr>
          <a:xfrm>
            <a:off x="841248" y="4809744"/>
            <a:ext cx="5001768" cy="115214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841248" y="4809744"/>
            <a:ext cx="45720" cy="1152144"/>
          </a:xfrm>
          <a:prstGeom prst="rect">
            <a:avLst/>
          </a:prstGeom>
          <a:solidFill>
            <a:srgbClr val="94B0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78992" y="4937760"/>
            <a:ext cx="4553712" cy="914400"/>
          </a:xfrm>
          <a:prstGeom prst="rect">
            <a:avLst/>
          </a:prstGeom>
          <a:noFill/>
        </p:spPr>
        <p:txBody>
          <a:bodyPr wrap="square" anchor="t" lIns="0" rIns="0" tIns="0" bIns="0">
            <a:spAutoFit/>
          </a:bodyPr>
          <a:lstStyle/>
          <a:p>
            <a:pPr algn="l">
              <a:lnSpc>
                <a:spcPct val="115000"/>
              </a:lnSpc>
              <a:spcBef>
                <a:spcPts val="0"/>
              </a:spcBef>
              <a:spcAft>
                <a:spcPts val="300"/>
              </a:spcAft>
            </a:pPr>
            <a:r>
              <a:rPr sz="1200" b="1" i="0">
                <a:solidFill>
                  <a:srgbClr val="0C4E64"/>
                </a:solidFill>
                <a:latin typeface="Century Gothic"/>
              </a:rPr>
              <a:t>Simplified prototype</a:t>
            </a:r>
          </a:p>
          <a:p>
            <a:pPr algn="l">
              <a:lnSpc>
                <a:spcPct val="110000"/>
              </a:lnSpc>
              <a:spcBef>
                <a:spcPts val="0"/>
              </a:spcBef>
              <a:spcAft>
                <a:spcPts val="0"/>
              </a:spcAft>
            </a:pPr>
            <a:r>
              <a:rPr sz="1000" b="0" i="0">
                <a:solidFill>
                  <a:srgbClr val="333433"/>
                </a:solidFill>
                <a:latin typeface="Calibri"/>
              </a:rPr>
              <a:t>No dashboards, attack visualisations, historical context or recommended actions.</a:t>
            </a:r>
          </a:p>
        </p:txBody>
      </p:sp>
      <p:sp>
        <p:nvSpPr>
          <p:cNvPr id="23" name="Rectangle 22"/>
          <p:cNvSpPr/>
          <p:nvPr/>
        </p:nvSpPr>
        <p:spPr>
          <a:xfrm>
            <a:off x="6272784" y="4809744"/>
            <a:ext cx="5001768" cy="1152144"/>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72784" y="4809744"/>
            <a:ext cx="45720" cy="1152144"/>
          </a:xfrm>
          <a:prstGeom prst="rect">
            <a:avLst/>
          </a:prstGeom>
          <a:solidFill>
            <a:srgbClr val="94B0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10528" y="4937760"/>
            <a:ext cx="4553712" cy="914400"/>
          </a:xfrm>
          <a:prstGeom prst="rect">
            <a:avLst/>
          </a:prstGeom>
          <a:noFill/>
        </p:spPr>
        <p:txBody>
          <a:bodyPr wrap="square" anchor="t" lIns="0" rIns="0" tIns="0" bIns="0">
            <a:spAutoFit/>
          </a:bodyPr>
          <a:lstStyle/>
          <a:p>
            <a:pPr algn="l">
              <a:lnSpc>
                <a:spcPct val="115000"/>
              </a:lnSpc>
              <a:spcBef>
                <a:spcPts val="0"/>
              </a:spcBef>
              <a:spcAft>
                <a:spcPts val="300"/>
              </a:spcAft>
            </a:pPr>
            <a:r>
              <a:rPr sz="1200" b="1" i="0">
                <a:solidFill>
                  <a:srgbClr val="0C4E64"/>
                </a:solidFill>
                <a:latin typeface="Century Gothic"/>
              </a:rPr>
              <a:t>Single dataset and model</a:t>
            </a:r>
          </a:p>
          <a:p>
            <a:pPr algn="l">
              <a:lnSpc>
                <a:spcPct val="110000"/>
              </a:lnSpc>
              <a:spcBef>
                <a:spcPts val="0"/>
              </a:spcBef>
              <a:spcAft>
                <a:spcPts val="0"/>
              </a:spcAft>
            </a:pPr>
            <a:r>
              <a:rPr sz="1000" b="0" i="0">
                <a:solidFill>
                  <a:srgbClr val="333433"/>
                </a:solidFill>
                <a:latin typeface="Calibri"/>
              </a:rPr>
              <a:t>One public dataset and two classifiers; no industrial network traffic.</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Conclusions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G · CONCLUSIONS</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31</a:t>
            </a:r>
          </a:p>
        </p:txBody>
      </p:sp>
      <p:sp>
        <p:nvSpPr>
          <p:cNvPr id="8" name="Rectangle 7"/>
          <p:cNvSpPr/>
          <p:nvPr/>
        </p:nvSpPr>
        <p:spPr>
          <a:xfrm>
            <a:off x="841248" y="228142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78992" y="221284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RQ1: Random Forest achieved 87.05% accuracy and 98.62% recall on UNSW-NB15, outperforming the baseline.</a:t>
            </a:r>
          </a:p>
        </p:txBody>
      </p:sp>
      <p:sp>
        <p:nvSpPr>
          <p:cNvPr id="10" name="Rectangle 9"/>
          <p:cNvSpPr/>
          <p:nvPr/>
        </p:nvSpPr>
        <p:spPr>
          <a:xfrm>
            <a:off x="841248" y="273862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78992" y="267004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Accuracy gains did not solve the false positive problem: FPR fell only 1.05 pp, and the strictest threshold still gave 14.60%.</a:t>
            </a:r>
          </a:p>
        </p:txBody>
      </p:sp>
      <p:sp>
        <p:nvSpPr>
          <p:cNvPr id="12" name="Rectangle 11"/>
          <p:cNvSpPr/>
          <p:nvPr/>
        </p:nvSpPr>
        <p:spPr>
          <a:xfrm>
            <a:off x="841248" y="319582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78992" y="312724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RQ2: developers found the alerts understandable (Q8 = 4.33) but weakest on supporting decisions (Q11 = 3.60).</a:t>
            </a:r>
          </a:p>
        </p:txBody>
      </p:sp>
      <p:sp>
        <p:nvSpPr>
          <p:cNvPr id="14" name="Rectangle 13"/>
          <p:cNvSpPr/>
          <p:nvPr/>
        </p:nvSpPr>
        <p:spPr>
          <a:xfrm>
            <a:off x="841248" y="365302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78992" y="358444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RQ3, descriptively: developers consistently treat false positives as consequential for their willingness to rely on the IDS.</a:t>
            </a:r>
          </a:p>
        </p:txBody>
      </p:sp>
      <p:sp>
        <p:nvSpPr>
          <p:cNvPr id="16" name="Rectangle 15"/>
          <p:cNvSpPr/>
          <p:nvPr/>
        </p:nvSpPr>
        <p:spPr>
          <a:xfrm>
            <a:off x="841248" y="4110228"/>
            <a:ext cx="91440" cy="91440"/>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78992" y="4041648"/>
            <a:ext cx="10268712" cy="329184"/>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333433"/>
                </a:solidFill>
                <a:latin typeface="Calibri"/>
              </a:rPr>
              <a:t>Clarity did not compensate for unreliability — the clearest single result of the study.</a:t>
            </a:r>
          </a:p>
        </p:txBody>
      </p:sp>
      <p:sp>
        <p:nvSpPr>
          <p:cNvPr id="18" name="Rectangle 17"/>
          <p:cNvSpPr/>
          <p:nvPr/>
        </p:nvSpPr>
        <p:spPr>
          <a:xfrm>
            <a:off x="841248" y="4864608"/>
            <a:ext cx="10506456" cy="1152144"/>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41248" y="4864608"/>
            <a:ext cx="54864" cy="1152144"/>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152144" y="5029200"/>
            <a:ext cx="9784080" cy="868680"/>
          </a:xfrm>
          <a:prstGeom prst="rect">
            <a:avLst/>
          </a:prstGeom>
          <a:noFill/>
        </p:spPr>
        <p:txBody>
          <a:bodyPr wrap="square" anchor="t" lIns="0" rIns="0" tIns="0" bIns="0">
            <a:spAutoFit/>
          </a:bodyPr>
          <a:lstStyle/>
          <a:p>
            <a:pPr algn="l">
              <a:lnSpc>
                <a:spcPct val="115000"/>
              </a:lnSpc>
              <a:spcBef>
                <a:spcPts val="0"/>
              </a:spcBef>
              <a:spcAft>
                <a:spcPts val="500"/>
              </a:spcAft>
            </a:pPr>
            <a:r>
              <a:rPr sz="950" b="1" i="0">
                <a:solidFill>
                  <a:srgbClr val="FF7841"/>
                </a:solidFill>
                <a:latin typeface="Century Gothic"/>
              </a:rPr>
              <a:t>MAIN CONTRIBUTION</a:t>
            </a:r>
          </a:p>
          <a:p>
            <a:pPr algn="l">
              <a:lnSpc>
                <a:spcPct val="115000"/>
              </a:lnSpc>
              <a:spcBef>
                <a:spcPts val="0"/>
              </a:spcBef>
              <a:spcAft>
                <a:spcPts val="0"/>
              </a:spcAft>
            </a:pPr>
            <a:r>
              <a:rPr sz="1200" b="0" i="0">
                <a:solidFill>
                  <a:srgbClr val="FFFFFF"/>
                </a:solidFill>
                <a:latin typeface="Calibri"/>
              </a:rPr>
              <a:t>A measured account of the false positive rates an ML-based IDS actually produces, set against how developers describe their willingness to rely on such alerts.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Future Work</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G · CONCLUSIONS</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2048256"/>
            <a:ext cx="10058400" cy="292608"/>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6E767B"/>
                </a:solidFill>
                <a:latin typeface="Calibri"/>
              </a:rPr>
              <a:t>Six directions arising from the findings and limitations</a:t>
            </a:r>
          </a:p>
        </p:txBody>
      </p:sp>
      <p:sp>
        <p:nvSpPr>
          <p:cNvPr id="6" name="Rectangle 5"/>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8" name="TextBox 7"/>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32</a:t>
            </a:r>
          </a:p>
        </p:txBody>
      </p:sp>
      <p:sp>
        <p:nvSpPr>
          <p:cNvPr id="9" name="Rectangle 8"/>
          <p:cNvSpPr/>
          <p:nvPr/>
        </p:nvSpPr>
        <p:spPr>
          <a:xfrm>
            <a:off x="841248" y="2468880"/>
            <a:ext cx="5001768" cy="102412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41248" y="2468880"/>
            <a:ext cx="475488" cy="102412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94B0C9"/>
                </a:solidFill>
                <a:latin typeface="Century Gothic"/>
              </a:rPr>
              <a:t>F1</a:t>
            </a:r>
          </a:p>
        </p:txBody>
      </p:sp>
      <p:sp>
        <p:nvSpPr>
          <p:cNvPr id="11" name="TextBox 10"/>
          <p:cNvSpPr txBox="1"/>
          <p:nvPr/>
        </p:nvSpPr>
        <p:spPr>
          <a:xfrm>
            <a:off x="1481328" y="2569464"/>
            <a:ext cx="4215384" cy="84124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Per-condition trust measurement</a:t>
            </a:r>
          </a:p>
          <a:p>
            <a:pPr algn="l">
              <a:lnSpc>
                <a:spcPct val="105000"/>
              </a:lnSpc>
              <a:spcBef>
                <a:spcPts val="0"/>
              </a:spcBef>
              <a:spcAft>
                <a:spcPts val="0"/>
              </a:spcAft>
            </a:pPr>
            <a:r>
              <a:rPr sz="950" b="0" i="0">
                <a:solidFill>
                  <a:srgbClr val="6E767B"/>
                </a:solidFill>
                <a:latin typeface="Calibri"/>
              </a:rPr>
              <a:t>Ratings after each scenario, randomised order, to test RQ3 causally.</a:t>
            </a:r>
          </a:p>
        </p:txBody>
      </p:sp>
      <p:sp>
        <p:nvSpPr>
          <p:cNvPr id="12" name="Rectangle 11"/>
          <p:cNvSpPr/>
          <p:nvPr/>
        </p:nvSpPr>
        <p:spPr>
          <a:xfrm>
            <a:off x="6272784" y="2468880"/>
            <a:ext cx="5001768" cy="102412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72784" y="2468880"/>
            <a:ext cx="475488" cy="102412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FF7841"/>
                </a:solidFill>
                <a:latin typeface="Century Gothic"/>
              </a:rPr>
              <a:t>F2</a:t>
            </a:r>
          </a:p>
        </p:txBody>
      </p:sp>
      <p:sp>
        <p:nvSpPr>
          <p:cNvPr id="14" name="TextBox 13"/>
          <p:cNvSpPr txBox="1"/>
          <p:nvPr/>
        </p:nvSpPr>
        <p:spPr>
          <a:xfrm>
            <a:off x="6912864" y="2569464"/>
            <a:ext cx="4215384" cy="84124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Larger, more diverse samples</a:t>
            </a:r>
          </a:p>
          <a:p>
            <a:pPr algn="l">
              <a:lnSpc>
                <a:spcPct val="105000"/>
              </a:lnSpc>
              <a:spcBef>
                <a:spcPts val="0"/>
              </a:spcBef>
              <a:spcAft>
                <a:spcPts val="0"/>
              </a:spcAft>
            </a:pPr>
            <a:r>
              <a:rPr sz="950" b="0" i="0">
                <a:solidFill>
                  <a:srgbClr val="6E767B"/>
                </a:solidFill>
                <a:latin typeface="Calibri"/>
              </a:rPr>
              <a:t>Practising developers and security practitioners from industry.</a:t>
            </a:r>
          </a:p>
        </p:txBody>
      </p:sp>
      <p:sp>
        <p:nvSpPr>
          <p:cNvPr id="15" name="Rectangle 14"/>
          <p:cNvSpPr/>
          <p:nvPr/>
        </p:nvSpPr>
        <p:spPr>
          <a:xfrm>
            <a:off x="841248" y="3657600"/>
            <a:ext cx="5001768" cy="102412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41248" y="3657600"/>
            <a:ext cx="475488" cy="102412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94B0C9"/>
                </a:solidFill>
                <a:latin typeface="Century Gothic"/>
              </a:rPr>
              <a:t>F3</a:t>
            </a:r>
          </a:p>
        </p:txBody>
      </p:sp>
      <p:sp>
        <p:nvSpPr>
          <p:cNvPr id="17" name="TextBox 16"/>
          <p:cNvSpPr txBox="1"/>
          <p:nvPr/>
        </p:nvSpPr>
        <p:spPr>
          <a:xfrm>
            <a:off x="1481328" y="3758184"/>
            <a:ext cx="4215384" cy="84124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Longitudinal studies</a:t>
            </a:r>
          </a:p>
          <a:p>
            <a:pPr algn="l">
              <a:lnSpc>
                <a:spcPct val="105000"/>
              </a:lnSpc>
              <a:spcBef>
                <a:spcPts val="0"/>
              </a:spcBef>
              <a:spcAft>
                <a:spcPts val="0"/>
              </a:spcAft>
            </a:pPr>
            <a:r>
              <a:rPr sz="950" b="0" i="0">
                <a:solidFill>
                  <a:srgbClr val="6E767B"/>
                </a:solidFill>
                <a:latin typeface="Calibri"/>
              </a:rPr>
              <a:t>Trust as it evolves during real maintenance work over time.</a:t>
            </a:r>
          </a:p>
        </p:txBody>
      </p:sp>
      <p:sp>
        <p:nvSpPr>
          <p:cNvPr id="18" name="Rectangle 17"/>
          <p:cNvSpPr/>
          <p:nvPr/>
        </p:nvSpPr>
        <p:spPr>
          <a:xfrm>
            <a:off x="6272784" y="3657600"/>
            <a:ext cx="5001768" cy="102412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72784" y="3657600"/>
            <a:ext cx="475488" cy="102412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FF7841"/>
                </a:solidFill>
                <a:latin typeface="Century Gothic"/>
              </a:rPr>
              <a:t>F4</a:t>
            </a:r>
          </a:p>
        </p:txBody>
      </p:sp>
      <p:sp>
        <p:nvSpPr>
          <p:cNvPr id="20" name="TextBox 19"/>
          <p:cNvSpPr txBox="1"/>
          <p:nvPr/>
        </p:nvSpPr>
        <p:spPr>
          <a:xfrm>
            <a:off x="6912864" y="3758184"/>
            <a:ext cx="4215384" cy="84124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Richer prototype interface</a:t>
            </a:r>
          </a:p>
          <a:p>
            <a:pPr algn="l">
              <a:lnSpc>
                <a:spcPct val="105000"/>
              </a:lnSpc>
              <a:spcBef>
                <a:spcPts val="0"/>
              </a:spcBef>
              <a:spcAft>
                <a:spcPts val="0"/>
              </a:spcAft>
            </a:pPr>
            <a:r>
              <a:rPr sz="950" b="0" i="0">
                <a:solidFill>
                  <a:srgbClr val="6E767B"/>
                </a:solidFill>
                <a:latin typeface="Calibri"/>
              </a:rPr>
              <a:t>Severity, confidence, history, mitigations, visualisations.</a:t>
            </a:r>
          </a:p>
        </p:txBody>
      </p:sp>
      <p:sp>
        <p:nvSpPr>
          <p:cNvPr id="21" name="Rectangle 20"/>
          <p:cNvSpPr/>
          <p:nvPr/>
        </p:nvSpPr>
        <p:spPr>
          <a:xfrm>
            <a:off x="841248" y="4846320"/>
            <a:ext cx="5001768" cy="102412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41248" y="4846320"/>
            <a:ext cx="475488" cy="102412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94B0C9"/>
                </a:solidFill>
                <a:latin typeface="Century Gothic"/>
              </a:rPr>
              <a:t>F5</a:t>
            </a:r>
          </a:p>
        </p:txBody>
      </p:sp>
      <p:sp>
        <p:nvSpPr>
          <p:cNvPr id="23" name="TextBox 22"/>
          <p:cNvSpPr txBox="1"/>
          <p:nvPr/>
        </p:nvSpPr>
        <p:spPr>
          <a:xfrm>
            <a:off x="1481328" y="4946904"/>
            <a:ext cx="4215384" cy="84124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Adaptive thresholds</a:t>
            </a:r>
          </a:p>
          <a:p>
            <a:pPr algn="l">
              <a:lnSpc>
                <a:spcPct val="105000"/>
              </a:lnSpc>
              <a:spcBef>
                <a:spcPts val="0"/>
              </a:spcBef>
              <a:spcAft>
                <a:spcPts val="0"/>
              </a:spcAft>
            </a:pPr>
            <a:r>
              <a:rPr sz="950" b="0" i="0">
                <a:solidFill>
                  <a:srgbClr val="6E767B"/>
                </a:solidFill>
                <a:latin typeface="Calibri"/>
              </a:rPr>
              <a:t>A static threshold forces a choice across a 2.6-fold range of alert reliability.</a:t>
            </a:r>
          </a:p>
        </p:txBody>
      </p:sp>
      <p:sp>
        <p:nvSpPr>
          <p:cNvPr id="24" name="Rectangle 23"/>
          <p:cNvSpPr/>
          <p:nvPr/>
        </p:nvSpPr>
        <p:spPr>
          <a:xfrm>
            <a:off x="6272784" y="4846320"/>
            <a:ext cx="5001768" cy="102412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272784" y="4846320"/>
            <a:ext cx="475488" cy="102412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15000"/>
              </a:lnSpc>
              <a:spcBef>
                <a:spcPts val="0"/>
              </a:spcBef>
              <a:spcAft>
                <a:spcPts val="0"/>
              </a:spcAft>
            </a:pPr>
            <a:r>
              <a:rPr sz="1200" b="1" i="0">
                <a:solidFill>
                  <a:srgbClr val="FF7841"/>
                </a:solidFill>
                <a:latin typeface="Century Gothic"/>
              </a:rPr>
              <a:t>F6</a:t>
            </a:r>
          </a:p>
        </p:txBody>
      </p:sp>
      <p:sp>
        <p:nvSpPr>
          <p:cNvPr id="26" name="TextBox 25"/>
          <p:cNvSpPr txBox="1"/>
          <p:nvPr/>
        </p:nvSpPr>
        <p:spPr>
          <a:xfrm>
            <a:off x="6912864" y="4946904"/>
            <a:ext cx="4215384" cy="841248"/>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0C4E64"/>
                </a:solidFill>
                <a:latin typeface="Century Gothic"/>
              </a:rPr>
              <a:t>Behavioural measures</a:t>
            </a:r>
          </a:p>
          <a:p>
            <a:pPr algn="l">
              <a:lnSpc>
                <a:spcPct val="105000"/>
              </a:lnSpc>
              <a:spcBef>
                <a:spcPts val="0"/>
              </a:spcBef>
              <a:spcAft>
                <a:spcPts val="0"/>
              </a:spcAft>
            </a:pPr>
            <a:r>
              <a:rPr sz="950" b="0" i="0">
                <a:solidFill>
                  <a:srgbClr val="6E767B"/>
                </a:solidFill>
                <a:latin typeface="Calibri"/>
              </a:rPr>
              <a:t>Observe whether developers investigate or dismiss alerts, not only self-report.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188720"/>
            <a:ext cx="8138160" cy="658368"/>
          </a:xfrm>
        </p:spPr>
        <p:txBody>
          <a:bodyPr wrap="square" lIns="0" tIns="0" bIns="0"/>
          <a:lstStyle/>
          <a:p>
            <a:pPr algn="l">
              <a:lnSpc>
                <a:spcPct val="100000"/>
              </a:lnSpc>
              <a:spcBef>
                <a:spcPts val="0"/>
              </a:spcBef>
              <a:spcAft>
                <a:spcPts val="0"/>
              </a:spcAft>
            </a:pPr>
            <a:r>
              <a:rPr sz="2500" b="1" i="0">
                <a:solidFill>
                  <a:srgbClr val="0C4E64"/>
                </a:solidFill>
                <a:latin typeface="Century Gothic"/>
              </a:rPr>
              <a:t>Key References</a:t>
            </a:r>
          </a:p>
        </p:txBody>
      </p:sp>
      <p:sp>
        <p:nvSpPr>
          <p:cNvPr id="3" name="TextBox 2"/>
          <p:cNvSpPr txBox="1"/>
          <p:nvPr/>
        </p:nvSpPr>
        <p:spPr>
          <a:xfrm>
            <a:off x="841248" y="841248"/>
            <a:ext cx="6949440" cy="256032"/>
          </a:xfrm>
          <a:prstGeom prst="rect">
            <a:avLst/>
          </a:prstGeom>
          <a:noFill/>
        </p:spPr>
        <p:txBody>
          <a:bodyPr wrap="square" anchor="t" lIns="0" rIns="0" tIns="0" bIns="0">
            <a:spAutoFit/>
          </a:bodyPr>
          <a:lstStyle/>
          <a:p>
            <a:pPr algn="l">
              <a:lnSpc>
                <a:spcPct val="115000"/>
              </a:lnSpc>
              <a:spcBef>
                <a:spcPts val="0"/>
              </a:spcBef>
              <a:spcAft>
                <a:spcPts val="0"/>
              </a:spcAft>
            </a:pPr>
            <a:r>
              <a:rPr sz="1000" b="1" i="0">
                <a:solidFill>
                  <a:srgbClr val="C75324"/>
                </a:solidFill>
                <a:latin typeface="Century Gothic"/>
              </a:rPr>
              <a:t>G · CONCLUSIONS</a:t>
            </a:r>
          </a:p>
        </p:txBody>
      </p:sp>
      <p:sp>
        <p:nvSpPr>
          <p:cNvPr id="4" name="Rectangle 3"/>
          <p:cNvSpPr/>
          <p:nvPr/>
        </p:nvSpPr>
        <p:spPr>
          <a:xfrm>
            <a:off x="841248" y="1920240"/>
            <a:ext cx="96012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41248" y="6181344"/>
            <a:ext cx="10506456" cy="9525"/>
          </a:xfrm>
          <a:prstGeom prst="rect">
            <a:avLst/>
          </a:prstGeom>
          <a:solidFill>
            <a:srgbClr val="D9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6272784"/>
            <a:ext cx="8229600" cy="274320"/>
          </a:xfrm>
          <a:prstGeom prst="rect">
            <a:avLst/>
          </a:prstGeom>
          <a:noFill/>
        </p:spPr>
        <p:txBody>
          <a:bodyPr wrap="square" anchor="t" lIns="0" rIns="0" tIns="0" bIns="0">
            <a:spAutoFit/>
          </a:bodyPr>
          <a:lstStyle/>
          <a:p>
            <a:pPr algn="l">
              <a:lnSpc>
                <a:spcPct val="115000"/>
              </a:lnSpc>
              <a:spcBef>
                <a:spcPts val="0"/>
              </a:spcBef>
              <a:spcAft>
                <a:spcPts val="0"/>
              </a:spcAft>
            </a:pPr>
            <a:r>
              <a:rPr sz="800" b="0" i="0">
                <a:solidFill>
                  <a:srgbClr val="6E767B"/>
                </a:solidFill>
                <a:latin typeface="Calibri"/>
              </a:rPr>
              <a:t>A Developer-Centred Evaluation of False Positive Impact in ML-Based Intrusion Detection Systems</a:t>
            </a:r>
          </a:p>
        </p:txBody>
      </p:sp>
      <p:sp>
        <p:nvSpPr>
          <p:cNvPr id="7" name="TextBox 6"/>
          <p:cNvSpPr txBox="1"/>
          <p:nvPr/>
        </p:nvSpPr>
        <p:spPr>
          <a:xfrm>
            <a:off x="10607040" y="6272784"/>
            <a:ext cx="740664" cy="274320"/>
          </a:xfrm>
          <a:prstGeom prst="rect">
            <a:avLst/>
          </a:prstGeom>
          <a:noFill/>
        </p:spPr>
        <p:txBody>
          <a:bodyPr wrap="square" anchor="t" lIns="0" rIns="0" tIns="0" bIns="0">
            <a:spAutoFit/>
          </a:bodyPr>
          <a:lstStyle/>
          <a:p>
            <a:pPr algn="r">
              <a:lnSpc>
                <a:spcPct val="115000"/>
              </a:lnSpc>
              <a:spcBef>
                <a:spcPts val="0"/>
              </a:spcBef>
              <a:spcAft>
                <a:spcPts val="0"/>
              </a:spcAft>
            </a:pPr>
            <a:r>
              <a:rPr sz="1000" b="1" i="0">
                <a:solidFill>
                  <a:srgbClr val="0C4E64"/>
                </a:solidFill>
                <a:latin typeface="Century Gothic"/>
              </a:rPr>
              <a:t>33</a:t>
            </a:r>
          </a:p>
        </p:txBody>
      </p:sp>
      <p:sp>
        <p:nvSpPr>
          <p:cNvPr id="8" name="TextBox 7"/>
          <p:cNvSpPr txBox="1"/>
          <p:nvPr/>
        </p:nvSpPr>
        <p:spPr>
          <a:xfrm>
            <a:off x="1344168" y="2212848"/>
            <a:ext cx="9966960" cy="384048"/>
          </a:xfrm>
          <a:prstGeom prst="rect">
            <a:avLst/>
          </a:prstGeom>
          <a:noFill/>
        </p:spPr>
        <p:txBody>
          <a:bodyPr wrap="square" anchor="t" lIns="0" rIns="0" tIns="0" bIns="0">
            <a:spAutoFit/>
          </a:bodyPr>
          <a:lstStyle/>
          <a:p>
            <a:pPr algn="l">
              <a:lnSpc>
                <a:spcPct val="110000"/>
              </a:lnSpc>
              <a:spcBef>
                <a:spcPts val="0"/>
              </a:spcBef>
              <a:spcAft>
                <a:spcPts val="0"/>
              </a:spcAft>
            </a:pPr>
            <a:r>
              <a:rPr sz="950" b="0" i="0">
                <a:solidFill>
                  <a:srgbClr val="333433"/>
                </a:solidFill>
                <a:latin typeface="Calibri"/>
              </a:rPr>
              <a:t>Moustafa, N. and Slay, J. UNSW-NB15: A comprehensive data set for network intrusion detection systems. MilCIS, 2015.</a:t>
            </a:r>
          </a:p>
        </p:txBody>
      </p:sp>
      <p:sp>
        <p:nvSpPr>
          <p:cNvPr id="9" name="TextBox 8"/>
          <p:cNvSpPr txBox="1"/>
          <p:nvPr/>
        </p:nvSpPr>
        <p:spPr>
          <a:xfrm>
            <a:off x="841248" y="2212848"/>
            <a:ext cx="438912" cy="310896"/>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0C4E64"/>
                </a:solidFill>
                <a:latin typeface="Century Gothic"/>
              </a:rPr>
              <a:t>[1]</a:t>
            </a:r>
          </a:p>
        </p:txBody>
      </p:sp>
      <p:sp>
        <p:nvSpPr>
          <p:cNvPr id="10" name="TextBox 9"/>
          <p:cNvSpPr txBox="1"/>
          <p:nvPr/>
        </p:nvSpPr>
        <p:spPr>
          <a:xfrm>
            <a:off x="1344168" y="2596896"/>
            <a:ext cx="9966960" cy="384048"/>
          </a:xfrm>
          <a:prstGeom prst="rect">
            <a:avLst/>
          </a:prstGeom>
          <a:noFill/>
        </p:spPr>
        <p:txBody>
          <a:bodyPr wrap="square" anchor="t" lIns="0" rIns="0" tIns="0" bIns="0">
            <a:spAutoFit/>
          </a:bodyPr>
          <a:lstStyle/>
          <a:p>
            <a:pPr algn="l">
              <a:lnSpc>
                <a:spcPct val="110000"/>
              </a:lnSpc>
              <a:spcBef>
                <a:spcPts val="0"/>
              </a:spcBef>
              <a:spcAft>
                <a:spcPts val="0"/>
              </a:spcAft>
            </a:pPr>
            <a:r>
              <a:rPr sz="950" b="0" i="0">
                <a:solidFill>
                  <a:srgbClr val="333433"/>
                </a:solidFill>
                <a:latin typeface="Calibri"/>
              </a:rPr>
              <a:t>Axelsson, S. The base-rate fallacy and the difficulty of intrusion detection. ACM TISSEC, 3(3), 186–205, 2000.</a:t>
            </a:r>
          </a:p>
        </p:txBody>
      </p:sp>
      <p:sp>
        <p:nvSpPr>
          <p:cNvPr id="11" name="TextBox 10"/>
          <p:cNvSpPr txBox="1"/>
          <p:nvPr/>
        </p:nvSpPr>
        <p:spPr>
          <a:xfrm>
            <a:off x="841248" y="2596896"/>
            <a:ext cx="438912" cy="310896"/>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0C4E64"/>
                </a:solidFill>
                <a:latin typeface="Century Gothic"/>
              </a:rPr>
              <a:t>[2]</a:t>
            </a:r>
          </a:p>
        </p:txBody>
      </p:sp>
      <p:sp>
        <p:nvSpPr>
          <p:cNvPr id="12" name="TextBox 11"/>
          <p:cNvSpPr txBox="1"/>
          <p:nvPr/>
        </p:nvSpPr>
        <p:spPr>
          <a:xfrm>
            <a:off x="1344168" y="2980944"/>
            <a:ext cx="9966960" cy="384048"/>
          </a:xfrm>
          <a:prstGeom prst="rect">
            <a:avLst/>
          </a:prstGeom>
          <a:noFill/>
        </p:spPr>
        <p:txBody>
          <a:bodyPr wrap="square" anchor="t" lIns="0" rIns="0" tIns="0" bIns="0">
            <a:spAutoFit/>
          </a:bodyPr>
          <a:lstStyle/>
          <a:p>
            <a:pPr algn="l">
              <a:lnSpc>
                <a:spcPct val="110000"/>
              </a:lnSpc>
              <a:spcBef>
                <a:spcPts val="0"/>
              </a:spcBef>
              <a:spcAft>
                <a:spcPts val="0"/>
              </a:spcAft>
            </a:pPr>
            <a:r>
              <a:rPr sz="950" b="0" i="0">
                <a:solidFill>
                  <a:srgbClr val="333433"/>
                </a:solidFill>
                <a:latin typeface="Calibri"/>
              </a:rPr>
              <a:t>Sommer, R. and Paxson, V. Outside the closed world: On using machine learning for network intrusion detection. IEEE S&amp;P, 2010.</a:t>
            </a:r>
          </a:p>
        </p:txBody>
      </p:sp>
      <p:sp>
        <p:nvSpPr>
          <p:cNvPr id="13" name="TextBox 12"/>
          <p:cNvSpPr txBox="1"/>
          <p:nvPr/>
        </p:nvSpPr>
        <p:spPr>
          <a:xfrm>
            <a:off x="841248" y="2980944"/>
            <a:ext cx="438912" cy="310896"/>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0C4E64"/>
                </a:solidFill>
                <a:latin typeface="Century Gothic"/>
              </a:rPr>
              <a:t>[3]</a:t>
            </a:r>
          </a:p>
        </p:txBody>
      </p:sp>
      <p:sp>
        <p:nvSpPr>
          <p:cNvPr id="14" name="TextBox 13"/>
          <p:cNvSpPr txBox="1"/>
          <p:nvPr/>
        </p:nvSpPr>
        <p:spPr>
          <a:xfrm>
            <a:off x="1344168" y="3364992"/>
            <a:ext cx="9966960" cy="384048"/>
          </a:xfrm>
          <a:prstGeom prst="rect">
            <a:avLst/>
          </a:prstGeom>
          <a:noFill/>
        </p:spPr>
        <p:txBody>
          <a:bodyPr wrap="square" anchor="t" lIns="0" rIns="0" tIns="0" bIns="0">
            <a:spAutoFit/>
          </a:bodyPr>
          <a:lstStyle/>
          <a:p>
            <a:pPr algn="l">
              <a:lnSpc>
                <a:spcPct val="110000"/>
              </a:lnSpc>
              <a:spcBef>
                <a:spcPts val="0"/>
              </a:spcBef>
              <a:spcAft>
                <a:spcPts val="0"/>
              </a:spcAft>
            </a:pPr>
            <a:r>
              <a:rPr sz="950" b="0" i="0">
                <a:solidFill>
                  <a:srgbClr val="333433"/>
                </a:solidFill>
                <a:latin typeface="Calibri"/>
              </a:rPr>
              <a:t>Lee, J. D. and See, K. A. Trust in automation: Designing for appropriate reliance. Human Factors, 46(1), 50–80, 2004.</a:t>
            </a:r>
          </a:p>
        </p:txBody>
      </p:sp>
      <p:sp>
        <p:nvSpPr>
          <p:cNvPr id="15" name="TextBox 14"/>
          <p:cNvSpPr txBox="1"/>
          <p:nvPr/>
        </p:nvSpPr>
        <p:spPr>
          <a:xfrm>
            <a:off x="841248" y="3364992"/>
            <a:ext cx="438912" cy="310896"/>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0C4E64"/>
                </a:solidFill>
                <a:latin typeface="Century Gothic"/>
              </a:rPr>
              <a:t>[4]</a:t>
            </a:r>
          </a:p>
        </p:txBody>
      </p:sp>
      <p:sp>
        <p:nvSpPr>
          <p:cNvPr id="16" name="TextBox 15"/>
          <p:cNvSpPr txBox="1"/>
          <p:nvPr/>
        </p:nvSpPr>
        <p:spPr>
          <a:xfrm>
            <a:off x="1344168" y="3749040"/>
            <a:ext cx="9966960" cy="384048"/>
          </a:xfrm>
          <a:prstGeom prst="rect">
            <a:avLst/>
          </a:prstGeom>
          <a:noFill/>
        </p:spPr>
        <p:txBody>
          <a:bodyPr wrap="square" anchor="t" lIns="0" rIns="0" tIns="0" bIns="0">
            <a:spAutoFit/>
          </a:bodyPr>
          <a:lstStyle/>
          <a:p>
            <a:pPr algn="l">
              <a:lnSpc>
                <a:spcPct val="110000"/>
              </a:lnSpc>
              <a:spcBef>
                <a:spcPts val="0"/>
              </a:spcBef>
              <a:spcAft>
                <a:spcPts val="0"/>
              </a:spcAft>
            </a:pPr>
            <a:r>
              <a:rPr sz="950" b="0" i="0">
                <a:solidFill>
                  <a:srgbClr val="333433"/>
                </a:solidFill>
                <a:latin typeface="Calibri"/>
              </a:rPr>
              <a:t>Alahmadi, B. A., Axon, L. and Martinovic, I. 99% false positives: A qualitative study of SOC analysts' perspectives on security alarms. USENIX Security, 2022.</a:t>
            </a:r>
          </a:p>
        </p:txBody>
      </p:sp>
      <p:sp>
        <p:nvSpPr>
          <p:cNvPr id="17" name="TextBox 16"/>
          <p:cNvSpPr txBox="1"/>
          <p:nvPr/>
        </p:nvSpPr>
        <p:spPr>
          <a:xfrm>
            <a:off x="841248" y="3749040"/>
            <a:ext cx="438912" cy="310896"/>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0C4E64"/>
                </a:solidFill>
                <a:latin typeface="Century Gothic"/>
              </a:rPr>
              <a:t>[5]</a:t>
            </a:r>
          </a:p>
        </p:txBody>
      </p:sp>
      <p:sp>
        <p:nvSpPr>
          <p:cNvPr id="18" name="TextBox 17"/>
          <p:cNvSpPr txBox="1"/>
          <p:nvPr/>
        </p:nvSpPr>
        <p:spPr>
          <a:xfrm>
            <a:off x="1344168" y="4133088"/>
            <a:ext cx="9966960" cy="384048"/>
          </a:xfrm>
          <a:prstGeom prst="rect">
            <a:avLst/>
          </a:prstGeom>
          <a:noFill/>
        </p:spPr>
        <p:txBody>
          <a:bodyPr wrap="square" anchor="t" lIns="0" rIns="0" tIns="0" bIns="0">
            <a:spAutoFit/>
          </a:bodyPr>
          <a:lstStyle/>
          <a:p>
            <a:pPr algn="l">
              <a:lnSpc>
                <a:spcPct val="110000"/>
              </a:lnSpc>
              <a:spcBef>
                <a:spcPts val="0"/>
              </a:spcBef>
              <a:spcAft>
                <a:spcPts val="0"/>
              </a:spcAft>
            </a:pPr>
            <a:r>
              <a:rPr sz="950" b="0" i="0">
                <a:solidFill>
                  <a:srgbClr val="333433"/>
                </a:solidFill>
                <a:latin typeface="Calibri"/>
              </a:rPr>
              <a:t>Ahmad, Z. et al. Network intrusion detection system: A systematic study of machine learning and deep learning approaches. Trans. Emerging Telecommunications Technologies, 32(1), 2021.</a:t>
            </a:r>
          </a:p>
        </p:txBody>
      </p:sp>
      <p:sp>
        <p:nvSpPr>
          <p:cNvPr id="19" name="TextBox 18"/>
          <p:cNvSpPr txBox="1"/>
          <p:nvPr/>
        </p:nvSpPr>
        <p:spPr>
          <a:xfrm>
            <a:off x="841248" y="4133088"/>
            <a:ext cx="438912" cy="310896"/>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0C4E64"/>
                </a:solidFill>
                <a:latin typeface="Century Gothic"/>
              </a:rPr>
              <a:t>[6]</a:t>
            </a:r>
          </a:p>
        </p:txBody>
      </p:sp>
      <p:sp>
        <p:nvSpPr>
          <p:cNvPr id="20" name="TextBox 19"/>
          <p:cNvSpPr txBox="1"/>
          <p:nvPr/>
        </p:nvSpPr>
        <p:spPr>
          <a:xfrm>
            <a:off x="1344168" y="4517136"/>
            <a:ext cx="9966960" cy="384048"/>
          </a:xfrm>
          <a:prstGeom prst="rect">
            <a:avLst/>
          </a:prstGeom>
          <a:noFill/>
        </p:spPr>
        <p:txBody>
          <a:bodyPr wrap="square" anchor="t" lIns="0" rIns="0" tIns="0" bIns="0">
            <a:spAutoFit/>
          </a:bodyPr>
          <a:lstStyle/>
          <a:p>
            <a:pPr algn="l">
              <a:lnSpc>
                <a:spcPct val="110000"/>
              </a:lnSpc>
              <a:spcBef>
                <a:spcPts val="0"/>
              </a:spcBef>
              <a:spcAft>
                <a:spcPts val="0"/>
              </a:spcAft>
            </a:pPr>
            <a:r>
              <a:rPr sz="950" b="0" i="0">
                <a:solidFill>
                  <a:srgbClr val="333433"/>
                </a:solidFill>
                <a:latin typeface="Calibri"/>
              </a:rPr>
              <a:t>Christy, C. et al. Machine learning based multi-stage intrusion detection system and feature selection ensemble security in cloud assisted VANETs. Scientific Reports, 15(1), 2025.</a:t>
            </a:r>
          </a:p>
        </p:txBody>
      </p:sp>
      <p:sp>
        <p:nvSpPr>
          <p:cNvPr id="21" name="TextBox 20"/>
          <p:cNvSpPr txBox="1"/>
          <p:nvPr/>
        </p:nvSpPr>
        <p:spPr>
          <a:xfrm>
            <a:off x="841248" y="4517136"/>
            <a:ext cx="438912" cy="310896"/>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0C4E64"/>
                </a:solidFill>
                <a:latin typeface="Century Gothic"/>
              </a:rPr>
              <a:t>[7]</a:t>
            </a:r>
          </a:p>
        </p:txBody>
      </p:sp>
      <p:sp>
        <p:nvSpPr>
          <p:cNvPr id="22" name="TextBox 21"/>
          <p:cNvSpPr txBox="1"/>
          <p:nvPr/>
        </p:nvSpPr>
        <p:spPr>
          <a:xfrm>
            <a:off x="1344168" y="4901184"/>
            <a:ext cx="9966960" cy="384048"/>
          </a:xfrm>
          <a:prstGeom prst="rect">
            <a:avLst/>
          </a:prstGeom>
          <a:noFill/>
        </p:spPr>
        <p:txBody>
          <a:bodyPr wrap="square" anchor="t" lIns="0" rIns="0" tIns="0" bIns="0">
            <a:spAutoFit/>
          </a:bodyPr>
          <a:lstStyle/>
          <a:p>
            <a:pPr algn="l">
              <a:lnSpc>
                <a:spcPct val="110000"/>
              </a:lnSpc>
              <a:spcBef>
                <a:spcPts val="0"/>
              </a:spcBef>
              <a:spcAft>
                <a:spcPts val="0"/>
              </a:spcAft>
            </a:pPr>
            <a:r>
              <a:rPr sz="950" b="0" i="0">
                <a:solidFill>
                  <a:srgbClr val="333433"/>
                </a:solidFill>
                <a:latin typeface="Calibri"/>
              </a:rPr>
              <a:t>Sun, P. et al. DL-IDS: Extracting features using CNN-LSTM hybrid network for intrusion detection system. Security and Communication Networks, 2020.</a:t>
            </a:r>
          </a:p>
        </p:txBody>
      </p:sp>
      <p:sp>
        <p:nvSpPr>
          <p:cNvPr id="23" name="TextBox 22"/>
          <p:cNvSpPr txBox="1"/>
          <p:nvPr/>
        </p:nvSpPr>
        <p:spPr>
          <a:xfrm>
            <a:off x="841248" y="4901184"/>
            <a:ext cx="438912" cy="310896"/>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0C4E64"/>
                </a:solidFill>
                <a:latin typeface="Century Gothic"/>
              </a:rPr>
              <a:t>[8]</a:t>
            </a:r>
          </a:p>
        </p:txBody>
      </p:sp>
      <p:sp>
        <p:nvSpPr>
          <p:cNvPr id="24" name="TextBox 23"/>
          <p:cNvSpPr txBox="1"/>
          <p:nvPr/>
        </p:nvSpPr>
        <p:spPr>
          <a:xfrm>
            <a:off x="1344168" y="5285232"/>
            <a:ext cx="9966960" cy="384048"/>
          </a:xfrm>
          <a:prstGeom prst="rect">
            <a:avLst/>
          </a:prstGeom>
          <a:noFill/>
        </p:spPr>
        <p:txBody>
          <a:bodyPr wrap="square" anchor="t" lIns="0" rIns="0" tIns="0" bIns="0">
            <a:spAutoFit/>
          </a:bodyPr>
          <a:lstStyle/>
          <a:p>
            <a:pPr algn="l">
              <a:lnSpc>
                <a:spcPct val="110000"/>
              </a:lnSpc>
              <a:spcBef>
                <a:spcPts val="0"/>
              </a:spcBef>
              <a:spcAft>
                <a:spcPts val="0"/>
              </a:spcAft>
            </a:pPr>
            <a:r>
              <a:rPr sz="950" b="0" i="0">
                <a:solidFill>
                  <a:srgbClr val="333433"/>
                </a:solidFill>
                <a:latin typeface="Calibri"/>
              </a:rPr>
              <a:t>Waghmode, P. et al. Intrusion detection system based on machine learning using least square support vector machine. Scientific Reports, 15(1), 2025.</a:t>
            </a:r>
          </a:p>
        </p:txBody>
      </p:sp>
      <p:sp>
        <p:nvSpPr>
          <p:cNvPr id="25" name="TextBox 24"/>
          <p:cNvSpPr txBox="1"/>
          <p:nvPr/>
        </p:nvSpPr>
        <p:spPr>
          <a:xfrm>
            <a:off x="841248" y="5285232"/>
            <a:ext cx="438912" cy="310896"/>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0C4E64"/>
                </a:solidFill>
                <a:latin typeface="Century Gothic"/>
              </a:rPr>
              <a:t>[9]</a:t>
            </a:r>
          </a:p>
        </p:txBody>
      </p:sp>
      <p:sp>
        <p:nvSpPr>
          <p:cNvPr id="26" name="TextBox 25"/>
          <p:cNvSpPr txBox="1"/>
          <p:nvPr/>
        </p:nvSpPr>
        <p:spPr>
          <a:xfrm>
            <a:off x="1344168" y="5669280"/>
            <a:ext cx="9966960" cy="384048"/>
          </a:xfrm>
          <a:prstGeom prst="rect">
            <a:avLst/>
          </a:prstGeom>
          <a:noFill/>
        </p:spPr>
        <p:txBody>
          <a:bodyPr wrap="square" anchor="t" lIns="0" rIns="0" tIns="0" bIns="0">
            <a:spAutoFit/>
          </a:bodyPr>
          <a:lstStyle/>
          <a:p>
            <a:pPr algn="l">
              <a:lnSpc>
                <a:spcPct val="110000"/>
              </a:lnSpc>
              <a:spcBef>
                <a:spcPts val="0"/>
              </a:spcBef>
              <a:spcAft>
                <a:spcPts val="0"/>
              </a:spcAft>
            </a:pPr>
            <a:r>
              <a:rPr sz="950" b="0" i="0">
                <a:solidFill>
                  <a:srgbClr val="333433"/>
                </a:solidFill>
                <a:latin typeface="Calibri"/>
              </a:rPr>
              <a:t>Altulaihan, E. et al. Anomaly detection IDS for detecting DoS attacks in IoT networks based on machine learning algorithms. Sensors, 24(2), 2024.</a:t>
            </a:r>
          </a:p>
        </p:txBody>
      </p:sp>
      <p:sp>
        <p:nvSpPr>
          <p:cNvPr id="27" name="TextBox 26"/>
          <p:cNvSpPr txBox="1"/>
          <p:nvPr/>
        </p:nvSpPr>
        <p:spPr>
          <a:xfrm>
            <a:off x="841248" y="5669280"/>
            <a:ext cx="438912" cy="310896"/>
          </a:xfrm>
          <a:prstGeom prst="rect">
            <a:avLst/>
          </a:prstGeom>
          <a:noFill/>
        </p:spPr>
        <p:txBody>
          <a:bodyPr wrap="square" anchor="t" lIns="0" rIns="0" tIns="0" bIns="0">
            <a:spAutoFit/>
          </a:bodyPr>
          <a:lstStyle/>
          <a:p>
            <a:pPr algn="l">
              <a:lnSpc>
                <a:spcPct val="115000"/>
              </a:lnSpc>
              <a:spcBef>
                <a:spcPts val="0"/>
              </a:spcBef>
              <a:spcAft>
                <a:spcPts val="0"/>
              </a:spcAft>
            </a:pPr>
            <a:r>
              <a:rPr sz="950" b="1" i="0">
                <a:solidFill>
                  <a:srgbClr val="0C4E64"/>
                </a:solidFill>
                <a:latin typeface="Century Gothic"/>
              </a:rPr>
              <a:t>[10]</a:t>
            </a:r>
          </a:p>
        </p:txBody>
      </p:sp>
      <p:sp>
        <p:nvSpPr>
          <p:cNvPr id="28" name="TextBox 27"/>
          <p:cNvSpPr txBox="1"/>
          <p:nvPr/>
        </p:nvSpPr>
        <p:spPr>
          <a:xfrm>
            <a:off x="841248" y="6089904"/>
            <a:ext cx="10506456" cy="274320"/>
          </a:xfrm>
          <a:prstGeom prst="rect">
            <a:avLst/>
          </a:prstGeom>
          <a:noFill/>
        </p:spPr>
        <p:txBody>
          <a:bodyPr wrap="square" anchor="t" lIns="0" rIns="0" tIns="0" bIns="0">
            <a:spAutoFit/>
          </a:bodyPr>
          <a:lstStyle/>
          <a:p>
            <a:pPr algn="l">
              <a:lnSpc>
                <a:spcPct val="115000"/>
              </a:lnSpc>
              <a:spcBef>
                <a:spcPts val="0"/>
              </a:spcBef>
              <a:spcAft>
                <a:spcPts val="0"/>
              </a:spcAft>
            </a:pPr>
            <a:r>
              <a:rPr sz="900" b="0" i="0">
                <a:solidFill>
                  <a:srgbClr val="6E767B"/>
                </a:solidFill>
                <a:latin typeface="Calibri"/>
              </a:rPr>
              <a:t>Dataset: UNSW-NB15. Reference [10] is the study cited in Chapter 2 as Altulaihan et al. (2024).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340864"/>
            <a:ext cx="12191695" cy="2779776"/>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40864"/>
            <a:ext cx="12191695"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14400" y="2743200"/>
            <a:ext cx="10332720" cy="868680"/>
          </a:xfrm>
          <a:prstGeom prst="rect">
            <a:avLst/>
          </a:prstGeom>
          <a:noFill/>
        </p:spPr>
        <p:txBody>
          <a:bodyPr wrap="square" anchor="t" lIns="0" rIns="0" tIns="0" bIns="0">
            <a:spAutoFit/>
          </a:bodyPr>
          <a:lstStyle/>
          <a:p>
            <a:pPr algn="ctr">
              <a:lnSpc>
                <a:spcPct val="115000"/>
              </a:lnSpc>
              <a:spcBef>
                <a:spcPts val="0"/>
              </a:spcBef>
              <a:spcAft>
                <a:spcPts val="0"/>
              </a:spcAft>
            </a:pPr>
            <a:r>
              <a:rPr sz="4200" b="1" i="0">
                <a:solidFill>
                  <a:srgbClr val="FFFFFF"/>
                </a:solidFill>
                <a:latin typeface="Century Gothic"/>
              </a:rPr>
              <a:t>Any Questions?</a:t>
            </a:r>
          </a:p>
        </p:txBody>
      </p:sp>
      <p:sp>
        <p:nvSpPr>
          <p:cNvPr id="5" name="TextBox 4"/>
          <p:cNvSpPr txBox="1"/>
          <p:nvPr/>
        </p:nvSpPr>
        <p:spPr>
          <a:xfrm>
            <a:off x="914400" y="3767328"/>
            <a:ext cx="10332720" cy="548640"/>
          </a:xfrm>
          <a:prstGeom prst="rect">
            <a:avLst/>
          </a:prstGeom>
          <a:noFill/>
        </p:spPr>
        <p:txBody>
          <a:bodyPr wrap="square" anchor="t" lIns="0" rIns="0" tIns="0" bIns="0">
            <a:spAutoFit/>
          </a:bodyPr>
          <a:lstStyle/>
          <a:p>
            <a:pPr algn="ctr">
              <a:lnSpc>
                <a:spcPct val="115000"/>
              </a:lnSpc>
              <a:spcBef>
                <a:spcPts val="0"/>
              </a:spcBef>
              <a:spcAft>
                <a:spcPts val="0"/>
              </a:spcAft>
            </a:pPr>
            <a:r>
              <a:rPr sz="1300" b="0" i="0">
                <a:solidFill>
                  <a:srgbClr val="94B0C9"/>
                </a:solidFill>
                <a:latin typeface="Calibri"/>
              </a:rPr>
              <a:t>Happy to discuss the model, the threshold logic, the survey instrument, or the limitations.</a:t>
            </a:r>
          </a:p>
        </p:txBody>
      </p:sp>
      <p:sp>
        <p:nvSpPr>
          <p:cNvPr id="6" name="Rectangle 5"/>
          <p:cNvSpPr/>
          <p:nvPr/>
        </p:nvSpPr>
        <p:spPr>
          <a:xfrm>
            <a:off x="2395728" y="4352544"/>
            <a:ext cx="1536192"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spcBef>
                <a:spcPts val="0"/>
              </a:spcBef>
              <a:spcAft>
                <a:spcPts val="0"/>
              </a:spcAft>
            </a:pPr>
            <a:r>
              <a:rPr sz="1100" b="1" i="0">
                <a:solidFill>
                  <a:srgbClr val="0C4E64"/>
                </a:solidFill>
                <a:latin typeface="Century Gothic"/>
              </a:rPr>
              <a:t>Dataset</a:t>
            </a:r>
          </a:p>
        </p:txBody>
      </p:sp>
      <p:sp>
        <p:nvSpPr>
          <p:cNvPr id="7" name="Rectangle 6"/>
          <p:cNvSpPr/>
          <p:nvPr/>
        </p:nvSpPr>
        <p:spPr>
          <a:xfrm>
            <a:off x="4023360" y="4352544"/>
            <a:ext cx="1536192"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spcBef>
                <a:spcPts val="0"/>
              </a:spcBef>
              <a:spcAft>
                <a:spcPts val="0"/>
              </a:spcAft>
            </a:pPr>
            <a:r>
              <a:rPr sz="1100" b="1" i="0">
                <a:solidFill>
                  <a:srgbClr val="0C4E64"/>
                </a:solidFill>
                <a:latin typeface="Century Gothic"/>
              </a:rPr>
              <a:t>Models</a:t>
            </a:r>
          </a:p>
        </p:txBody>
      </p:sp>
      <p:sp>
        <p:nvSpPr>
          <p:cNvPr id="8" name="Rectangle 7"/>
          <p:cNvSpPr/>
          <p:nvPr/>
        </p:nvSpPr>
        <p:spPr>
          <a:xfrm>
            <a:off x="5650992" y="4352544"/>
            <a:ext cx="1536192"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spcBef>
                <a:spcPts val="0"/>
              </a:spcBef>
              <a:spcAft>
                <a:spcPts val="0"/>
              </a:spcAft>
            </a:pPr>
            <a:r>
              <a:rPr sz="1100" b="1" i="0">
                <a:solidFill>
                  <a:srgbClr val="0C4E64"/>
                </a:solidFill>
                <a:latin typeface="Century Gothic"/>
              </a:rPr>
              <a:t>Thresholds</a:t>
            </a:r>
          </a:p>
        </p:txBody>
      </p:sp>
      <p:sp>
        <p:nvSpPr>
          <p:cNvPr id="9" name="Rectangle 8"/>
          <p:cNvSpPr/>
          <p:nvPr/>
        </p:nvSpPr>
        <p:spPr>
          <a:xfrm>
            <a:off x="7278624" y="4352544"/>
            <a:ext cx="1536192"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spcBef>
                <a:spcPts val="0"/>
              </a:spcBef>
              <a:spcAft>
                <a:spcPts val="0"/>
              </a:spcAft>
            </a:pPr>
            <a:r>
              <a:rPr sz="1100" b="1" i="0">
                <a:solidFill>
                  <a:srgbClr val="0C4E64"/>
                </a:solidFill>
                <a:latin typeface="Century Gothic"/>
              </a:rPr>
              <a:t>Survey</a:t>
            </a:r>
          </a:p>
        </p:txBody>
      </p:sp>
      <p:sp>
        <p:nvSpPr>
          <p:cNvPr id="10" name="Rectangle 9"/>
          <p:cNvSpPr/>
          <p:nvPr/>
        </p:nvSpPr>
        <p:spPr>
          <a:xfrm>
            <a:off x="8906256" y="4352544"/>
            <a:ext cx="1536192"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spcBef>
                <a:spcPts val="0"/>
              </a:spcBef>
              <a:spcAft>
                <a:spcPts val="0"/>
              </a:spcAft>
            </a:pPr>
            <a:r>
              <a:rPr sz="1100" b="1" i="0">
                <a:solidFill>
                  <a:srgbClr val="0C4E64"/>
                </a:solidFill>
                <a:latin typeface="Century Gothic"/>
              </a:rPr>
              <a:t>Limitations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60704"/>
            <a:ext cx="10332720" cy="822960"/>
          </a:xfrm>
          <a:prstGeom prst="rect">
            <a:avLst/>
          </a:prstGeom>
          <a:noFill/>
        </p:spPr>
        <p:txBody>
          <a:bodyPr wrap="square" anchor="t" lIns="0" rIns="0" tIns="0" bIns="0">
            <a:spAutoFit/>
          </a:bodyPr>
          <a:lstStyle/>
          <a:p>
            <a:pPr algn="ctr">
              <a:lnSpc>
                <a:spcPct val="115000"/>
              </a:lnSpc>
              <a:spcBef>
                <a:spcPts val="0"/>
              </a:spcBef>
              <a:spcAft>
                <a:spcPts val="0"/>
              </a:spcAft>
            </a:pPr>
            <a:r>
              <a:rPr sz="4000" b="1" i="0">
                <a:solidFill>
                  <a:srgbClr val="0C4E64"/>
                </a:solidFill>
                <a:latin typeface="Century Gothic"/>
              </a:rPr>
              <a:t>Thank You</a:t>
            </a:r>
          </a:p>
        </p:txBody>
      </p:sp>
      <p:sp>
        <p:nvSpPr>
          <p:cNvPr id="3" name="Rectangle 2"/>
          <p:cNvSpPr/>
          <p:nvPr/>
        </p:nvSpPr>
        <p:spPr>
          <a:xfrm>
            <a:off x="5550408" y="1847088"/>
            <a:ext cx="1097280" cy="45720"/>
          </a:xfrm>
          <a:prstGeom prst="rect">
            <a:avLst/>
          </a:prstGeom>
          <a:solidFill>
            <a:srgbClr val="FF7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463040" y="4901184"/>
            <a:ext cx="9235440" cy="548640"/>
          </a:xfrm>
          <a:prstGeom prst="rect">
            <a:avLst/>
          </a:prstGeom>
          <a:noFill/>
        </p:spPr>
        <p:txBody>
          <a:bodyPr wrap="square" anchor="t" lIns="0" rIns="0" tIns="0" bIns="0">
            <a:spAutoFit/>
          </a:bodyPr>
          <a:lstStyle/>
          <a:p>
            <a:pPr algn="ctr">
              <a:lnSpc>
                <a:spcPct val="130000"/>
              </a:lnSpc>
              <a:spcBef>
                <a:spcPts val="0"/>
              </a:spcBef>
              <a:spcAft>
                <a:spcPts val="0"/>
              </a:spcAft>
            </a:pPr>
            <a:r>
              <a:rPr sz="1200" b="0" i="0">
                <a:solidFill>
                  <a:srgbClr val="333433"/>
                </a:solidFill>
                <a:latin typeface="Calibri"/>
              </a:rPr>
              <a:t>Thank you to our supervisor and examiner for their guidance, and to all 15 participants</a:t>
            </a:r>
            <a:br/>
            <a:r>
              <a:rPr sz="1200" b="0" i="0">
                <a:solidFill>
                  <a:srgbClr val="333433"/>
                </a:solidFill>
                <a:latin typeface="Calibri"/>
              </a:rPr>
              <a:t>whose feedback made the developer-centred evaluation possible.</a:t>
            </a:r>
          </a:p>
        </p:txBody>
      </p:sp>
      <p:sp>
        <p:nvSpPr>
          <p:cNvPr id="5" name="Rectangle 4"/>
          <p:cNvSpPr/>
          <p:nvPr/>
        </p:nvSpPr>
        <p:spPr>
          <a:xfrm>
            <a:off x="3584448" y="5705856"/>
            <a:ext cx="5029200" cy="841248"/>
          </a:xfrm>
          <a:prstGeom prst="rect">
            <a:avLst/>
          </a:prstGeom>
          <a:solidFill>
            <a:srgbClr val="F7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3584448" y="5705856"/>
            <a:ext cx="45720" cy="841248"/>
          </a:xfrm>
          <a:prstGeom prst="rect">
            <a:avLst/>
          </a:prstGeom>
          <a:solidFill>
            <a:srgbClr val="0C4E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3840480" y="5852160"/>
            <a:ext cx="4663440" cy="603504"/>
          </a:xfrm>
          <a:prstGeom prst="rect">
            <a:avLst/>
          </a:prstGeom>
          <a:noFill/>
        </p:spPr>
        <p:txBody>
          <a:bodyPr wrap="square" anchor="t" lIns="0" rIns="0" tIns="0" bIns="0">
            <a:spAutoFit/>
          </a:bodyPr>
          <a:lstStyle/>
          <a:p>
            <a:pPr algn="l">
              <a:lnSpc>
                <a:spcPct val="115000"/>
              </a:lnSpc>
              <a:spcBef>
                <a:spcPts val="0"/>
              </a:spcBef>
              <a:spcAft>
                <a:spcPts val="300"/>
              </a:spcAft>
            </a:pPr>
            <a:r>
              <a:rPr sz="1300" b="1" i="0">
                <a:solidFill>
                  <a:srgbClr val="0C4E64"/>
                </a:solidFill>
                <a:latin typeface="Century Gothic"/>
              </a:rPr>
              <a:t>Sai Akhil Gouravarapu  ·  Sri Aditya Gundimeda</a:t>
            </a:r>
          </a:p>
          <a:p>
            <a:pPr algn="l">
              <a:lnSpc>
                <a:spcPct val="115000"/>
              </a:lnSpc>
              <a:spcBef>
                <a:spcPts val="0"/>
              </a:spcBef>
              <a:spcAft>
                <a:spcPts val="0"/>
              </a:spcAft>
            </a:pPr>
            <a:r>
              <a:rPr sz="1050" b="0" i="0">
                <a:solidFill>
                  <a:srgbClr val="333433"/>
                </a:solidFill>
                <a:latin typeface="Calibri"/>
              </a:rPr>
              <a:t>Faculty of Computing, Blekinge Institute of Technology</a:t>
            </a:r>
          </a:p>
        </p:txBody>
      </p:sp>
    </p:spTree>
  </p:cSld>
  <p:clrMapOvr>
    <a:masterClrMapping/>
  </p:clrMapOvr>
</p:sld>
</file>

<file path=ppt/theme/theme1.xml><?xml version="1.0" encoding="utf-8"?>
<a:theme xmlns:a="http://schemas.openxmlformats.org/drawingml/2006/main" name="Office-tema">
  <a:themeElements>
    <a:clrScheme name="BTH2022">
      <a:dk1>
        <a:srgbClr val="000000"/>
      </a:dk1>
      <a:lt1>
        <a:srgbClr val="FFFFFF"/>
      </a:lt1>
      <a:dk2>
        <a:srgbClr val="333433"/>
      </a:dk2>
      <a:lt2>
        <a:srgbClr val="F2E5DF"/>
      </a:lt2>
      <a:accent1>
        <a:srgbClr val="0C4E64"/>
      </a:accent1>
      <a:accent2>
        <a:srgbClr val="FF7841"/>
      </a:accent2>
      <a:accent3>
        <a:srgbClr val="94B0C9"/>
      </a:accent3>
      <a:accent4>
        <a:srgbClr val="333433"/>
      </a:accent4>
      <a:accent5>
        <a:srgbClr val="F2E5DF"/>
      </a:accent5>
      <a:accent6>
        <a:srgbClr val="F2E5DF"/>
      </a:accent6>
      <a:hlink>
        <a:srgbClr val="FF7841"/>
      </a:hlink>
      <a:folHlink>
        <a:srgbClr val="FF784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9" id="{EC044363-D422-4A48-A438-49BBCB25C9FD}" vid="{C74BC1D6-AD28-9D4D-BA96-9F6434318A86}"/>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213d3f0-2dd8-405d-9c5f-c6aff21572a5">
      <Terms xmlns="http://schemas.microsoft.com/office/infopath/2007/PartnerControls"/>
    </lcf76f155ced4ddcb4097134ff3c332f>
    <TaxCatchAll xmlns="b45e29e4-a617-43d4-81a4-f1cd145eb475" xsi:nil="true"/>
    <Datum xmlns="c213d3f0-2dd8-405d-9c5f-c6aff2157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F8397DCDE7F7BE45A220467A3DBE9877" ma:contentTypeVersion="12" ma:contentTypeDescription="Skapa ett nytt dokument." ma:contentTypeScope="" ma:versionID="6076c41123cef30128786b2de8ec0f13">
  <xsd:schema xmlns:xsd="http://www.w3.org/2001/XMLSchema" xmlns:xs="http://www.w3.org/2001/XMLSchema" xmlns:p="http://schemas.microsoft.com/office/2006/metadata/properties" xmlns:ns2="c213d3f0-2dd8-405d-9c5f-c6aff21572a5" xmlns:ns3="b45e29e4-a617-43d4-81a4-f1cd145eb475" targetNamespace="http://schemas.microsoft.com/office/2006/metadata/properties" ma:root="true" ma:fieldsID="effc58bd44191958d5fd0f2b9c384974" ns2:_="" ns3:_="">
    <xsd:import namespace="c213d3f0-2dd8-405d-9c5f-c6aff21572a5"/>
    <xsd:import namespace="b45e29e4-a617-43d4-81a4-f1cd145eb4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2:Datu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13d3f0-2dd8-405d-9c5f-c6aff2157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Bildmarkeringar" ma:readOnly="false" ma:fieldId="{5cf76f15-5ced-4ddc-b409-7134ff3c332f}" ma:taxonomyMulti="true" ma:sspId="641f0efd-37a5-4b49-b28c-f3f4d94bb695"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Datum" ma:index="19" nillable="true" ma:displayName="Datum" ma:format="DateOnly" ma:internalName="Datum">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45e29e4-a617-43d4-81a4-f1cd145eb475"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f6204de-9f9a-42a8-8079-0f6728909c66}" ma:internalName="TaxCatchAll" ma:showField="CatchAllData" ma:web="b45e29e4-a617-43d4-81a4-f1cd145eb4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D24145-8DA0-49C7-85CE-AC793445370E}">
  <ds:schemaRefs>
    <ds:schemaRef ds:uri="http://schemas.microsoft.com/sharepoint/v3/contenttype/forms"/>
  </ds:schemaRefs>
</ds:datastoreItem>
</file>

<file path=customXml/itemProps2.xml><?xml version="1.0" encoding="utf-8"?>
<ds:datastoreItem xmlns:ds="http://schemas.openxmlformats.org/officeDocument/2006/customXml" ds:itemID="{2E78DA4B-8016-4D54-96FF-3BFD0C85CA92}">
  <ds:schemaRefs>
    <ds:schemaRef ds:uri="http://schemas.openxmlformats.org/package/2006/metadata/core-properties"/>
    <ds:schemaRef ds:uri="http://purl.org/dc/dcmitype/"/>
    <ds:schemaRef ds:uri="A9AB2D1B-A4FF-4EA7-A6FE-B21170FA5985"/>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a9ab2d1b-a4ff-4ea7-a6fe-b21170fa5985"/>
    <ds:schemaRef ds:uri="http://purl.org/dc/terms/"/>
    <ds:schemaRef ds:uri="http://schemas.microsoft.com/sharepoint/v3/fields"/>
    <ds:schemaRef ds:uri="http://www.w3.org/XML/1998/namespace"/>
    <ds:schemaRef ds:uri="http://purl.org/dc/elements/1.1/"/>
    <ds:schemaRef ds:uri="c213d3f0-2dd8-405d-9c5f-c6aff21572a5"/>
    <ds:schemaRef ds:uri="b45e29e4-a617-43d4-81a4-f1cd145eb475"/>
  </ds:schemaRefs>
</ds:datastoreItem>
</file>

<file path=customXml/itemProps3.xml><?xml version="1.0" encoding="utf-8"?>
<ds:datastoreItem xmlns:ds="http://schemas.openxmlformats.org/officeDocument/2006/customXml" ds:itemID="{5840316A-B980-4AA8-976C-405D45372A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13d3f0-2dd8-405d-9c5f-c6aff21572a5"/>
    <ds:schemaRef ds:uri="b45e29e4-a617-43d4-81a4-f1cd145eb4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TotalTime>
  <Words>84</Words>
  <Application>Microsoft Office PowerPoint</Application>
  <PresentationFormat>Widescreen</PresentationFormat>
  <Paragraphs>7</Paragraphs>
  <Slides>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Century Gothic</vt:lpstr>
      <vt:lpstr>Oswald Light</vt:lpstr>
      <vt:lpstr>Times</vt:lpstr>
      <vt:lpstr>Office-tema</vt:lpstr>
      <vt:lpstr>Need help?</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Sara Glans</dc:creator>
  <cp:keywords/>
  <dc:description/>
  <cp:lastModifiedBy>Monica Gattupalli</cp:lastModifiedBy>
  <cp:revision>1</cp:revision>
  <cp:lastPrinted>2018-11-05T07:54:12Z</cp:lastPrinted>
  <dcterms:created xsi:type="dcterms:W3CDTF">2025-03-26T12:43:23Z</dcterms:created>
  <dcterms:modified xsi:type="dcterms:W3CDTF">2026-09-21T06:17:43Z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0x010100F8397DCDE7F7BE45A220467A3DBE9877</vt:lpwstr>
  </property>
</Properties>
</file>